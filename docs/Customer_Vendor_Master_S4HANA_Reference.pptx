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ff4d2a-0695-b386-9231-78ba77e4747b}">
          <p14:sldIdLst>
            <p14:sldId id="256"/>
            <p14:sldId id="257"/>
          </p14:sldIdLst>
        </p14:section>
        <p14:section name="The requirement" id="{1360d9ed-9285-dbd4-e033-b1d6d426c0d3}">
          <p14:sldIdLst>
            <p14:sldId id="258"/>
            <p14:sldId id="259"/>
            <p14:sldId id="260"/>
            <p14:sldId id="261"/>
          </p14:sldIdLst>
        </p14:section>
        <p14:section name="What we built" id="{02316473-0580-d1ca-44af-93c28b329feb}">
          <p14:sldIdLst>
            <p14:sldId id="262"/>
            <p14:sldId id="263"/>
            <p14:sldId id="264"/>
            <p14:sldId id="265"/>
            <p14:sldId id="266"/>
            <p14:sldId id="267"/>
            <p14:sldId id="268"/>
            <p14:sldId id="269"/>
            <p14:sldId id="270"/>
          </p14:sldIdLst>
        </p14:section>
        <p14:section name="Next steps" id="{57dbc082-576e-08b7-6ce1-10825ee4230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implementation for a pharmaceutical client. Client name and data withheld; all sample values in the illustrations are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698480" cy="548640"/>
          </a:xfrm>
          <a:prstGeom prst="rect">
            <a:avLst/>
          </a:prstGeom>
          <a:noFill/>
          <a:ln/>
        </p:spPr>
        <p:txBody>
          <a:bodyPr wrap="square" rtlCol="0"/>
          <a:lstStyle>
            <a:lvl1pPr indent="0" marL="0">
              <a:buNone/>
              <a:defRPr lang="en-US" sz="1800" b="1"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265176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Customer and Vendor Master Data in SAP S/4HANA - reference implementation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chemeClr val="bg1"/>
                </a:solidFill>
              </a:rPr>
              <a:t>Customer and Vendor Master Data in SAP S/4HANA</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indent="0" marL="0">
              <a:buNone/>
            </a:pPr>
            <a:r>
              <a:rPr lang="en-US" sz="2000" dirty="0">
                <a:solidFill>
                  <a:schemeClr val="bg2"/>
                </a:solidFill>
              </a:rPr>
              <a:t>Excel download and upload - the requirement and the solution, from a reference implementation</a:t>
            </a:r>
            <a:endParaRPr lang="en-US" sz="2000" dirty="0"/>
          </a:p>
        </p:txBody>
      </p:sp>
      <p:sp>
        <p:nvSpPr>
          <p:cNvPr id="4" name="text-1"/>
          <p:cNvSpPr txBox="1"/>
          <p:nvPr/>
        </p:nvSpPr>
        <p:spPr>
          <a:xfrm>
            <a:off x="731520" y="5852160"/>
            <a:ext cx="3657600" cy="365760"/>
          </a:xfrm>
          <a:prstGeom prst="rect">
            <a:avLst/>
          </a:prstGeom>
          <a:noFill/>
          <a:ln/>
        </p:spPr>
        <p:txBody>
          <a:bodyPr wrap="square" lIns="0" tIns="0" rIns="0" bIns="0" rtlCol="0" anchor="t"/>
          <a:lstStyle/>
          <a:p>
            <a:pPr indent="0" marL="0">
              <a:buNone/>
            </a:pPr>
            <a:r>
              <a:rPr lang="en-US" sz="1400" dirty="0">
                <a:solidFill>
                  <a:schemeClr val="bg2"/>
                </a:solidFill>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short version</a:t>
            </a:r>
            <a:endParaRPr lang="en-US" sz="3200" dirty="0"/>
          </a:p>
        </p:txBody>
      </p:sp>
      <p:sp>
        <p:nvSpPr>
          <p:cNvPr id="3" name="card-2"/>
          <p:cNvSpPr/>
          <p:nvPr/>
        </p:nvSpPr>
        <p:spPr>
          <a:xfrm>
            <a:off x="548640" y="1463040"/>
            <a:ext cx="2606040" cy="2377440"/>
          </a:xfrm>
          <a:prstGeom prst="roundRect">
            <a:avLst>
              <a:gd name="adj" fmla="val 3077"/>
            </a:avLst>
          </a:prstGeom>
          <a:solidFill>
            <a:schemeClr val="bg2"/>
          </a:solidFill>
          <a:ln/>
        </p:spPr>
      </p:sp>
      <p:sp>
        <p:nvSpPr>
          <p:cNvPr id="4" name="text-3"/>
          <p:cNvSpPr txBox="1"/>
          <p:nvPr/>
        </p:nvSpPr>
        <p:spPr>
          <a:xfrm>
            <a:off x="822960" y="1691640"/>
            <a:ext cx="2103120" cy="1005840"/>
          </a:xfrm>
          <a:prstGeom prst="rect">
            <a:avLst/>
          </a:prstGeom>
          <a:noFill/>
          <a:ln/>
        </p:spPr>
        <p:txBody>
          <a:bodyPr wrap="square" lIns="0" tIns="0" rIns="0" bIns="0" rtlCol="0" anchor="t"/>
          <a:lstStyle/>
          <a:p>
            <a:pPr indent="0" marL="0">
              <a:buNone/>
            </a:pPr>
            <a:r>
              <a:rPr lang="en-US" sz="6000" b="1" dirty="0">
                <a:solidFill>
                  <a:schemeClr val="tx2"/>
                </a:solidFill>
              </a:rPr>
              <a:t>2</a:t>
            </a:r>
            <a:endParaRPr lang="en-US" sz="6000" dirty="0"/>
          </a:p>
        </p:txBody>
      </p:sp>
      <p:sp>
        <p:nvSpPr>
          <p:cNvPr id="5" name="text-4"/>
          <p:cNvSpPr txBox="1"/>
          <p:nvPr/>
        </p:nvSpPr>
        <p:spPr>
          <a:xfrm>
            <a:off x="822960" y="2743200"/>
            <a:ext cx="2103120" cy="1005840"/>
          </a:xfrm>
          <a:prstGeom prst="rect">
            <a:avLst/>
          </a:prstGeom>
          <a:noFill/>
          <a:ln/>
        </p:spPr>
        <p:txBody>
          <a:bodyPr wrap="square" lIns="0" tIns="0" rIns="0" bIns="0" rtlCol="0" anchor="t"/>
          <a:lstStyle/>
          <a:p>
            <a:pPr indent="0" marL="0">
              <a:buNone/>
            </a:pPr>
            <a:r>
              <a:rPr lang="en-US" sz="1400" dirty="0">
                <a:solidFill>
                  <a:schemeClr val="tx1"/>
                </a:solidFill>
              </a:rPr>
              <a:t>programs - customer and vendor, each downloading and uploading</a:t>
            </a:r>
            <a:endParaRPr lang="en-US" sz="1400" dirty="0"/>
          </a:p>
        </p:txBody>
      </p:sp>
      <p:sp>
        <p:nvSpPr>
          <p:cNvPr id="6" name="card-5"/>
          <p:cNvSpPr/>
          <p:nvPr/>
        </p:nvSpPr>
        <p:spPr>
          <a:xfrm>
            <a:off x="3383280" y="1463040"/>
            <a:ext cx="2606040" cy="2377440"/>
          </a:xfrm>
          <a:prstGeom prst="roundRect">
            <a:avLst>
              <a:gd name="adj" fmla="val 3077"/>
            </a:avLst>
          </a:prstGeom>
          <a:solidFill>
            <a:schemeClr val="bg2"/>
          </a:solidFill>
          <a:ln/>
        </p:spPr>
      </p:sp>
      <p:sp>
        <p:nvSpPr>
          <p:cNvPr id="7" name="text-6"/>
          <p:cNvSpPr txBox="1"/>
          <p:nvPr/>
        </p:nvSpPr>
        <p:spPr>
          <a:xfrm>
            <a:off x="3657600" y="1691640"/>
            <a:ext cx="2103120" cy="1005840"/>
          </a:xfrm>
          <a:prstGeom prst="rect">
            <a:avLst/>
          </a:prstGeom>
          <a:noFill/>
          <a:ln/>
        </p:spPr>
        <p:txBody>
          <a:bodyPr wrap="square" lIns="0" tIns="0" rIns="0" bIns="0" rtlCol="0" anchor="t"/>
          <a:lstStyle/>
          <a:p>
            <a:pPr indent="0" marL="0">
              <a:buNone/>
            </a:pPr>
            <a:r>
              <a:rPr lang="en-US" sz="6000" b="1" dirty="0">
                <a:solidFill>
                  <a:schemeClr val="tx2"/>
                </a:solidFill>
              </a:rPr>
              <a:t>24</a:t>
            </a:r>
            <a:endParaRPr lang="en-US" sz="6000" dirty="0"/>
          </a:p>
        </p:txBody>
      </p:sp>
      <p:sp>
        <p:nvSpPr>
          <p:cNvPr id="8" name="text-7"/>
          <p:cNvSpPr txBox="1"/>
          <p:nvPr/>
        </p:nvSpPr>
        <p:spPr>
          <a:xfrm>
            <a:off x="3657600" y="2743200"/>
            <a:ext cx="2103120" cy="1005840"/>
          </a:xfrm>
          <a:prstGeom prst="rect">
            <a:avLst/>
          </a:prstGeom>
          <a:noFill/>
          <a:ln/>
        </p:spPr>
        <p:txBody>
          <a:bodyPr wrap="square" lIns="0" tIns="0" rIns="0" bIns="0" rtlCol="0" anchor="t"/>
          <a:lstStyle/>
          <a:p>
            <a:pPr indent="0" marL="0">
              <a:buNone/>
            </a:pPr>
            <a:r>
              <a:rPr lang="en-US" sz="1400" dirty="0">
                <a:solidFill>
                  <a:schemeClr val="tx1"/>
                </a:solidFill>
              </a:rPr>
              <a:t>customer Excel layouts, picked automatically</a:t>
            </a:r>
            <a:endParaRPr lang="en-US" sz="1400" dirty="0"/>
          </a:p>
        </p:txBody>
      </p:sp>
      <p:sp>
        <p:nvSpPr>
          <p:cNvPr id="9" name="card-8"/>
          <p:cNvSpPr/>
          <p:nvPr/>
        </p:nvSpPr>
        <p:spPr>
          <a:xfrm>
            <a:off x="6217920" y="1463040"/>
            <a:ext cx="2606040" cy="2377440"/>
          </a:xfrm>
          <a:prstGeom prst="roundRect">
            <a:avLst>
              <a:gd name="adj" fmla="val 3077"/>
            </a:avLst>
          </a:prstGeom>
          <a:solidFill>
            <a:schemeClr val="bg2"/>
          </a:solidFill>
          <a:ln/>
        </p:spPr>
      </p:sp>
      <p:sp>
        <p:nvSpPr>
          <p:cNvPr id="10" name="text-9"/>
          <p:cNvSpPr txBox="1"/>
          <p:nvPr/>
        </p:nvSpPr>
        <p:spPr>
          <a:xfrm>
            <a:off x="6492240" y="1691640"/>
            <a:ext cx="2103120" cy="1005840"/>
          </a:xfrm>
          <a:prstGeom prst="rect">
            <a:avLst/>
          </a:prstGeom>
          <a:noFill/>
          <a:ln/>
        </p:spPr>
        <p:txBody>
          <a:bodyPr wrap="square" lIns="0" tIns="0" rIns="0" bIns="0" rtlCol="0" anchor="t"/>
          <a:lstStyle/>
          <a:p>
            <a:pPr indent="0" marL="0">
              <a:buNone/>
            </a:pPr>
            <a:r>
              <a:rPr lang="en-US" sz="6000" b="1" dirty="0">
                <a:solidFill>
                  <a:schemeClr val="tx2"/>
                </a:solidFill>
              </a:rPr>
              <a:t>79</a:t>
            </a:r>
            <a:endParaRPr lang="en-US" sz="6000" dirty="0"/>
          </a:p>
        </p:txBody>
      </p:sp>
      <p:sp>
        <p:nvSpPr>
          <p:cNvPr id="11" name="text-10"/>
          <p:cNvSpPr txBox="1"/>
          <p:nvPr/>
        </p:nvSpPr>
        <p:spPr>
          <a:xfrm>
            <a:off x="6492240" y="2743200"/>
            <a:ext cx="2103120" cy="1005840"/>
          </a:xfrm>
          <a:prstGeom prst="rect">
            <a:avLst/>
          </a:prstGeom>
          <a:noFill/>
          <a:ln/>
        </p:spPr>
        <p:txBody>
          <a:bodyPr wrap="square" lIns="0" tIns="0" rIns="0" bIns="0" rtlCol="0" anchor="t"/>
          <a:lstStyle/>
          <a:p>
            <a:pPr indent="0" marL="0">
              <a:buNone/>
            </a:pPr>
            <a:r>
              <a:rPr lang="en-US" sz="1400" dirty="0">
                <a:solidFill>
                  <a:schemeClr val="tx1"/>
                </a:solidFill>
              </a:rPr>
              <a:t>country / region and account group combinations covered</a:t>
            </a:r>
            <a:endParaRPr lang="en-US" sz="1400" dirty="0"/>
          </a:p>
        </p:txBody>
      </p:sp>
      <p:sp>
        <p:nvSpPr>
          <p:cNvPr id="12" name="card-11"/>
          <p:cNvSpPr/>
          <p:nvPr/>
        </p:nvSpPr>
        <p:spPr>
          <a:xfrm>
            <a:off x="9052560" y="1463040"/>
            <a:ext cx="2606040" cy="2377440"/>
          </a:xfrm>
          <a:prstGeom prst="roundRect">
            <a:avLst>
              <a:gd name="adj" fmla="val 3077"/>
            </a:avLst>
          </a:prstGeom>
          <a:solidFill>
            <a:schemeClr val="bg2"/>
          </a:solidFill>
          <a:ln/>
        </p:spPr>
      </p:sp>
      <p:sp>
        <p:nvSpPr>
          <p:cNvPr id="13" name="text-12"/>
          <p:cNvSpPr txBox="1"/>
          <p:nvPr/>
        </p:nvSpPr>
        <p:spPr>
          <a:xfrm>
            <a:off x="9326880" y="1691640"/>
            <a:ext cx="2103120" cy="1005840"/>
          </a:xfrm>
          <a:prstGeom prst="rect">
            <a:avLst/>
          </a:prstGeom>
          <a:noFill/>
          <a:ln/>
        </p:spPr>
        <p:txBody>
          <a:bodyPr wrap="square" lIns="0" tIns="0" rIns="0" bIns="0" rtlCol="0" anchor="t"/>
          <a:lstStyle/>
          <a:p>
            <a:pPr indent="0" marL="0">
              <a:buNone/>
            </a:pPr>
            <a:r>
              <a:rPr lang="en-US" sz="6000" b="1" dirty="0">
                <a:solidFill>
                  <a:schemeClr val="tx2"/>
                </a:solidFill>
              </a:rPr>
              <a:t>9</a:t>
            </a:r>
            <a:endParaRPr lang="en-US" sz="6000" dirty="0"/>
          </a:p>
        </p:txBody>
      </p:sp>
      <p:sp>
        <p:nvSpPr>
          <p:cNvPr id="14" name="text-13"/>
          <p:cNvSpPr txBox="1"/>
          <p:nvPr/>
        </p:nvSpPr>
        <p:spPr>
          <a:xfrm>
            <a:off x="9326880" y="2743200"/>
            <a:ext cx="2103120" cy="1005840"/>
          </a:xfrm>
          <a:prstGeom prst="rect">
            <a:avLst/>
          </a:prstGeom>
          <a:noFill/>
          <a:ln/>
        </p:spPr>
        <p:txBody>
          <a:bodyPr wrap="square" lIns="0" tIns="0" rIns="0" bIns="0" rtlCol="0" anchor="t"/>
          <a:lstStyle/>
          <a:p>
            <a:pPr indent="0" marL="0">
              <a:buNone/>
            </a:pPr>
            <a:r>
              <a:rPr lang="en-US" sz="1400" dirty="0">
                <a:solidFill>
                  <a:schemeClr val="tx1"/>
                </a:solidFill>
              </a:rPr>
              <a:t>vendor scenarios, from creation to block / unblock</a:t>
            </a:r>
            <a:endParaRPr lang="en-US" sz="1400" dirty="0"/>
          </a:p>
        </p:txBody>
      </p:sp>
      <p:sp>
        <p:nvSpPr>
          <p:cNvPr id="15" name="text-14"/>
          <p:cNvSpPr txBox="1"/>
          <p:nvPr/>
        </p:nvSpPr>
        <p:spPr>
          <a:xfrm>
            <a:off x="548640" y="4251960"/>
            <a:ext cx="11064240" cy="1097280"/>
          </a:xfrm>
          <a:prstGeom prst="rect">
            <a:avLst/>
          </a:prstGeom>
          <a:noFill/>
          <a:ln/>
        </p:spPr>
        <p:txBody>
          <a:bodyPr wrap="square" lIns="0" tIns="0" rIns="0" bIns="0" rtlCol="0" anchor="t"/>
          <a:lstStyle/>
          <a:p>
            <a:pPr indent="0" marL="0">
              <a:buNone/>
            </a:pPr>
            <a:r>
              <a:rPr lang="en-US" sz="1800" dirty="0">
                <a:solidFill>
                  <a:schemeClr val="tx1"/>
                </a:solidFill>
              </a:rPr>
              <a:t>Each program downloads the client’s own Excel template - empty, or filled with existing data - and uploads the filled template back. </a:t>
            </a:r>
            <a:pPr indent="0" marL="0">
              <a:buNone/>
            </a:pPr>
            <a:r>
              <a:rPr lang="en-US" sz="1800" b="1" dirty="0">
                <a:solidFill>
                  <a:schemeClr val="tx1"/>
                </a:solidFill>
              </a:rPr>
              <a:t>Every posting goes through SAP’s standard Business Partner interface, with a test run before anything is saved.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698480" cy="548640"/>
          </a:xfrm>
          <a:prstGeom prst="rect">
            <a:avLst/>
          </a:prstGeom>
          <a:noFill/>
          <a:ln/>
        </p:spPr>
        <p:txBody>
          <a:bodyPr wrap="square" lIns="0" tIns="0" rIns="0" bIns="0" rtlCol="0"/>
          <a:lstStyle/>
          <a:p>
            <a:pPr indent="0" marL="0">
              <a:buNone/>
            </a:pPr>
            <a:r>
              <a:rPr lang="en-US" sz="1800" b="1" dirty="0">
                <a:solidFill>
                  <a:schemeClr val="accent2"/>
                </a:solidFill>
              </a:rPr>
              <a:t>PART 1</a:t>
            </a:r>
            <a:endParaRPr lang="en-US" sz="1800" dirty="0"/>
          </a:p>
        </p:txBody>
      </p:sp>
      <p:sp>
        <p:nvSpPr>
          <p:cNvPr id="3" name="Text 0"/>
          <p:cNvSpPr/>
          <p:nvPr>
            <p:ph idx="101" type="title" hasCustomPrompt="1"/>
          </p:nvPr>
        </p:nvSpPr>
        <p:spPr>
          <a:xfrm>
            <a:off x="731520" y="265176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The requirement</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Why the existing loads had to be replaced</a:t>
            </a:r>
            <a:endParaRPr lang="en-US" sz="3200" dirty="0"/>
          </a:p>
        </p:txBody>
      </p:sp>
      <p:sp>
        <p:nvSpPr>
          <p:cNvPr id="3" name="card-15"/>
          <p:cNvSpPr/>
          <p:nvPr/>
        </p:nvSpPr>
        <p:spPr>
          <a:xfrm>
            <a:off x="548640" y="1463040"/>
            <a:ext cx="5120640" cy="3291840"/>
          </a:xfrm>
          <a:prstGeom prst="roundRect">
            <a:avLst>
              <a:gd name="adj" fmla="val 2222"/>
            </a:avLst>
          </a:prstGeom>
          <a:solidFill>
            <a:schemeClr val="bg2"/>
          </a:solidFill>
          <a:ln/>
        </p:spPr>
      </p:sp>
      <p:sp>
        <p:nvSpPr>
          <p:cNvPr id="4" name="card-16"/>
          <p:cNvSpPr/>
          <p:nvPr/>
        </p:nvSpPr>
        <p:spPr>
          <a:xfrm>
            <a:off x="6492240" y="1463040"/>
            <a:ext cx="5120640" cy="3291840"/>
          </a:xfrm>
          <a:prstGeom prst="roundRect">
            <a:avLst>
              <a:gd name="adj" fmla="val 2222"/>
            </a:avLst>
          </a:prstGeom>
          <a:solidFill>
            <a:schemeClr val="bg2"/>
          </a:solidFill>
          <a:ln/>
        </p:spPr>
      </p:sp>
      <p:sp>
        <p:nvSpPr>
          <p:cNvPr id="5" name="badge-17"/>
          <p:cNvSpPr/>
          <p:nvPr/>
        </p:nvSpPr>
        <p:spPr>
          <a:xfrm>
            <a:off x="822960" y="1737360"/>
            <a:ext cx="640080" cy="640080"/>
          </a:xfrm>
          <a:prstGeom prst="ellipse">
            <a:avLst/>
          </a:prstGeom>
          <a:solidFill>
            <a:schemeClr val="accent5"/>
          </a:solidFill>
          <a:ln/>
        </p:spPr>
      </p:sp>
      <p:pic>
        <p:nvPicPr>
          <p:cNvPr id="6" name="icon-18" descr="preencoded.png">    </p:cNvPr>
          <p:cNvPicPr>
            <a:picLocks noChangeAspect="1"/>
          </p:cNvPicPr>
          <p:nvPr/>
        </p:nvPicPr>
        <p:blipFill>
          <a:blip r:embed="rId1"/>
          <a:stretch>
            <a:fillRect/>
          </a:stretch>
        </p:blipFill>
        <p:spPr>
          <a:xfrm>
            <a:off x="963778" y="1878178"/>
            <a:ext cx="358445" cy="358445"/>
          </a:xfrm>
          <a:prstGeom prst="rect">
            <a:avLst/>
          </a:prstGeom>
        </p:spPr>
      </p:pic>
      <p:sp>
        <p:nvSpPr>
          <p:cNvPr id="7" name="badge-19"/>
          <p:cNvSpPr/>
          <p:nvPr/>
        </p:nvSpPr>
        <p:spPr>
          <a:xfrm>
            <a:off x="6766560" y="1737360"/>
            <a:ext cx="640080" cy="640080"/>
          </a:xfrm>
          <a:prstGeom prst="ellipse">
            <a:avLst/>
          </a:prstGeom>
          <a:solidFill>
            <a:schemeClr val="accent1"/>
          </a:solidFill>
          <a:ln/>
        </p:spPr>
      </p:sp>
      <p:pic>
        <p:nvPicPr>
          <p:cNvPr id="8" name="icon-20" descr="preencoded.png">    </p:cNvPr>
          <p:cNvPicPr>
            <a:picLocks noChangeAspect="1"/>
          </p:cNvPicPr>
          <p:nvPr/>
        </p:nvPicPr>
        <p:blipFill>
          <a:blip r:embed="rId2"/>
          <a:stretch>
            <a:fillRect/>
          </a:stretch>
        </p:blipFill>
        <p:spPr>
          <a:xfrm>
            <a:off x="6907378" y="1878178"/>
            <a:ext cx="358445" cy="358445"/>
          </a:xfrm>
          <a:prstGeom prst="rect">
            <a:avLst/>
          </a:prstGeom>
        </p:spPr>
      </p:pic>
      <p:sp>
        <p:nvSpPr>
          <p:cNvPr id="9" name="text-21"/>
          <p:cNvSpPr txBox="1"/>
          <p:nvPr/>
        </p:nvSpPr>
        <p:spPr>
          <a:xfrm>
            <a:off x="1645920" y="1828800"/>
            <a:ext cx="3840480" cy="457200"/>
          </a:xfrm>
          <a:prstGeom prst="rect">
            <a:avLst/>
          </a:prstGeom>
          <a:noFill/>
          <a:ln/>
        </p:spPr>
        <p:txBody>
          <a:bodyPr wrap="square" lIns="0" tIns="0" rIns="0" bIns="0" rtlCol="0" anchor="t"/>
          <a:lstStyle/>
          <a:p>
            <a:pPr indent="0" marL="0">
              <a:buNone/>
            </a:pPr>
            <a:r>
              <a:rPr lang="en-US" sz="2000" b="1" dirty="0">
                <a:solidFill>
                  <a:schemeClr val="tx2"/>
                </a:solidFill>
              </a:rPr>
              <a:t>Before - SAP ECC</a:t>
            </a:r>
            <a:endParaRPr lang="en-US" sz="2000" dirty="0"/>
          </a:p>
        </p:txBody>
      </p:sp>
      <p:sp>
        <p:nvSpPr>
          <p:cNvPr id="10" name="text-22"/>
          <p:cNvSpPr txBox="1"/>
          <p:nvPr/>
        </p:nvSpPr>
        <p:spPr>
          <a:xfrm>
            <a:off x="7589520" y="1828800"/>
            <a:ext cx="3840480" cy="457200"/>
          </a:xfrm>
          <a:prstGeom prst="rect">
            <a:avLst/>
          </a:prstGeom>
          <a:noFill/>
          <a:ln/>
        </p:spPr>
        <p:txBody>
          <a:bodyPr wrap="square" lIns="0" tIns="0" rIns="0" bIns="0" rtlCol="0" anchor="t"/>
          <a:lstStyle/>
          <a:p>
            <a:pPr indent="0" marL="0">
              <a:buNone/>
            </a:pPr>
            <a:r>
              <a:rPr lang="en-US" sz="2000" b="1" dirty="0">
                <a:solidFill>
                  <a:schemeClr val="tx2"/>
                </a:solidFill>
              </a:rPr>
              <a:t>Now - SAP S/4HANA</a:t>
            </a:r>
            <a:endParaRPr lang="en-US" sz="2000" dirty="0"/>
          </a:p>
        </p:txBody>
      </p:sp>
      <p:sp>
        <p:nvSpPr>
          <p:cNvPr id="11" name="text-23"/>
          <p:cNvSpPr txBox="1"/>
          <p:nvPr/>
        </p:nvSpPr>
        <p:spPr>
          <a:xfrm>
            <a:off x="822960" y="2651760"/>
            <a:ext cx="45720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Customer and vendor master loaded with LSMW recordings of XD01, XK01, XK02 and XK05</a:t>
            </a:r>
            <a:endParaRPr lang="en-US" sz="1500" dirty="0"/>
          </a:p>
          <a:p>
            <a:pPr marL="342900" indent="-342900">
              <a:spcAft>
                <a:spcPts val="800"/>
              </a:spcAft>
              <a:buSzPct val="100000"/>
              <a:buChar char="•"/>
            </a:pPr>
            <a:r>
              <a:rPr lang="en-US" sz="1500" dirty="0">
                <a:solidFill>
                  <a:schemeClr val="tx1"/>
                </a:solidFill>
              </a:rPr>
              <a:t>One recording per Excel layout, replaying the screens field by field</a:t>
            </a:r>
            <a:endParaRPr lang="en-US" sz="1500" dirty="0"/>
          </a:p>
          <a:p>
            <a:pPr marL="342900" indent="-342900">
              <a:spcAft>
                <a:spcPts val="800"/>
              </a:spcAft>
              <a:buSzPct val="100000"/>
              <a:buChar char="•"/>
            </a:pPr>
            <a:r>
              <a:rPr lang="en-US" sz="1500" dirty="0">
                <a:solidFill>
                  <a:schemeClr val="tx1"/>
                </a:solidFill>
              </a:rPr>
              <a:t>A new layout meant a new recording</a:t>
            </a:r>
            <a:endParaRPr lang="en-US" sz="1500" dirty="0"/>
          </a:p>
        </p:txBody>
      </p:sp>
      <p:sp>
        <p:nvSpPr>
          <p:cNvPr id="12" name="text-24"/>
          <p:cNvSpPr txBox="1"/>
          <p:nvPr/>
        </p:nvSpPr>
        <p:spPr>
          <a:xfrm>
            <a:off x="6766560" y="2651760"/>
            <a:ext cx="45720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Customers and vendors are Business Partners, maintained in transaction BP</a:t>
            </a:r>
            <a:endParaRPr lang="en-US" sz="1500" dirty="0"/>
          </a:p>
          <a:p>
            <a:pPr marL="342900" indent="-342900">
              <a:spcAft>
                <a:spcPts val="800"/>
              </a:spcAft>
              <a:buSzPct val="100000"/>
              <a:buChar char="•"/>
            </a:pPr>
            <a:r>
              <a:rPr lang="en-US" sz="1500" dirty="0">
                <a:solidFill>
                  <a:schemeClr val="tx1"/>
                </a:solidFill>
              </a:rPr>
              <a:t>The old customer and vendor transactions are redirected or removed (SAP Note 2265093)</a:t>
            </a:r>
            <a:endParaRPr lang="en-US" sz="1500" dirty="0"/>
          </a:p>
          <a:p>
            <a:pPr marL="342900" indent="-342900">
              <a:spcAft>
                <a:spcPts val="800"/>
              </a:spcAft>
              <a:buSzPct val="100000"/>
              <a:buChar char="•"/>
            </a:pPr>
            <a:r>
              <a:rPr lang="en-US" sz="1500" dirty="0">
                <a:solidFill>
                  <a:schemeClr val="tx1"/>
                </a:solidFill>
              </a:rPr>
              <a:t>Screen recordings against them can no longer run</a:t>
            </a:r>
            <a:endParaRPr lang="en-US" sz="1500" dirty="0"/>
          </a:p>
        </p:txBody>
      </p:sp>
      <p:sp>
        <p:nvSpPr>
          <p:cNvPr id="13" name="arrow-25"/>
          <p:cNvSpPr/>
          <p:nvPr/>
        </p:nvSpPr>
        <p:spPr>
          <a:xfrm>
            <a:off x="5806440" y="2834640"/>
            <a:ext cx="548640" cy="548640"/>
          </a:xfrm>
          <a:prstGeom prst="rightArrow">
            <a:avLst/>
          </a:prstGeom>
          <a:solidFill>
            <a:schemeClr val="accent2"/>
          </a:solidFill>
          <a:ln/>
        </p:spPr>
      </p:sp>
      <p:sp>
        <p:nvSpPr>
          <p:cNvPr id="14" name="text-26"/>
          <p:cNvSpPr txBox="1"/>
          <p:nvPr/>
        </p:nvSpPr>
        <p:spPr>
          <a:xfrm>
            <a:off x="548640" y="5166360"/>
            <a:ext cx="11064240" cy="548640"/>
          </a:xfrm>
          <a:prstGeom prst="rect">
            <a:avLst/>
          </a:prstGeom>
          <a:noFill/>
          <a:ln/>
        </p:spPr>
        <p:txBody>
          <a:bodyPr wrap="square" lIns="0" tIns="0" rIns="0" bIns="0" rtlCol="0" anchor="t"/>
          <a:lstStyle/>
          <a:p>
            <a:pPr indent="0" marL="0">
              <a:buNone/>
            </a:pPr>
            <a:r>
              <a:rPr lang="en-US" sz="1800" b="1" dirty="0">
                <a:solidFill>
                  <a:schemeClr val="tx2"/>
                </a:solidFill>
              </a:rPr>
              <a:t>So: </a:t>
            </a:r>
            <a:pPr indent="0" marL="0">
              <a:buNone/>
            </a:pPr>
            <a:r>
              <a:rPr lang="en-US" sz="1800" dirty="0">
                <a:solidFill>
                  <a:schemeClr val="tx1"/>
                </a:solidFill>
              </a:rPr>
              <a:t>the Excel layouts the business knows could stay - only the engine underneath had to change.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What the business asked for - customers</a:t>
            </a:r>
            <a:endParaRPr lang="en-US" sz="3200" dirty="0"/>
          </a:p>
        </p:txBody>
      </p:sp>
      <p:sp>
        <p:nvSpPr>
          <p:cNvPr id="3" name="card-27"/>
          <p:cNvSpPr/>
          <p:nvPr/>
        </p:nvSpPr>
        <p:spPr>
          <a:xfrm>
            <a:off x="548640" y="1463040"/>
            <a:ext cx="3520440" cy="2103120"/>
          </a:xfrm>
          <a:prstGeom prst="roundRect">
            <a:avLst>
              <a:gd name="adj" fmla="val 3478"/>
            </a:avLst>
          </a:prstGeom>
          <a:solidFill>
            <a:schemeClr val="bg2"/>
          </a:solidFill>
          <a:ln/>
        </p:spPr>
      </p:sp>
      <p:sp>
        <p:nvSpPr>
          <p:cNvPr id="4" name="badge-28"/>
          <p:cNvSpPr/>
          <p:nvPr/>
        </p:nvSpPr>
        <p:spPr>
          <a:xfrm>
            <a:off x="822960" y="1737360"/>
            <a:ext cx="548640" cy="548640"/>
          </a:xfrm>
          <a:prstGeom prst="ellipse">
            <a:avLst/>
          </a:prstGeom>
          <a:solidFill>
            <a:schemeClr val="accent1"/>
          </a:solidFill>
          <a:ln/>
        </p:spPr>
      </p:sp>
      <p:pic>
        <p:nvPicPr>
          <p:cNvPr id="5" name="icon-29" descr="preencoded.png">    </p:cNvPr>
          <p:cNvPicPr>
            <a:picLocks noChangeAspect="1"/>
          </p:cNvPicPr>
          <p:nvPr/>
        </p:nvPicPr>
        <p:blipFill>
          <a:blip r:embed="rId1"/>
          <a:stretch>
            <a:fillRect/>
          </a:stretch>
        </p:blipFill>
        <p:spPr>
          <a:xfrm>
            <a:off x="943661" y="1858061"/>
            <a:ext cx="307238" cy="307238"/>
          </a:xfrm>
          <a:prstGeom prst="rect">
            <a:avLst/>
          </a:prstGeom>
        </p:spPr>
      </p:pic>
      <p:sp>
        <p:nvSpPr>
          <p:cNvPr id="6" name="text-30"/>
          <p:cNvSpPr txBox="1"/>
          <p:nvPr/>
        </p:nvSpPr>
        <p:spPr>
          <a:xfrm>
            <a:off x="1554480" y="17556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A template per country and account group</a:t>
            </a:r>
            <a:endParaRPr lang="en-US" sz="1600" dirty="0"/>
          </a:p>
        </p:txBody>
      </p:sp>
      <p:sp>
        <p:nvSpPr>
          <p:cNvPr id="7" name="text-31"/>
          <p:cNvSpPr txBox="1"/>
          <p:nvPr/>
        </p:nvSpPr>
        <p:spPr>
          <a:xfrm>
            <a:off x="822960" y="2423160"/>
            <a:ext cx="3017520" cy="1005840"/>
          </a:xfrm>
          <a:prstGeom prst="rect">
            <a:avLst/>
          </a:prstGeom>
          <a:noFill/>
          <a:ln/>
        </p:spPr>
        <p:txBody>
          <a:bodyPr wrap="square" lIns="0" tIns="0" rIns="0" bIns="0" rtlCol="0" anchor="t"/>
          <a:lstStyle/>
          <a:p>
            <a:pPr indent="0" marL="0">
              <a:buNone/>
            </a:pPr>
            <a:r>
              <a:rPr lang="en-US" sz="1400" dirty="0">
                <a:solidFill>
                  <a:schemeClr val="tx1"/>
                </a:solidFill>
              </a:rPr>
              <a:t>Every country / region and account group has its own Excel layout. The user should never have to choose it.</a:t>
            </a:r>
            <a:endParaRPr lang="en-US" sz="1400" dirty="0"/>
          </a:p>
        </p:txBody>
      </p:sp>
      <p:sp>
        <p:nvSpPr>
          <p:cNvPr id="8" name="card-32"/>
          <p:cNvSpPr/>
          <p:nvPr/>
        </p:nvSpPr>
        <p:spPr>
          <a:xfrm>
            <a:off x="4297680" y="1463040"/>
            <a:ext cx="3520440" cy="2103120"/>
          </a:xfrm>
          <a:prstGeom prst="roundRect">
            <a:avLst>
              <a:gd name="adj" fmla="val 3478"/>
            </a:avLst>
          </a:prstGeom>
          <a:solidFill>
            <a:schemeClr val="bg2"/>
          </a:solidFill>
          <a:ln/>
        </p:spPr>
      </p:sp>
      <p:sp>
        <p:nvSpPr>
          <p:cNvPr id="9" name="badge-33"/>
          <p:cNvSpPr/>
          <p:nvPr/>
        </p:nvSpPr>
        <p:spPr>
          <a:xfrm>
            <a:off x="4572000" y="1737360"/>
            <a:ext cx="548640" cy="548640"/>
          </a:xfrm>
          <a:prstGeom prst="ellipse">
            <a:avLst/>
          </a:prstGeom>
          <a:solidFill>
            <a:schemeClr val="accent1"/>
          </a:solidFill>
          <a:ln/>
        </p:spPr>
      </p:sp>
      <p:pic>
        <p:nvPicPr>
          <p:cNvPr id="10" name="icon-34" descr="preencoded.png">    </p:cNvPr>
          <p:cNvPicPr>
            <a:picLocks noChangeAspect="1"/>
          </p:cNvPicPr>
          <p:nvPr/>
        </p:nvPicPr>
        <p:blipFill>
          <a:blip r:embed="rId2"/>
          <a:stretch>
            <a:fillRect/>
          </a:stretch>
        </p:blipFill>
        <p:spPr>
          <a:xfrm>
            <a:off x="4692701" y="1858061"/>
            <a:ext cx="307238" cy="307238"/>
          </a:xfrm>
          <a:prstGeom prst="rect">
            <a:avLst/>
          </a:prstGeom>
        </p:spPr>
      </p:pic>
      <p:sp>
        <p:nvSpPr>
          <p:cNvPr id="11" name="text-35"/>
          <p:cNvSpPr txBox="1"/>
          <p:nvPr/>
        </p:nvSpPr>
        <p:spPr>
          <a:xfrm>
            <a:off x="5303520" y="17556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Download</a:t>
            </a:r>
            <a:endParaRPr lang="en-US" sz="1600" dirty="0"/>
          </a:p>
        </p:txBody>
      </p:sp>
      <p:sp>
        <p:nvSpPr>
          <p:cNvPr id="12" name="text-36"/>
          <p:cNvSpPr txBox="1"/>
          <p:nvPr/>
        </p:nvSpPr>
        <p:spPr>
          <a:xfrm>
            <a:off x="4572000" y="2423160"/>
            <a:ext cx="3017520" cy="1005840"/>
          </a:xfrm>
          <a:prstGeom prst="rect">
            <a:avLst/>
          </a:prstGeom>
          <a:noFill/>
          <a:ln/>
        </p:spPr>
        <p:txBody>
          <a:bodyPr wrap="square" lIns="0" tIns="0" rIns="0" bIns="0" rtlCol="0" anchor="t"/>
          <a:lstStyle/>
          <a:p>
            <a:pPr indent="0" marL="0">
              <a:buNone/>
            </a:pPr>
            <a:r>
              <a:rPr lang="en-US" sz="1400" dirty="0">
                <a:solidFill>
                  <a:schemeClr val="tx1"/>
                </a:solidFill>
              </a:rPr>
              <a:t>Get the right template - empty, or filled with existing customers to start from.</a:t>
            </a:r>
            <a:endParaRPr lang="en-US" sz="1400" dirty="0"/>
          </a:p>
        </p:txBody>
      </p:sp>
      <p:sp>
        <p:nvSpPr>
          <p:cNvPr id="13" name="card-37"/>
          <p:cNvSpPr/>
          <p:nvPr/>
        </p:nvSpPr>
        <p:spPr>
          <a:xfrm>
            <a:off x="8046720" y="1463040"/>
            <a:ext cx="3520440" cy="2103120"/>
          </a:xfrm>
          <a:prstGeom prst="roundRect">
            <a:avLst>
              <a:gd name="adj" fmla="val 3478"/>
            </a:avLst>
          </a:prstGeom>
          <a:solidFill>
            <a:schemeClr val="bg2"/>
          </a:solidFill>
          <a:ln/>
        </p:spPr>
      </p:sp>
      <p:sp>
        <p:nvSpPr>
          <p:cNvPr id="14" name="badge-38"/>
          <p:cNvSpPr/>
          <p:nvPr/>
        </p:nvSpPr>
        <p:spPr>
          <a:xfrm>
            <a:off x="8321040" y="1737360"/>
            <a:ext cx="548640" cy="548640"/>
          </a:xfrm>
          <a:prstGeom prst="ellipse">
            <a:avLst/>
          </a:prstGeom>
          <a:solidFill>
            <a:schemeClr val="accent1"/>
          </a:solidFill>
          <a:ln/>
        </p:spPr>
      </p:sp>
      <p:pic>
        <p:nvPicPr>
          <p:cNvPr id="15" name="icon-39" descr="preencoded.png">    </p:cNvPr>
          <p:cNvPicPr>
            <a:picLocks noChangeAspect="1"/>
          </p:cNvPicPr>
          <p:nvPr/>
        </p:nvPicPr>
        <p:blipFill>
          <a:blip r:embed="rId3"/>
          <a:stretch>
            <a:fillRect/>
          </a:stretch>
        </p:blipFill>
        <p:spPr>
          <a:xfrm>
            <a:off x="8441741" y="1858061"/>
            <a:ext cx="307238" cy="307238"/>
          </a:xfrm>
          <a:prstGeom prst="rect">
            <a:avLst/>
          </a:prstGeom>
        </p:spPr>
      </p:pic>
      <p:sp>
        <p:nvSpPr>
          <p:cNvPr id="16" name="text-40"/>
          <p:cNvSpPr txBox="1"/>
          <p:nvPr/>
        </p:nvSpPr>
        <p:spPr>
          <a:xfrm>
            <a:off x="9052560" y="17556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Simple selection</a:t>
            </a:r>
            <a:endParaRPr lang="en-US" sz="1600" dirty="0"/>
          </a:p>
        </p:txBody>
      </p:sp>
      <p:sp>
        <p:nvSpPr>
          <p:cNvPr id="17" name="text-41"/>
          <p:cNvSpPr txBox="1"/>
          <p:nvPr/>
        </p:nvSpPr>
        <p:spPr>
          <a:xfrm>
            <a:off x="8321040" y="2423160"/>
            <a:ext cx="3017520" cy="1005840"/>
          </a:xfrm>
          <a:prstGeom prst="rect">
            <a:avLst/>
          </a:prstGeom>
          <a:noFill/>
          <a:ln/>
        </p:spPr>
        <p:txBody>
          <a:bodyPr wrap="square" lIns="0" tIns="0" rIns="0" bIns="0" rtlCol="0" anchor="t"/>
          <a:lstStyle/>
          <a:p>
            <a:pPr indent="0" marL="0">
              <a:buNone/>
            </a:pPr>
            <a:r>
              <a:rPr lang="en-US" sz="1400" dirty="0">
                <a:solidFill>
                  <a:schemeClr val="tx1"/>
                </a:solidFill>
              </a:rPr>
              <a:t>Country / region from a dropdown; the account group list limited to that region.</a:t>
            </a:r>
            <a:endParaRPr lang="en-US" sz="1400" dirty="0"/>
          </a:p>
        </p:txBody>
      </p:sp>
      <p:sp>
        <p:nvSpPr>
          <p:cNvPr id="18" name="card-42"/>
          <p:cNvSpPr/>
          <p:nvPr/>
        </p:nvSpPr>
        <p:spPr>
          <a:xfrm>
            <a:off x="548640" y="3794760"/>
            <a:ext cx="3520440" cy="2103120"/>
          </a:xfrm>
          <a:prstGeom prst="roundRect">
            <a:avLst>
              <a:gd name="adj" fmla="val 3478"/>
            </a:avLst>
          </a:prstGeom>
          <a:solidFill>
            <a:schemeClr val="bg2"/>
          </a:solidFill>
          <a:ln/>
        </p:spPr>
      </p:sp>
      <p:sp>
        <p:nvSpPr>
          <p:cNvPr id="19" name="badge-43"/>
          <p:cNvSpPr/>
          <p:nvPr/>
        </p:nvSpPr>
        <p:spPr>
          <a:xfrm>
            <a:off x="822960" y="4069080"/>
            <a:ext cx="548640" cy="548640"/>
          </a:xfrm>
          <a:prstGeom prst="ellipse">
            <a:avLst/>
          </a:prstGeom>
          <a:solidFill>
            <a:schemeClr val="accent1"/>
          </a:solidFill>
          <a:ln/>
        </p:spPr>
      </p:sp>
      <p:pic>
        <p:nvPicPr>
          <p:cNvPr id="20" name="icon-44" descr="preencoded.png">    </p:cNvPr>
          <p:cNvPicPr>
            <a:picLocks noChangeAspect="1"/>
          </p:cNvPicPr>
          <p:nvPr/>
        </p:nvPicPr>
        <p:blipFill>
          <a:blip r:embed="rId4"/>
          <a:stretch>
            <a:fillRect/>
          </a:stretch>
        </p:blipFill>
        <p:spPr>
          <a:xfrm>
            <a:off x="943661" y="4189781"/>
            <a:ext cx="307238" cy="307238"/>
          </a:xfrm>
          <a:prstGeom prst="rect">
            <a:avLst/>
          </a:prstGeom>
        </p:spPr>
      </p:pic>
      <p:sp>
        <p:nvSpPr>
          <p:cNvPr id="21" name="text-45"/>
          <p:cNvSpPr txBox="1"/>
          <p:nvPr/>
        </p:nvSpPr>
        <p:spPr>
          <a:xfrm>
            <a:off x="1554480" y="408736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Upload</a:t>
            </a:r>
            <a:endParaRPr lang="en-US" sz="1600" dirty="0"/>
          </a:p>
        </p:txBody>
      </p:sp>
      <p:sp>
        <p:nvSpPr>
          <p:cNvPr id="22" name="text-46"/>
          <p:cNvSpPr txBox="1"/>
          <p:nvPr/>
        </p:nvSpPr>
        <p:spPr>
          <a:xfrm>
            <a:off x="822960" y="4754880"/>
            <a:ext cx="3017520" cy="1005840"/>
          </a:xfrm>
          <a:prstGeom prst="rect">
            <a:avLst/>
          </a:prstGeom>
          <a:noFill/>
          <a:ln/>
        </p:spPr>
        <p:txBody>
          <a:bodyPr wrap="square" lIns="0" tIns="0" rIns="0" bIns="0" rtlCol="0" anchor="t"/>
          <a:lstStyle/>
          <a:p>
            <a:pPr indent="0" marL="0">
              <a:buNone/>
            </a:pPr>
            <a:r>
              <a:rPr lang="en-US" sz="1400" dirty="0">
                <a:solidFill>
                  <a:schemeClr val="tx1"/>
                </a:solidFill>
              </a:rPr>
              <a:t>Create customers, extend them to a new sales area, and block or unblock them.</a:t>
            </a:r>
            <a:endParaRPr lang="en-US" sz="1400" dirty="0"/>
          </a:p>
        </p:txBody>
      </p:sp>
      <p:sp>
        <p:nvSpPr>
          <p:cNvPr id="23" name="card-47"/>
          <p:cNvSpPr/>
          <p:nvPr/>
        </p:nvSpPr>
        <p:spPr>
          <a:xfrm>
            <a:off x="4297680" y="3794760"/>
            <a:ext cx="3520440" cy="2103120"/>
          </a:xfrm>
          <a:prstGeom prst="roundRect">
            <a:avLst>
              <a:gd name="adj" fmla="val 3478"/>
            </a:avLst>
          </a:prstGeom>
          <a:solidFill>
            <a:schemeClr val="bg2"/>
          </a:solidFill>
          <a:ln/>
        </p:spPr>
      </p:sp>
      <p:sp>
        <p:nvSpPr>
          <p:cNvPr id="24" name="badge-48"/>
          <p:cNvSpPr/>
          <p:nvPr/>
        </p:nvSpPr>
        <p:spPr>
          <a:xfrm>
            <a:off x="4572000" y="4069080"/>
            <a:ext cx="548640" cy="548640"/>
          </a:xfrm>
          <a:prstGeom prst="ellipse">
            <a:avLst/>
          </a:prstGeom>
          <a:solidFill>
            <a:schemeClr val="accent1"/>
          </a:solidFill>
          <a:ln/>
        </p:spPr>
      </p:sp>
      <p:pic>
        <p:nvPicPr>
          <p:cNvPr id="25" name="icon-49" descr="preencoded.png">    </p:cNvPr>
          <p:cNvPicPr>
            <a:picLocks noChangeAspect="1"/>
          </p:cNvPicPr>
          <p:nvPr/>
        </p:nvPicPr>
        <p:blipFill>
          <a:blip r:embed="rId5"/>
          <a:stretch>
            <a:fillRect/>
          </a:stretch>
        </p:blipFill>
        <p:spPr>
          <a:xfrm>
            <a:off x="4692701" y="4189781"/>
            <a:ext cx="307238" cy="307238"/>
          </a:xfrm>
          <a:prstGeom prst="rect">
            <a:avLst/>
          </a:prstGeom>
        </p:spPr>
      </p:pic>
      <p:sp>
        <p:nvSpPr>
          <p:cNvPr id="26" name="text-50"/>
          <p:cNvSpPr txBox="1"/>
          <p:nvPr/>
        </p:nvSpPr>
        <p:spPr>
          <a:xfrm>
            <a:off x="5303520" y="408736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Test before posting</a:t>
            </a:r>
            <a:endParaRPr lang="en-US" sz="1600" dirty="0"/>
          </a:p>
        </p:txBody>
      </p:sp>
      <p:sp>
        <p:nvSpPr>
          <p:cNvPr id="27" name="text-51"/>
          <p:cNvSpPr txBox="1"/>
          <p:nvPr/>
        </p:nvSpPr>
        <p:spPr>
          <a:xfrm>
            <a:off x="4572000" y="4754880"/>
            <a:ext cx="3017520" cy="1005840"/>
          </a:xfrm>
          <a:prstGeom prst="rect">
            <a:avLst/>
          </a:prstGeom>
          <a:noFill/>
          <a:ln/>
        </p:spPr>
        <p:txBody>
          <a:bodyPr wrap="square" lIns="0" tIns="0" rIns="0" bIns="0" rtlCol="0" anchor="t"/>
          <a:lstStyle/>
          <a:p>
            <a:pPr indent="0" marL="0">
              <a:buNone/>
            </a:pPr>
            <a:r>
              <a:rPr lang="en-US" sz="1400" dirty="0">
                <a:solidFill>
                  <a:schemeClr val="tx1"/>
                </a:solidFill>
              </a:rPr>
              <a:t>A test run that makes every check and saves nothing.</a:t>
            </a:r>
            <a:endParaRPr lang="en-US" sz="1400" dirty="0"/>
          </a:p>
        </p:txBody>
      </p:sp>
      <p:sp>
        <p:nvSpPr>
          <p:cNvPr id="28" name="card-52"/>
          <p:cNvSpPr/>
          <p:nvPr/>
        </p:nvSpPr>
        <p:spPr>
          <a:xfrm>
            <a:off x="8046720" y="3794760"/>
            <a:ext cx="3520440" cy="2103120"/>
          </a:xfrm>
          <a:prstGeom prst="roundRect">
            <a:avLst>
              <a:gd name="adj" fmla="val 3478"/>
            </a:avLst>
          </a:prstGeom>
          <a:solidFill>
            <a:schemeClr val="bg2"/>
          </a:solidFill>
          <a:ln/>
        </p:spPr>
      </p:sp>
      <p:sp>
        <p:nvSpPr>
          <p:cNvPr id="29" name="badge-53"/>
          <p:cNvSpPr/>
          <p:nvPr/>
        </p:nvSpPr>
        <p:spPr>
          <a:xfrm>
            <a:off x="8321040" y="4069080"/>
            <a:ext cx="548640" cy="548640"/>
          </a:xfrm>
          <a:prstGeom prst="ellipse">
            <a:avLst/>
          </a:prstGeom>
          <a:solidFill>
            <a:schemeClr val="accent1"/>
          </a:solidFill>
          <a:ln/>
        </p:spPr>
      </p:sp>
      <p:pic>
        <p:nvPicPr>
          <p:cNvPr id="30" name="icon-54" descr="preencoded.png">    </p:cNvPr>
          <p:cNvPicPr>
            <a:picLocks noChangeAspect="1"/>
          </p:cNvPicPr>
          <p:nvPr/>
        </p:nvPicPr>
        <p:blipFill>
          <a:blip r:embed="rId6"/>
          <a:stretch>
            <a:fillRect/>
          </a:stretch>
        </p:blipFill>
        <p:spPr>
          <a:xfrm>
            <a:off x="8441741" y="4189781"/>
            <a:ext cx="307238" cy="307238"/>
          </a:xfrm>
          <a:prstGeom prst="rect">
            <a:avLst/>
          </a:prstGeom>
        </p:spPr>
      </p:pic>
      <p:sp>
        <p:nvSpPr>
          <p:cNvPr id="31" name="text-55"/>
          <p:cNvSpPr txBox="1"/>
          <p:nvPr/>
        </p:nvSpPr>
        <p:spPr>
          <a:xfrm>
            <a:off x="9052560" y="408736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Clear messages</a:t>
            </a:r>
            <a:endParaRPr lang="en-US" sz="1600" dirty="0"/>
          </a:p>
        </p:txBody>
      </p:sp>
      <p:sp>
        <p:nvSpPr>
          <p:cNvPr id="32" name="text-56"/>
          <p:cNvSpPr txBox="1"/>
          <p:nvPr/>
        </p:nvSpPr>
        <p:spPr>
          <a:xfrm>
            <a:off x="8321040" y="4754880"/>
            <a:ext cx="3017520" cy="1005840"/>
          </a:xfrm>
          <a:prstGeom prst="rect">
            <a:avLst/>
          </a:prstGeom>
          <a:noFill/>
          <a:ln/>
        </p:spPr>
        <p:txBody>
          <a:bodyPr wrap="square" lIns="0" tIns="0" rIns="0" bIns="0" rtlCol="0" anchor="t"/>
          <a:lstStyle/>
          <a:p>
            <a:pPr indent="0" marL="0">
              <a:buNone/>
            </a:pPr>
            <a:r>
              <a:rPr lang="en-US" sz="1400" dirty="0">
                <a:solidFill>
                  <a:schemeClr val="tx1"/>
                </a:solidFill>
              </a:rPr>
              <a:t>One result line per Excel row, naming the field at fault.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What the business asked for - vendors</a:t>
            </a:r>
            <a:endParaRPr lang="en-US" sz="3200" dirty="0"/>
          </a:p>
        </p:txBody>
      </p:sp>
      <p:sp>
        <p:nvSpPr>
          <p:cNvPr id="3" name="text-57"/>
          <p:cNvSpPr txBox="1"/>
          <p:nvPr/>
        </p:nvSpPr>
        <p:spPr>
          <a:xfrm>
            <a:off x="548640" y="1463040"/>
            <a:ext cx="4023360" cy="3200400"/>
          </a:xfrm>
          <a:prstGeom prst="rect">
            <a:avLst/>
          </a:prstGeom>
          <a:noFill/>
          <a:ln/>
        </p:spPr>
        <p:txBody>
          <a:bodyPr wrap="square" lIns="0" tIns="0" rIns="0" bIns="0" rtlCol="0" anchor="t"/>
          <a:lstStyle/>
          <a:p>
            <a:pPr indent="0" marL="0">
              <a:spcAft>
                <a:spcPts val="1000"/>
              </a:spcAft>
              <a:buNone/>
            </a:pPr>
            <a:r>
              <a:rPr lang="en-US" sz="1700" b="1" dirty="0">
                <a:solidFill>
                  <a:schemeClr val="tx1"/>
                </a:solidFill>
              </a:rPr>
              <a:t>The existing vendor workbook had to keep working as it is.</a:t>
            </a:r>
            <a:endParaRPr lang="en-US" sz="1700" dirty="0"/>
          </a:p>
          <a:p>
            <a:pPr indent="0" marL="0">
              <a:spcAft>
                <a:spcPts val="1000"/>
              </a:spcAft>
              <a:buNone/>
            </a:pPr>
            <a:r>
              <a:rPr lang="en-US" sz="1700" dirty="0">
                <a:solidFill>
                  <a:schemeClr val="tx1"/>
                </a:solidFill>
              </a:rPr>
              <a:t>One tab per scenario, the same columns as before - no re-keying and no new formats. Each scenario had to be loadable on its own, in test mode first.</a:t>
            </a:r>
            <a:endParaRPr lang="en-US" sz="1700" dirty="0"/>
          </a:p>
        </p:txBody>
      </p:sp>
      <p:sp>
        <p:nvSpPr>
          <p:cNvPr id="4" name="card-58"/>
          <p:cNvSpPr/>
          <p:nvPr/>
        </p:nvSpPr>
        <p:spPr>
          <a:xfrm>
            <a:off x="4937760" y="1463040"/>
            <a:ext cx="2057400" cy="1143000"/>
          </a:xfrm>
          <a:prstGeom prst="roundRect">
            <a:avLst>
              <a:gd name="adj" fmla="val 6400"/>
            </a:avLst>
          </a:prstGeom>
          <a:solidFill>
            <a:schemeClr val="bg2"/>
          </a:solidFill>
          <a:ln/>
        </p:spPr>
      </p:sp>
      <p:sp>
        <p:nvSpPr>
          <p:cNvPr id="5" name="num-59"/>
          <p:cNvSpPr/>
          <p:nvPr/>
        </p:nvSpPr>
        <p:spPr>
          <a:xfrm>
            <a:off x="5102352" y="1627632"/>
            <a:ext cx="365760" cy="365760"/>
          </a:xfrm>
          <a:prstGeom prst="ellipse">
            <a:avLst/>
          </a:prstGeom>
          <a:solidFill>
            <a:schemeClr val="accent1"/>
          </a:solidFill>
          <a:ln/>
        </p:spPr>
      </p:sp>
      <p:sp>
        <p:nvSpPr>
          <p:cNvPr id="6" name="numtxt-60"/>
          <p:cNvSpPr txBox="1"/>
          <p:nvPr/>
        </p:nvSpPr>
        <p:spPr>
          <a:xfrm>
            <a:off x="5102352" y="162763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61"/>
          <p:cNvSpPr txBox="1"/>
          <p:nvPr/>
        </p:nvSpPr>
        <p:spPr>
          <a:xfrm>
            <a:off x="5102352" y="2066544"/>
            <a:ext cx="1783080" cy="502920"/>
          </a:xfrm>
          <a:prstGeom prst="rect">
            <a:avLst/>
          </a:prstGeom>
          <a:noFill/>
          <a:ln/>
        </p:spPr>
        <p:txBody>
          <a:bodyPr wrap="square" lIns="0" tIns="0" rIns="0" bIns="0" rtlCol="0" anchor="t"/>
          <a:lstStyle/>
          <a:p>
            <a:pPr indent="0" marL="0">
              <a:buNone/>
            </a:pPr>
            <a:r>
              <a:rPr lang="en-US" sz="1300" b="1" dirty="0">
                <a:solidFill>
                  <a:schemeClr val="tx2"/>
                </a:solidFill>
              </a:rPr>
              <a:t>Vendor / BP creation - all company codes</a:t>
            </a:r>
            <a:endParaRPr lang="en-US" sz="1300" dirty="0"/>
          </a:p>
        </p:txBody>
      </p:sp>
      <p:sp>
        <p:nvSpPr>
          <p:cNvPr id="8" name="card-62"/>
          <p:cNvSpPr/>
          <p:nvPr/>
        </p:nvSpPr>
        <p:spPr>
          <a:xfrm>
            <a:off x="7178040" y="1463040"/>
            <a:ext cx="2057400" cy="1143000"/>
          </a:xfrm>
          <a:prstGeom prst="roundRect">
            <a:avLst>
              <a:gd name="adj" fmla="val 6400"/>
            </a:avLst>
          </a:prstGeom>
          <a:solidFill>
            <a:schemeClr val="bg2"/>
          </a:solidFill>
          <a:ln/>
        </p:spPr>
      </p:sp>
      <p:sp>
        <p:nvSpPr>
          <p:cNvPr id="9" name="num-63"/>
          <p:cNvSpPr/>
          <p:nvPr/>
        </p:nvSpPr>
        <p:spPr>
          <a:xfrm>
            <a:off x="7342632" y="1627632"/>
            <a:ext cx="365760" cy="365760"/>
          </a:xfrm>
          <a:prstGeom prst="ellipse">
            <a:avLst/>
          </a:prstGeom>
          <a:solidFill>
            <a:schemeClr val="accent1"/>
          </a:solidFill>
          <a:ln/>
        </p:spPr>
      </p:sp>
      <p:sp>
        <p:nvSpPr>
          <p:cNvPr id="10" name="numtxt-64"/>
          <p:cNvSpPr txBox="1"/>
          <p:nvPr/>
        </p:nvSpPr>
        <p:spPr>
          <a:xfrm>
            <a:off x="7342632" y="162763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65"/>
          <p:cNvSpPr txBox="1"/>
          <p:nvPr/>
        </p:nvSpPr>
        <p:spPr>
          <a:xfrm>
            <a:off x="7342632" y="2066544"/>
            <a:ext cx="1783080" cy="502920"/>
          </a:xfrm>
          <a:prstGeom prst="rect">
            <a:avLst/>
          </a:prstGeom>
          <a:noFill/>
          <a:ln/>
        </p:spPr>
        <p:txBody>
          <a:bodyPr wrap="square" lIns="0" tIns="0" rIns="0" bIns="0" rtlCol="0" anchor="t"/>
          <a:lstStyle/>
          <a:p>
            <a:pPr indent="0" marL="0">
              <a:buNone/>
            </a:pPr>
            <a:r>
              <a:rPr lang="en-US" sz="1300" b="1" dirty="0">
                <a:solidFill>
                  <a:schemeClr val="tx2"/>
                </a:solidFill>
              </a:rPr>
              <a:t>Withholding tax / TDS</a:t>
            </a:r>
            <a:endParaRPr lang="en-US" sz="1300" dirty="0"/>
          </a:p>
        </p:txBody>
      </p:sp>
      <p:sp>
        <p:nvSpPr>
          <p:cNvPr id="12" name="card-66"/>
          <p:cNvSpPr/>
          <p:nvPr/>
        </p:nvSpPr>
        <p:spPr>
          <a:xfrm>
            <a:off x="9418320" y="1463040"/>
            <a:ext cx="2057400" cy="1143000"/>
          </a:xfrm>
          <a:prstGeom prst="roundRect">
            <a:avLst>
              <a:gd name="adj" fmla="val 6400"/>
            </a:avLst>
          </a:prstGeom>
          <a:solidFill>
            <a:schemeClr val="bg2"/>
          </a:solidFill>
          <a:ln/>
        </p:spPr>
      </p:sp>
      <p:sp>
        <p:nvSpPr>
          <p:cNvPr id="13" name="num-67"/>
          <p:cNvSpPr/>
          <p:nvPr/>
        </p:nvSpPr>
        <p:spPr>
          <a:xfrm>
            <a:off x="9582912" y="1627632"/>
            <a:ext cx="365760" cy="365760"/>
          </a:xfrm>
          <a:prstGeom prst="ellipse">
            <a:avLst/>
          </a:prstGeom>
          <a:solidFill>
            <a:schemeClr val="accent1"/>
          </a:solidFill>
          <a:ln/>
        </p:spPr>
      </p:sp>
      <p:sp>
        <p:nvSpPr>
          <p:cNvPr id="14" name="numtxt-68"/>
          <p:cNvSpPr txBox="1"/>
          <p:nvPr/>
        </p:nvSpPr>
        <p:spPr>
          <a:xfrm>
            <a:off x="9582912" y="162763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69"/>
          <p:cNvSpPr txBox="1"/>
          <p:nvPr/>
        </p:nvSpPr>
        <p:spPr>
          <a:xfrm>
            <a:off x="9582912" y="2066544"/>
            <a:ext cx="1783080" cy="502920"/>
          </a:xfrm>
          <a:prstGeom prst="rect">
            <a:avLst/>
          </a:prstGeom>
          <a:noFill/>
          <a:ln/>
        </p:spPr>
        <p:txBody>
          <a:bodyPr wrap="square" lIns="0" tIns="0" rIns="0" bIns="0" rtlCol="0" anchor="t"/>
          <a:lstStyle/>
          <a:p>
            <a:pPr indent="0" marL="0">
              <a:buNone/>
            </a:pPr>
            <a:r>
              <a:rPr lang="en-US" sz="1300" b="1" dirty="0">
                <a:solidFill>
                  <a:schemeClr val="tx2"/>
                </a:solidFill>
              </a:rPr>
              <a:t>TAN exemption details</a:t>
            </a:r>
            <a:endParaRPr lang="en-US" sz="1300" dirty="0"/>
          </a:p>
        </p:txBody>
      </p:sp>
      <p:sp>
        <p:nvSpPr>
          <p:cNvPr id="16" name="card-70"/>
          <p:cNvSpPr/>
          <p:nvPr/>
        </p:nvSpPr>
        <p:spPr>
          <a:xfrm>
            <a:off x="4937760" y="2788920"/>
            <a:ext cx="2057400" cy="1143000"/>
          </a:xfrm>
          <a:prstGeom prst="roundRect">
            <a:avLst>
              <a:gd name="adj" fmla="val 6400"/>
            </a:avLst>
          </a:prstGeom>
          <a:solidFill>
            <a:schemeClr val="bg2"/>
          </a:solidFill>
          <a:ln/>
        </p:spPr>
      </p:sp>
      <p:sp>
        <p:nvSpPr>
          <p:cNvPr id="17" name="num-71"/>
          <p:cNvSpPr/>
          <p:nvPr/>
        </p:nvSpPr>
        <p:spPr>
          <a:xfrm>
            <a:off x="5102352" y="2953512"/>
            <a:ext cx="365760" cy="365760"/>
          </a:xfrm>
          <a:prstGeom prst="ellipse">
            <a:avLst/>
          </a:prstGeom>
          <a:solidFill>
            <a:schemeClr val="accent1"/>
          </a:solidFill>
          <a:ln/>
        </p:spPr>
      </p:sp>
      <p:sp>
        <p:nvSpPr>
          <p:cNvPr id="18" name="numtxt-72"/>
          <p:cNvSpPr txBox="1"/>
          <p:nvPr/>
        </p:nvSpPr>
        <p:spPr>
          <a:xfrm>
            <a:off x="5102352" y="29535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73"/>
          <p:cNvSpPr txBox="1"/>
          <p:nvPr/>
        </p:nvSpPr>
        <p:spPr>
          <a:xfrm>
            <a:off x="5102352" y="3392424"/>
            <a:ext cx="1783080" cy="502920"/>
          </a:xfrm>
          <a:prstGeom prst="rect">
            <a:avLst/>
          </a:prstGeom>
          <a:noFill/>
          <a:ln/>
        </p:spPr>
        <p:txBody>
          <a:bodyPr wrap="square" lIns="0" tIns="0" rIns="0" bIns="0" rtlCol="0" anchor="t"/>
          <a:lstStyle/>
          <a:p>
            <a:pPr indent="0" marL="0">
              <a:buNone/>
            </a:pPr>
            <a:r>
              <a:rPr lang="en-US" sz="1300" b="1" dirty="0">
                <a:solidFill>
                  <a:schemeClr val="tx2"/>
                </a:solidFill>
              </a:rPr>
              <a:t>Bank key creation</a:t>
            </a:r>
            <a:endParaRPr lang="en-US" sz="1300" dirty="0"/>
          </a:p>
        </p:txBody>
      </p:sp>
      <p:sp>
        <p:nvSpPr>
          <p:cNvPr id="20" name="card-74"/>
          <p:cNvSpPr/>
          <p:nvPr/>
        </p:nvSpPr>
        <p:spPr>
          <a:xfrm>
            <a:off x="7178040" y="2788920"/>
            <a:ext cx="2057400" cy="1143000"/>
          </a:xfrm>
          <a:prstGeom prst="roundRect">
            <a:avLst>
              <a:gd name="adj" fmla="val 6400"/>
            </a:avLst>
          </a:prstGeom>
          <a:solidFill>
            <a:schemeClr val="bg2"/>
          </a:solidFill>
          <a:ln/>
        </p:spPr>
      </p:sp>
      <p:sp>
        <p:nvSpPr>
          <p:cNvPr id="21" name="num-75"/>
          <p:cNvSpPr/>
          <p:nvPr/>
        </p:nvSpPr>
        <p:spPr>
          <a:xfrm>
            <a:off x="7342632" y="2953512"/>
            <a:ext cx="365760" cy="365760"/>
          </a:xfrm>
          <a:prstGeom prst="ellipse">
            <a:avLst/>
          </a:prstGeom>
          <a:solidFill>
            <a:schemeClr val="accent1"/>
          </a:solidFill>
          <a:ln/>
        </p:spPr>
      </p:sp>
      <p:sp>
        <p:nvSpPr>
          <p:cNvPr id="22" name="numtxt-76"/>
          <p:cNvSpPr txBox="1"/>
          <p:nvPr/>
        </p:nvSpPr>
        <p:spPr>
          <a:xfrm>
            <a:off x="7342632" y="29535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77"/>
          <p:cNvSpPr txBox="1"/>
          <p:nvPr/>
        </p:nvSpPr>
        <p:spPr>
          <a:xfrm>
            <a:off x="7342632" y="3392424"/>
            <a:ext cx="1783080" cy="502920"/>
          </a:xfrm>
          <a:prstGeom prst="rect">
            <a:avLst/>
          </a:prstGeom>
          <a:noFill/>
          <a:ln/>
        </p:spPr>
        <p:txBody>
          <a:bodyPr wrap="square" lIns="0" tIns="0" rIns="0" bIns="0" rtlCol="0" anchor="t"/>
          <a:lstStyle/>
          <a:p>
            <a:pPr indent="0" marL="0">
              <a:buNone/>
            </a:pPr>
            <a:r>
              <a:rPr lang="en-US" sz="1300" b="1" dirty="0">
                <a:solidFill>
                  <a:schemeClr val="tx2"/>
                </a:solidFill>
              </a:rPr>
              <a:t>Vendor bank details</a:t>
            </a:r>
            <a:endParaRPr lang="en-US" sz="1300" dirty="0"/>
          </a:p>
        </p:txBody>
      </p:sp>
      <p:sp>
        <p:nvSpPr>
          <p:cNvPr id="24" name="card-78"/>
          <p:cNvSpPr/>
          <p:nvPr/>
        </p:nvSpPr>
        <p:spPr>
          <a:xfrm>
            <a:off x="9418320" y="2788920"/>
            <a:ext cx="2057400" cy="1143000"/>
          </a:xfrm>
          <a:prstGeom prst="roundRect">
            <a:avLst>
              <a:gd name="adj" fmla="val 6400"/>
            </a:avLst>
          </a:prstGeom>
          <a:solidFill>
            <a:schemeClr val="bg2"/>
          </a:solidFill>
          <a:ln/>
        </p:spPr>
      </p:sp>
      <p:sp>
        <p:nvSpPr>
          <p:cNvPr id="25" name="num-79"/>
          <p:cNvSpPr/>
          <p:nvPr/>
        </p:nvSpPr>
        <p:spPr>
          <a:xfrm>
            <a:off x="9582912" y="2953512"/>
            <a:ext cx="365760" cy="365760"/>
          </a:xfrm>
          <a:prstGeom prst="ellipse">
            <a:avLst/>
          </a:prstGeom>
          <a:solidFill>
            <a:schemeClr val="accent1"/>
          </a:solidFill>
          <a:ln/>
        </p:spPr>
      </p:sp>
      <p:sp>
        <p:nvSpPr>
          <p:cNvPr id="26" name="numtxt-80"/>
          <p:cNvSpPr txBox="1"/>
          <p:nvPr/>
        </p:nvSpPr>
        <p:spPr>
          <a:xfrm>
            <a:off x="9582912" y="29535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text-81"/>
          <p:cNvSpPr txBox="1"/>
          <p:nvPr/>
        </p:nvSpPr>
        <p:spPr>
          <a:xfrm>
            <a:off x="9582912" y="3392424"/>
            <a:ext cx="1783080" cy="502920"/>
          </a:xfrm>
          <a:prstGeom prst="rect">
            <a:avLst/>
          </a:prstGeom>
          <a:noFill/>
          <a:ln/>
        </p:spPr>
        <p:txBody>
          <a:bodyPr wrap="square" lIns="0" tIns="0" rIns="0" bIns="0" rtlCol="0" anchor="t"/>
          <a:lstStyle/>
          <a:p>
            <a:pPr indent="0" marL="0">
              <a:buNone/>
            </a:pPr>
            <a:r>
              <a:rPr lang="en-US" sz="1300" b="1" dirty="0">
                <a:solidFill>
                  <a:schemeClr val="tx2"/>
                </a:solidFill>
              </a:rPr>
              <a:t>Vendor extension</a:t>
            </a:r>
            <a:endParaRPr lang="en-US" sz="1300" dirty="0"/>
          </a:p>
        </p:txBody>
      </p:sp>
      <p:sp>
        <p:nvSpPr>
          <p:cNvPr id="28" name="card-82"/>
          <p:cNvSpPr/>
          <p:nvPr/>
        </p:nvSpPr>
        <p:spPr>
          <a:xfrm>
            <a:off x="4937760" y="4114800"/>
            <a:ext cx="2057400" cy="1143000"/>
          </a:xfrm>
          <a:prstGeom prst="roundRect">
            <a:avLst>
              <a:gd name="adj" fmla="val 6400"/>
            </a:avLst>
          </a:prstGeom>
          <a:solidFill>
            <a:schemeClr val="bg2"/>
          </a:solidFill>
          <a:ln/>
        </p:spPr>
      </p:sp>
      <p:sp>
        <p:nvSpPr>
          <p:cNvPr id="29" name="num-83"/>
          <p:cNvSpPr/>
          <p:nvPr/>
        </p:nvSpPr>
        <p:spPr>
          <a:xfrm>
            <a:off x="5102352" y="4279392"/>
            <a:ext cx="365760" cy="365760"/>
          </a:xfrm>
          <a:prstGeom prst="ellipse">
            <a:avLst/>
          </a:prstGeom>
          <a:solidFill>
            <a:schemeClr val="accent1"/>
          </a:solidFill>
          <a:ln/>
        </p:spPr>
      </p:sp>
      <p:sp>
        <p:nvSpPr>
          <p:cNvPr id="30" name="numtxt-84"/>
          <p:cNvSpPr txBox="1"/>
          <p:nvPr/>
        </p:nvSpPr>
        <p:spPr>
          <a:xfrm>
            <a:off x="5102352" y="42793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1" name="text-85"/>
          <p:cNvSpPr txBox="1"/>
          <p:nvPr/>
        </p:nvSpPr>
        <p:spPr>
          <a:xfrm>
            <a:off x="5102352" y="4718304"/>
            <a:ext cx="1783080" cy="502920"/>
          </a:xfrm>
          <a:prstGeom prst="rect">
            <a:avLst/>
          </a:prstGeom>
          <a:noFill/>
          <a:ln/>
        </p:spPr>
        <p:txBody>
          <a:bodyPr wrap="square" lIns="0" tIns="0" rIns="0" bIns="0" rtlCol="0" anchor="t"/>
          <a:lstStyle/>
          <a:p>
            <a:pPr indent="0" marL="0">
              <a:buNone/>
            </a:pPr>
            <a:r>
              <a:rPr lang="en-US" sz="1300" b="1" dirty="0">
                <a:solidFill>
                  <a:schemeClr val="tx2"/>
                </a:solidFill>
              </a:rPr>
              <a:t>CIN details</a:t>
            </a:r>
            <a:endParaRPr lang="en-US" sz="1300" dirty="0"/>
          </a:p>
        </p:txBody>
      </p:sp>
      <p:sp>
        <p:nvSpPr>
          <p:cNvPr id="32" name="card-86"/>
          <p:cNvSpPr/>
          <p:nvPr/>
        </p:nvSpPr>
        <p:spPr>
          <a:xfrm>
            <a:off x="7178040" y="4114800"/>
            <a:ext cx="2057400" cy="1143000"/>
          </a:xfrm>
          <a:prstGeom prst="roundRect">
            <a:avLst>
              <a:gd name="adj" fmla="val 6400"/>
            </a:avLst>
          </a:prstGeom>
          <a:solidFill>
            <a:schemeClr val="bg2"/>
          </a:solidFill>
          <a:ln/>
        </p:spPr>
      </p:sp>
      <p:sp>
        <p:nvSpPr>
          <p:cNvPr id="33" name="num-87"/>
          <p:cNvSpPr/>
          <p:nvPr/>
        </p:nvSpPr>
        <p:spPr>
          <a:xfrm>
            <a:off x="7342632" y="4279392"/>
            <a:ext cx="365760" cy="365760"/>
          </a:xfrm>
          <a:prstGeom prst="ellipse">
            <a:avLst/>
          </a:prstGeom>
          <a:solidFill>
            <a:schemeClr val="accent1"/>
          </a:solidFill>
          <a:ln/>
        </p:spPr>
      </p:sp>
      <p:sp>
        <p:nvSpPr>
          <p:cNvPr id="34" name="numtxt-88"/>
          <p:cNvSpPr txBox="1"/>
          <p:nvPr/>
        </p:nvSpPr>
        <p:spPr>
          <a:xfrm>
            <a:off x="7342632" y="42793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5" name="text-89"/>
          <p:cNvSpPr txBox="1"/>
          <p:nvPr/>
        </p:nvSpPr>
        <p:spPr>
          <a:xfrm>
            <a:off x="7342632" y="4718304"/>
            <a:ext cx="1783080" cy="502920"/>
          </a:xfrm>
          <a:prstGeom prst="rect">
            <a:avLst/>
          </a:prstGeom>
          <a:noFill/>
          <a:ln/>
        </p:spPr>
        <p:txBody>
          <a:bodyPr wrap="square" lIns="0" tIns="0" rIns="0" bIns="0" rtlCol="0" anchor="t"/>
          <a:lstStyle/>
          <a:p>
            <a:pPr indent="0" marL="0">
              <a:buNone/>
            </a:pPr>
            <a:r>
              <a:rPr lang="en-US" sz="1300" b="1" dirty="0">
                <a:solidFill>
                  <a:schemeClr val="tx2"/>
                </a:solidFill>
              </a:rPr>
              <a:t>Partner functions</a:t>
            </a:r>
            <a:endParaRPr lang="en-US" sz="1300" dirty="0"/>
          </a:p>
        </p:txBody>
      </p:sp>
      <p:sp>
        <p:nvSpPr>
          <p:cNvPr id="36" name="card-90"/>
          <p:cNvSpPr/>
          <p:nvPr/>
        </p:nvSpPr>
        <p:spPr>
          <a:xfrm>
            <a:off x="9418320" y="4114800"/>
            <a:ext cx="2057400" cy="1143000"/>
          </a:xfrm>
          <a:prstGeom prst="roundRect">
            <a:avLst>
              <a:gd name="adj" fmla="val 6400"/>
            </a:avLst>
          </a:prstGeom>
          <a:solidFill>
            <a:schemeClr val="bg2"/>
          </a:solidFill>
          <a:ln/>
        </p:spPr>
      </p:sp>
      <p:sp>
        <p:nvSpPr>
          <p:cNvPr id="37" name="num-91"/>
          <p:cNvSpPr/>
          <p:nvPr/>
        </p:nvSpPr>
        <p:spPr>
          <a:xfrm>
            <a:off x="9582912" y="4279392"/>
            <a:ext cx="365760" cy="365760"/>
          </a:xfrm>
          <a:prstGeom prst="ellipse">
            <a:avLst/>
          </a:prstGeom>
          <a:solidFill>
            <a:schemeClr val="accent1"/>
          </a:solidFill>
          <a:ln/>
        </p:spPr>
      </p:sp>
      <p:sp>
        <p:nvSpPr>
          <p:cNvPr id="38" name="numtxt-92"/>
          <p:cNvSpPr txBox="1"/>
          <p:nvPr/>
        </p:nvSpPr>
        <p:spPr>
          <a:xfrm>
            <a:off x="9582912" y="42793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9" name="text-93"/>
          <p:cNvSpPr txBox="1"/>
          <p:nvPr/>
        </p:nvSpPr>
        <p:spPr>
          <a:xfrm>
            <a:off x="9582912" y="4718304"/>
            <a:ext cx="1783080" cy="502920"/>
          </a:xfrm>
          <a:prstGeom prst="rect">
            <a:avLst/>
          </a:prstGeom>
          <a:noFill/>
          <a:ln/>
        </p:spPr>
        <p:txBody>
          <a:bodyPr wrap="square" lIns="0" tIns="0" rIns="0" bIns="0" rtlCol="0" anchor="t"/>
          <a:lstStyle/>
          <a:p>
            <a:pPr indent="0" marL="0">
              <a:buNone/>
            </a:pPr>
            <a:r>
              <a:rPr lang="en-US" sz="1300" b="1" dirty="0">
                <a:solidFill>
                  <a:schemeClr val="tx2"/>
                </a:solidFill>
              </a:rPr>
              <a:t>Block / unblock</a:t>
            </a:r>
            <a:endParaRPr lang="en-US" sz="1300" dirty="0"/>
          </a:p>
        </p:txBody>
      </p:sp>
      <p:sp>
        <p:nvSpPr>
          <p:cNvPr id="40" name="text-94"/>
          <p:cNvSpPr txBox="1"/>
          <p:nvPr/>
        </p:nvSpPr>
        <p:spPr>
          <a:xfrm>
            <a:off x="4937760" y="5440680"/>
            <a:ext cx="6400800" cy="274320"/>
          </a:xfrm>
          <a:prstGeom prst="rect">
            <a:avLst/>
          </a:prstGeom>
          <a:noFill/>
          <a:ln/>
        </p:spPr>
        <p:txBody>
          <a:bodyPr wrap="square" lIns="0" tIns="0" rIns="0" bIns="0" rtlCol="0" anchor="t"/>
          <a:lstStyle/>
          <a:p>
            <a:pPr indent="0" marL="0">
              <a:buNone/>
            </a:pPr>
            <a:r>
              <a:rPr lang="en-US" sz="1100" i="1" dirty="0">
                <a:solidFill>
                  <a:schemeClr val="accent5"/>
                </a:solidFill>
              </a:rPr>
              <a:t>The nine tabs of the vendor workbook</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698480" cy="548640"/>
          </a:xfrm>
          <a:prstGeom prst="rect">
            <a:avLst/>
          </a:prstGeom>
          <a:noFill/>
          <a:ln/>
        </p:spPr>
        <p:txBody>
          <a:bodyPr wrap="square" lIns="0" tIns="0" rIns="0" bIns="0" rtlCol="0"/>
          <a:lstStyle/>
          <a:p>
            <a:pPr indent="0" marL="0">
              <a:buNone/>
            </a:pPr>
            <a:r>
              <a:rPr lang="en-US" sz="1800" b="1" dirty="0">
                <a:solidFill>
                  <a:schemeClr val="accent2"/>
                </a:solidFill>
              </a:rPr>
              <a:t>PART 2</a:t>
            </a:r>
            <a:endParaRPr lang="en-US" sz="1800" dirty="0"/>
          </a:p>
        </p:txBody>
      </p:sp>
      <p:sp>
        <p:nvSpPr>
          <p:cNvPr id="3" name="Text 0"/>
          <p:cNvSpPr/>
          <p:nvPr>
            <p:ph idx="101" type="title" hasCustomPrompt="1"/>
          </p:nvPr>
        </p:nvSpPr>
        <p:spPr>
          <a:xfrm>
            <a:off x="731520" y="265176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What we built</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One program per master, in both directions</a:t>
            </a:r>
            <a:endParaRPr lang="en-US" sz="3200" dirty="0"/>
          </a:p>
        </p:txBody>
      </p:sp>
      <p:sp>
        <p:nvSpPr>
          <p:cNvPr id="3" name="card-95"/>
          <p:cNvSpPr/>
          <p:nvPr/>
        </p:nvSpPr>
        <p:spPr>
          <a:xfrm>
            <a:off x="548640" y="1600200"/>
            <a:ext cx="3200400" cy="2286000"/>
          </a:xfrm>
          <a:prstGeom prst="roundRect">
            <a:avLst>
              <a:gd name="adj" fmla="val 3200"/>
            </a:avLst>
          </a:prstGeom>
          <a:solidFill>
            <a:schemeClr val="bg2"/>
          </a:solidFill>
          <a:ln/>
        </p:spPr>
      </p:sp>
      <p:sp>
        <p:nvSpPr>
          <p:cNvPr id="4" name="badge-96"/>
          <p:cNvSpPr/>
          <p:nvPr/>
        </p:nvSpPr>
        <p:spPr>
          <a:xfrm>
            <a:off x="822960" y="1828800"/>
            <a:ext cx="594360" cy="594360"/>
          </a:xfrm>
          <a:prstGeom prst="ellipse">
            <a:avLst/>
          </a:prstGeom>
          <a:solidFill>
            <a:schemeClr val="accent1"/>
          </a:solidFill>
          <a:ln/>
        </p:spPr>
      </p:sp>
      <p:pic>
        <p:nvPicPr>
          <p:cNvPr id="5" name="icon-97" descr="preencoded.png">    </p:cNvPr>
          <p:cNvPicPr>
            <a:picLocks noChangeAspect="1"/>
          </p:cNvPicPr>
          <p:nvPr/>
        </p:nvPicPr>
        <p:blipFill>
          <a:blip r:embed="rId1"/>
          <a:stretch>
            <a:fillRect/>
          </a:stretch>
        </p:blipFill>
        <p:spPr>
          <a:xfrm>
            <a:off x="953719" y="1959559"/>
            <a:ext cx="332842" cy="332842"/>
          </a:xfrm>
          <a:prstGeom prst="rect">
            <a:avLst/>
          </a:prstGeom>
        </p:spPr>
      </p:pic>
      <p:sp>
        <p:nvSpPr>
          <p:cNvPr id="6" name="text-98"/>
          <p:cNvSpPr txBox="1"/>
          <p:nvPr/>
        </p:nvSpPr>
        <p:spPr>
          <a:xfrm>
            <a:off x="1554480" y="1828800"/>
            <a:ext cx="2103120" cy="594360"/>
          </a:xfrm>
          <a:prstGeom prst="rect">
            <a:avLst/>
          </a:prstGeom>
          <a:noFill/>
          <a:ln/>
        </p:spPr>
        <p:txBody>
          <a:bodyPr wrap="square" lIns="0" tIns="0" rIns="0" bIns="0" rtlCol="0" anchor="ctr"/>
          <a:lstStyle/>
          <a:p>
            <a:pPr indent="0" marL="0">
              <a:buNone/>
            </a:pPr>
            <a:r>
              <a:rPr lang="en-US" sz="1800" b="1" dirty="0">
                <a:solidFill>
                  <a:schemeClr val="tx2"/>
                </a:solidFill>
              </a:rPr>
              <a:t>Excel workbook</a:t>
            </a:r>
            <a:endParaRPr lang="en-US" sz="1800" dirty="0"/>
          </a:p>
        </p:txBody>
      </p:sp>
      <p:sp>
        <p:nvSpPr>
          <p:cNvPr id="7" name="text-99"/>
          <p:cNvSpPr txBox="1"/>
          <p:nvPr/>
        </p:nvSpPr>
        <p:spPr>
          <a:xfrm>
            <a:off x="822960" y="2606040"/>
            <a:ext cx="2743200" cy="1097280"/>
          </a:xfrm>
          <a:prstGeom prst="rect">
            <a:avLst/>
          </a:prstGeom>
          <a:noFill/>
          <a:ln/>
        </p:spPr>
        <p:txBody>
          <a:bodyPr wrap="square" lIns="0" tIns="0" rIns="0" bIns="0" rtlCol="0" anchor="t"/>
          <a:lstStyle/>
          <a:p>
            <a:pPr indent="0" marL="0">
              <a:buNone/>
            </a:pPr>
            <a:r>
              <a:rPr lang="en-US" sz="1400" dirty="0">
                <a:solidFill>
                  <a:schemeClr val="tx1"/>
                </a:solidFill>
              </a:rPr>
              <a:t>The client’s own template, one tab per layout or scenario</a:t>
            </a:r>
            <a:endParaRPr lang="en-US" sz="1400" dirty="0"/>
          </a:p>
        </p:txBody>
      </p:sp>
      <p:sp>
        <p:nvSpPr>
          <p:cNvPr id="8" name="card-100"/>
          <p:cNvSpPr/>
          <p:nvPr/>
        </p:nvSpPr>
        <p:spPr>
          <a:xfrm>
            <a:off x="4480560" y="1600200"/>
            <a:ext cx="3200400" cy="2286000"/>
          </a:xfrm>
          <a:prstGeom prst="roundRect">
            <a:avLst>
              <a:gd name="adj" fmla="val 3200"/>
            </a:avLst>
          </a:prstGeom>
          <a:solidFill>
            <a:schemeClr val="bg2"/>
          </a:solidFill>
          <a:ln/>
        </p:spPr>
      </p:sp>
      <p:sp>
        <p:nvSpPr>
          <p:cNvPr id="9" name="badge-101"/>
          <p:cNvSpPr/>
          <p:nvPr/>
        </p:nvSpPr>
        <p:spPr>
          <a:xfrm>
            <a:off x="4754880" y="1828800"/>
            <a:ext cx="594360" cy="594360"/>
          </a:xfrm>
          <a:prstGeom prst="ellipse">
            <a:avLst/>
          </a:prstGeom>
          <a:solidFill>
            <a:schemeClr val="accent1"/>
          </a:solidFill>
          <a:ln/>
        </p:spPr>
      </p:sp>
      <p:pic>
        <p:nvPicPr>
          <p:cNvPr id="10" name="icon-102" descr="preencoded.png">    </p:cNvPr>
          <p:cNvPicPr>
            <a:picLocks noChangeAspect="1"/>
          </p:cNvPicPr>
          <p:nvPr/>
        </p:nvPicPr>
        <p:blipFill>
          <a:blip r:embed="rId2"/>
          <a:stretch>
            <a:fillRect/>
          </a:stretch>
        </p:blipFill>
        <p:spPr>
          <a:xfrm>
            <a:off x="4885639" y="1959559"/>
            <a:ext cx="332842" cy="332842"/>
          </a:xfrm>
          <a:prstGeom prst="rect">
            <a:avLst/>
          </a:prstGeom>
        </p:spPr>
      </p:pic>
      <p:sp>
        <p:nvSpPr>
          <p:cNvPr id="11" name="text-103"/>
          <p:cNvSpPr txBox="1"/>
          <p:nvPr/>
        </p:nvSpPr>
        <p:spPr>
          <a:xfrm>
            <a:off x="5486400" y="1828800"/>
            <a:ext cx="2103120" cy="594360"/>
          </a:xfrm>
          <a:prstGeom prst="rect">
            <a:avLst/>
          </a:prstGeom>
          <a:noFill/>
          <a:ln/>
        </p:spPr>
        <p:txBody>
          <a:bodyPr wrap="square" lIns="0" tIns="0" rIns="0" bIns="0" rtlCol="0" anchor="ctr"/>
          <a:lstStyle/>
          <a:p>
            <a:pPr indent="0" marL="0">
              <a:buNone/>
            </a:pPr>
            <a:r>
              <a:rPr lang="en-US" sz="1800" b="1" dirty="0">
                <a:solidFill>
                  <a:schemeClr val="tx2"/>
                </a:solidFill>
              </a:rPr>
              <a:t>Program</a:t>
            </a:r>
            <a:endParaRPr lang="en-US" sz="1800" dirty="0"/>
          </a:p>
        </p:txBody>
      </p:sp>
      <p:sp>
        <p:nvSpPr>
          <p:cNvPr id="12" name="text-104"/>
          <p:cNvSpPr txBox="1"/>
          <p:nvPr/>
        </p:nvSpPr>
        <p:spPr>
          <a:xfrm>
            <a:off x="4754880" y="2606040"/>
            <a:ext cx="2743200" cy="1097280"/>
          </a:xfrm>
          <a:prstGeom prst="rect">
            <a:avLst/>
          </a:prstGeom>
          <a:noFill/>
          <a:ln/>
        </p:spPr>
        <p:txBody>
          <a:bodyPr wrap="square" lIns="0" tIns="0" rIns="0" bIns="0" rtlCol="0" anchor="t"/>
          <a:lstStyle/>
          <a:p>
            <a:pPr indent="0" marL="0">
              <a:buNone/>
            </a:pPr>
            <a:r>
              <a:rPr lang="en-US" sz="1400" dirty="0">
                <a:solidFill>
                  <a:schemeClr val="tx1"/>
                </a:solidFill>
              </a:rPr>
              <a:t>One column map per template - used to write the download and to read the upload</a:t>
            </a:r>
            <a:endParaRPr lang="en-US" sz="1400" dirty="0"/>
          </a:p>
        </p:txBody>
      </p:sp>
      <p:sp>
        <p:nvSpPr>
          <p:cNvPr id="13" name="card-105"/>
          <p:cNvSpPr/>
          <p:nvPr/>
        </p:nvSpPr>
        <p:spPr>
          <a:xfrm>
            <a:off x="8412480" y="1600200"/>
            <a:ext cx="3200400" cy="2286000"/>
          </a:xfrm>
          <a:prstGeom prst="roundRect">
            <a:avLst>
              <a:gd name="adj" fmla="val 3200"/>
            </a:avLst>
          </a:prstGeom>
          <a:solidFill>
            <a:schemeClr val="bg2"/>
          </a:solidFill>
          <a:ln/>
        </p:spPr>
      </p:sp>
      <p:sp>
        <p:nvSpPr>
          <p:cNvPr id="14" name="badge-106"/>
          <p:cNvSpPr/>
          <p:nvPr/>
        </p:nvSpPr>
        <p:spPr>
          <a:xfrm>
            <a:off x="8686800" y="1828800"/>
            <a:ext cx="594360" cy="594360"/>
          </a:xfrm>
          <a:prstGeom prst="ellipse">
            <a:avLst/>
          </a:prstGeom>
          <a:solidFill>
            <a:schemeClr val="accent1"/>
          </a:solidFill>
          <a:ln/>
        </p:spPr>
      </p:sp>
      <p:pic>
        <p:nvPicPr>
          <p:cNvPr id="15" name="icon-107" descr="preencoded.png">    </p:cNvPr>
          <p:cNvPicPr>
            <a:picLocks noChangeAspect="1"/>
          </p:cNvPicPr>
          <p:nvPr/>
        </p:nvPicPr>
        <p:blipFill>
          <a:blip r:embed="rId3"/>
          <a:stretch>
            <a:fillRect/>
          </a:stretch>
        </p:blipFill>
        <p:spPr>
          <a:xfrm>
            <a:off x="8817559" y="1959559"/>
            <a:ext cx="332842" cy="332842"/>
          </a:xfrm>
          <a:prstGeom prst="rect">
            <a:avLst/>
          </a:prstGeom>
        </p:spPr>
      </p:pic>
      <p:sp>
        <p:nvSpPr>
          <p:cNvPr id="16" name="text-108"/>
          <p:cNvSpPr txBox="1"/>
          <p:nvPr/>
        </p:nvSpPr>
        <p:spPr>
          <a:xfrm>
            <a:off x="9418320" y="1828800"/>
            <a:ext cx="2103120" cy="594360"/>
          </a:xfrm>
          <a:prstGeom prst="rect">
            <a:avLst/>
          </a:prstGeom>
          <a:noFill/>
          <a:ln/>
        </p:spPr>
        <p:txBody>
          <a:bodyPr wrap="square" lIns="0" tIns="0" rIns="0" bIns="0" rtlCol="0" anchor="ctr"/>
          <a:lstStyle/>
          <a:p>
            <a:pPr indent="0" marL="0">
              <a:buNone/>
            </a:pPr>
            <a:r>
              <a:rPr lang="en-US" sz="1800" b="1" dirty="0">
                <a:solidFill>
                  <a:schemeClr val="tx2"/>
                </a:solidFill>
              </a:rPr>
              <a:t>SAP Business Partner</a:t>
            </a:r>
            <a:endParaRPr lang="en-US" sz="1800" dirty="0"/>
          </a:p>
        </p:txBody>
      </p:sp>
      <p:sp>
        <p:nvSpPr>
          <p:cNvPr id="17" name="text-109"/>
          <p:cNvSpPr txBox="1"/>
          <p:nvPr/>
        </p:nvSpPr>
        <p:spPr>
          <a:xfrm>
            <a:off x="8686800" y="2606040"/>
            <a:ext cx="2743200" cy="1097280"/>
          </a:xfrm>
          <a:prstGeom prst="rect">
            <a:avLst/>
          </a:prstGeom>
          <a:noFill/>
          <a:ln/>
        </p:spPr>
        <p:txBody>
          <a:bodyPr wrap="square" lIns="0" tIns="0" rIns="0" bIns="0" rtlCol="0" anchor="t"/>
          <a:lstStyle/>
          <a:p>
            <a:pPr indent="0" marL="0">
              <a:buNone/>
            </a:pPr>
            <a:r>
              <a:rPr lang="en-US" sz="1400" dirty="0">
                <a:solidFill>
                  <a:schemeClr val="tx1"/>
                </a:solidFill>
              </a:rPr>
              <a:t>Customer or vendor, through SAP’s standard interface</a:t>
            </a:r>
            <a:endParaRPr lang="en-US" sz="1400" dirty="0"/>
          </a:p>
        </p:txBody>
      </p:sp>
      <p:sp>
        <p:nvSpPr>
          <p:cNvPr id="18" name="arr-110"/>
          <p:cNvSpPr/>
          <p:nvPr/>
        </p:nvSpPr>
        <p:spPr>
          <a:xfrm>
            <a:off x="3794760" y="2148840"/>
            <a:ext cx="640080" cy="365760"/>
          </a:xfrm>
          <a:prstGeom prst="leftArrow">
            <a:avLst/>
          </a:prstGeom>
          <a:solidFill>
            <a:schemeClr val="accent2"/>
          </a:solidFill>
          <a:ln/>
        </p:spPr>
      </p:sp>
      <p:sp>
        <p:nvSpPr>
          <p:cNvPr id="19" name="arr-111"/>
          <p:cNvSpPr/>
          <p:nvPr/>
        </p:nvSpPr>
        <p:spPr>
          <a:xfrm>
            <a:off x="3794760" y="2971800"/>
            <a:ext cx="640080" cy="365760"/>
          </a:xfrm>
          <a:prstGeom prst="rightArrow">
            <a:avLst/>
          </a:prstGeom>
          <a:solidFill>
            <a:schemeClr val="accent1"/>
          </a:solidFill>
          <a:ln/>
        </p:spPr>
      </p:sp>
      <p:sp>
        <p:nvSpPr>
          <p:cNvPr id="20" name="arr-112"/>
          <p:cNvSpPr/>
          <p:nvPr/>
        </p:nvSpPr>
        <p:spPr>
          <a:xfrm>
            <a:off x="7726680" y="2148840"/>
            <a:ext cx="640080" cy="365760"/>
          </a:xfrm>
          <a:prstGeom prst="leftArrow">
            <a:avLst/>
          </a:prstGeom>
          <a:solidFill>
            <a:schemeClr val="accent2"/>
          </a:solidFill>
          <a:ln/>
        </p:spPr>
      </p:sp>
      <p:sp>
        <p:nvSpPr>
          <p:cNvPr id="21" name="arr-113"/>
          <p:cNvSpPr/>
          <p:nvPr/>
        </p:nvSpPr>
        <p:spPr>
          <a:xfrm>
            <a:off x="7726680" y="2971800"/>
            <a:ext cx="640080" cy="365760"/>
          </a:xfrm>
          <a:prstGeom prst="rightArrow">
            <a:avLst/>
          </a:prstGeom>
          <a:solidFill>
            <a:schemeClr val="accent1"/>
          </a:solidFill>
          <a:ln/>
        </p:spPr>
      </p:sp>
      <p:sp>
        <p:nvSpPr>
          <p:cNvPr id="22" name="text-114"/>
          <p:cNvSpPr txBox="1"/>
          <p:nvPr/>
        </p:nvSpPr>
        <p:spPr>
          <a:xfrm>
            <a:off x="3749040" y="1828800"/>
            <a:ext cx="731520" cy="274320"/>
          </a:xfrm>
          <a:prstGeom prst="rect">
            <a:avLst/>
          </a:prstGeom>
          <a:noFill/>
          <a:ln/>
        </p:spPr>
        <p:txBody>
          <a:bodyPr wrap="square" lIns="0" tIns="0" rIns="0" bIns="0" rtlCol="0" anchor="t"/>
          <a:lstStyle/>
          <a:p>
            <a:pPr algn="ctr" indent="0" marL="0">
              <a:buNone/>
            </a:pPr>
            <a:r>
              <a:rPr lang="en-US" sz="1000" b="1" dirty="0">
                <a:solidFill>
                  <a:schemeClr val="accent2"/>
                </a:solidFill>
              </a:rPr>
              <a:t>Download</a:t>
            </a:r>
            <a:endParaRPr lang="en-US" sz="1000" dirty="0"/>
          </a:p>
        </p:txBody>
      </p:sp>
      <p:sp>
        <p:nvSpPr>
          <p:cNvPr id="23" name="text-115"/>
          <p:cNvSpPr txBox="1"/>
          <p:nvPr/>
        </p:nvSpPr>
        <p:spPr>
          <a:xfrm>
            <a:off x="3749040" y="3383280"/>
            <a:ext cx="731520" cy="274320"/>
          </a:xfrm>
          <a:prstGeom prst="rect">
            <a:avLst/>
          </a:prstGeom>
          <a:noFill/>
          <a:ln/>
        </p:spPr>
        <p:txBody>
          <a:bodyPr wrap="square" lIns="0" tIns="0" rIns="0" bIns="0" rtlCol="0" anchor="t"/>
          <a:lstStyle/>
          <a:p>
            <a:pPr algn="ctr" indent="0" marL="0">
              <a:buNone/>
            </a:pPr>
            <a:r>
              <a:rPr lang="en-US" sz="1000" b="1" dirty="0">
                <a:solidFill>
                  <a:schemeClr val="accent1"/>
                </a:solidFill>
              </a:rPr>
              <a:t>Upload</a:t>
            </a:r>
            <a:endParaRPr lang="en-US" sz="1000" dirty="0"/>
          </a:p>
        </p:txBody>
      </p:sp>
      <p:sp>
        <p:nvSpPr>
          <p:cNvPr id="24" name="text-116"/>
          <p:cNvSpPr txBox="1"/>
          <p:nvPr/>
        </p:nvSpPr>
        <p:spPr>
          <a:xfrm>
            <a:off x="7680960" y="1828800"/>
            <a:ext cx="731520" cy="274320"/>
          </a:xfrm>
          <a:prstGeom prst="rect">
            <a:avLst/>
          </a:prstGeom>
          <a:noFill/>
          <a:ln/>
        </p:spPr>
        <p:txBody>
          <a:bodyPr wrap="square" lIns="0" tIns="0" rIns="0" bIns="0" rtlCol="0" anchor="t"/>
          <a:lstStyle/>
          <a:p>
            <a:pPr algn="ctr" indent="0" marL="0">
              <a:buNone/>
            </a:pPr>
            <a:r>
              <a:rPr lang="en-US" sz="1000" b="1" dirty="0">
                <a:solidFill>
                  <a:schemeClr val="accent2"/>
                </a:solidFill>
              </a:rPr>
              <a:t>Download</a:t>
            </a:r>
            <a:endParaRPr lang="en-US" sz="1000" dirty="0"/>
          </a:p>
        </p:txBody>
      </p:sp>
      <p:sp>
        <p:nvSpPr>
          <p:cNvPr id="25" name="text-117"/>
          <p:cNvSpPr txBox="1"/>
          <p:nvPr/>
        </p:nvSpPr>
        <p:spPr>
          <a:xfrm>
            <a:off x="7680960" y="3383280"/>
            <a:ext cx="731520" cy="274320"/>
          </a:xfrm>
          <a:prstGeom prst="rect">
            <a:avLst/>
          </a:prstGeom>
          <a:noFill/>
          <a:ln/>
        </p:spPr>
        <p:txBody>
          <a:bodyPr wrap="square" lIns="0" tIns="0" rIns="0" bIns="0" rtlCol="0" anchor="t"/>
          <a:lstStyle/>
          <a:p>
            <a:pPr algn="ctr" indent="0" marL="0">
              <a:buNone/>
            </a:pPr>
            <a:r>
              <a:rPr lang="en-US" sz="1000" b="1" dirty="0">
                <a:solidFill>
                  <a:schemeClr val="accent1"/>
                </a:solidFill>
              </a:rPr>
              <a:t>Upload</a:t>
            </a:r>
            <a:endParaRPr lang="en-US" sz="1000" dirty="0"/>
          </a:p>
        </p:txBody>
      </p:sp>
      <p:sp>
        <p:nvSpPr>
          <p:cNvPr id="26" name="text-118"/>
          <p:cNvSpPr txBox="1"/>
          <p:nvPr/>
        </p:nvSpPr>
        <p:spPr>
          <a:xfrm>
            <a:off x="548640" y="4206240"/>
            <a:ext cx="110642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same column map writes the download and reads the upload, so a downloaded file always uploads back.</a:t>
            </a:r>
            <a:endParaRPr lang="en-US" sz="1500" dirty="0"/>
          </a:p>
          <a:p>
            <a:pPr marL="342900" indent="-342900">
              <a:spcAft>
                <a:spcPts val="800"/>
              </a:spcAft>
              <a:buSzPct val="100000"/>
              <a:buChar char="•"/>
            </a:pPr>
            <a:r>
              <a:rPr lang="en-US" sz="1500" dirty="0">
                <a:solidFill>
                  <a:schemeClr val="tx1"/>
                </a:solidFill>
              </a:rPr>
              <a:t>Columns are found by their headings: a moved or an extra column still loads into the right field.</a:t>
            </a:r>
            <a:endParaRPr lang="en-US" sz="1500" dirty="0"/>
          </a:p>
          <a:p>
            <a:pPr marL="342900" indent="-342900">
              <a:spcAft>
                <a:spcPts val="800"/>
              </a:spcAft>
              <a:buSzPct val="100000"/>
              <a:buChar char="•"/>
            </a:pPr>
            <a:r>
              <a:rPr lang="en-US" sz="1500" dirty="0">
                <a:solidFill>
                  <a:schemeClr val="tx1"/>
                </a:solidFill>
              </a:rPr>
              <a:t>Every posting uses SAP’s standard Business Partner interface - no screen recordings, no direct updates of SAP tables.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Customer program - selection screen</a:t>
            </a:r>
            <a:endParaRPr lang="en-US" sz="3200" dirty="0"/>
          </a:p>
        </p:txBody>
      </p:sp>
      <p:pic>
        <p:nvPicPr>
          <p:cNvPr id="3" name="img-119" descr="cust screen">    </p:cNvPr>
          <p:cNvPicPr>
            <a:picLocks noChangeAspect="1"/>
          </p:cNvPicPr>
          <p:nvPr/>
        </p:nvPicPr>
        <p:blipFill>
          <a:blip r:embed="rId1"/>
          <a:stretch>
            <a:fillRect/>
          </a:stretch>
        </p:blipFill>
        <p:spPr>
          <a:xfrm>
            <a:off x="548640" y="1325880"/>
            <a:ext cx="6035040" cy="4519574"/>
          </a:xfrm>
          <a:prstGeom prst="rect">
            <a:avLst/>
          </a:prstGeom>
        </p:spPr>
      </p:pic>
      <p:sp>
        <p:nvSpPr>
          <p:cNvPr id="4" name="frame-120"/>
          <p:cNvSpPr/>
          <p:nvPr/>
        </p:nvSpPr>
        <p:spPr>
          <a:xfrm>
            <a:off x="548640" y="1325880"/>
            <a:ext cx="6035040" cy="4519574"/>
          </a:xfrm>
          <a:prstGeom prst="rect">
            <a:avLst/>
          </a:prstGeom>
          <a:ln w="9525">
            <a:solidFill>
              <a:srgbClr val="C9D3DA"/>
            </a:solidFill>
            <a:prstDash val="solid"/>
          </a:ln>
        </p:spPr>
      </p:sp>
      <p:sp>
        <p:nvSpPr>
          <p:cNvPr id="5" name="text-121"/>
          <p:cNvSpPr txBox="1"/>
          <p:nvPr/>
        </p:nvSpPr>
        <p:spPr>
          <a:xfrm>
            <a:off x="548640" y="5918606"/>
            <a:ext cx="6035040" cy="274320"/>
          </a:xfrm>
          <a:prstGeom prst="rect">
            <a:avLst/>
          </a:prstGeom>
          <a:noFill/>
          <a:ln/>
        </p:spPr>
        <p:txBody>
          <a:bodyPr wrap="square" lIns="0" tIns="0" rIns="0" bIns="0" rtlCol="0" anchor="t"/>
          <a:lstStyle/>
          <a:p>
            <a:pPr indent="0" marL="0">
              <a:buNone/>
            </a:pPr>
            <a:r>
              <a:rPr lang="en-US" sz="1100" i="1" dirty="0">
                <a:solidFill>
                  <a:schemeClr val="accent5"/>
                </a:solidFill>
              </a:rPr>
              <a:t>Illustration of the selection screen</a:t>
            </a:r>
            <a:endParaRPr lang="en-US" sz="1100" dirty="0"/>
          </a:p>
        </p:txBody>
      </p:sp>
      <p:sp>
        <p:nvSpPr>
          <p:cNvPr id="6" name="num-122"/>
          <p:cNvSpPr/>
          <p:nvPr/>
        </p:nvSpPr>
        <p:spPr>
          <a:xfrm>
            <a:off x="6949440" y="1371600"/>
            <a:ext cx="384048" cy="384048"/>
          </a:xfrm>
          <a:prstGeom prst="ellipse">
            <a:avLst/>
          </a:prstGeom>
          <a:solidFill>
            <a:schemeClr val="accent1"/>
          </a:solidFill>
          <a:ln/>
        </p:spPr>
      </p:sp>
      <p:sp>
        <p:nvSpPr>
          <p:cNvPr id="7" name="numtxt-123"/>
          <p:cNvSpPr txBox="1"/>
          <p:nvPr/>
        </p:nvSpPr>
        <p:spPr>
          <a:xfrm>
            <a:off x="6949440"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124"/>
          <p:cNvSpPr txBox="1"/>
          <p:nvPr/>
        </p:nvSpPr>
        <p:spPr>
          <a:xfrm>
            <a:off x="7498080" y="1353312"/>
            <a:ext cx="4114800" cy="320040"/>
          </a:xfrm>
          <a:prstGeom prst="rect">
            <a:avLst/>
          </a:prstGeom>
          <a:noFill/>
          <a:ln/>
        </p:spPr>
        <p:txBody>
          <a:bodyPr wrap="square" lIns="0" tIns="0" rIns="0" bIns="0" rtlCol="0" anchor="t"/>
          <a:lstStyle/>
          <a:p>
            <a:pPr indent="0" marL="0">
              <a:buNone/>
            </a:pPr>
            <a:r>
              <a:rPr lang="en-US" sz="1500" b="1" dirty="0">
                <a:solidFill>
                  <a:schemeClr val="tx2"/>
                </a:solidFill>
              </a:rPr>
              <a:t>Download or upload</a:t>
            </a:r>
            <a:endParaRPr lang="en-US" sz="1500" dirty="0"/>
          </a:p>
        </p:txBody>
      </p:sp>
      <p:sp>
        <p:nvSpPr>
          <p:cNvPr id="9" name="text-125"/>
          <p:cNvSpPr txBox="1"/>
          <p:nvPr/>
        </p:nvSpPr>
        <p:spPr>
          <a:xfrm>
            <a:off x="7498080" y="1691640"/>
            <a:ext cx="4114800" cy="548640"/>
          </a:xfrm>
          <a:prstGeom prst="rect">
            <a:avLst/>
          </a:prstGeom>
          <a:noFill/>
          <a:ln/>
        </p:spPr>
        <p:txBody>
          <a:bodyPr wrap="square" lIns="0" tIns="0" rIns="0" bIns="0" rtlCol="0" anchor="t"/>
          <a:lstStyle/>
          <a:p>
            <a:pPr indent="0" marL="0">
              <a:buNone/>
            </a:pPr>
            <a:r>
              <a:rPr lang="en-US" sz="1300" dirty="0">
                <a:solidFill>
                  <a:schemeClr val="tx1"/>
                </a:solidFill>
              </a:rPr>
              <a:t>One program for both directions; fields that do not apply are greyed out.</a:t>
            </a:r>
            <a:endParaRPr lang="en-US" sz="1300" dirty="0"/>
          </a:p>
        </p:txBody>
      </p:sp>
      <p:sp>
        <p:nvSpPr>
          <p:cNvPr id="10" name="num-126"/>
          <p:cNvSpPr/>
          <p:nvPr/>
        </p:nvSpPr>
        <p:spPr>
          <a:xfrm>
            <a:off x="6949440" y="2286000"/>
            <a:ext cx="384048" cy="384048"/>
          </a:xfrm>
          <a:prstGeom prst="ellipse">
            <a:avLst/>
          </a:prstGeom>
          <a:solidFill>
            <a:schemeClr val="accent1"/>
          </a:solidFill>
          <a:ln/>
        </p:spPr>
      </p:sp>
      <p:sp>
        <p:nvSpPr>
          <p:cNvPr id="11" name="numtxt-127"/>
          <p:cNvSpPr txBox="1"/>
          <p:nvPr/>
        </p:nvSpPr>
        <p:spPr>
          <a:xfrm>
            <a:off x="6949440"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128"/>
          <p:cNvSpPr txBox="1"/>
          <p:nvPr/>
        </p:nvSpPr>
        <p:spPr>
          <a:xfrm>
            <a:off x="7498080" y="2267712"/>
            <a:ext cx="4114800" cy="320040"/>
          </a:xfrm>
          <a:prstGeom prst="rect">
            <a:avLst/>
          </a:prstGeom>
          <a:noFill/>
          <a:ln/>
        </p:spPr>
        <p:txBody>
          <a:bodyPr wrap="square" lIns="0" tIns="0" rIns="0" bIns="0" rtlCol="0" anchor="t"/>
          <a:lstStyle/>
          <a:p>
            <a:pPr indent="0" marL="0">
              <a:buNone/>
            </a:pPr>
            <a:r>
              <a:rPr lang="en-US" sz="1500" b="1" dirty="0">
                <a:solidFill>
                  <a:schemeClr val="tx2"/>
                </a:solidFill>
              </a:rPr>
              <a:t>Template</a:t>
            </a:r>
            <a:endParaRPr lang="en-US" sz="1500" dirty="0"/>
          </a:p>
        </p:txBody>
      </p:sp>
      <p:sp>
        <p:nvSpPr>
          <p:cNvPr id="13" name="text-129"/>
          <p:cNvSpPr txBox="1"/>
          <p:nvPr/>
        </p:nvSpPr>
        <p:spPr>
          <a:xfrm>
            <a:off x="7498080" y="2606040"/>
            <a:ext cx="4114800" cy="548640"/>
          </a:xfrm>
          <a:prstGeom prst="rect">
            <a:avLst/>
          </a:prstGeom>
          <a:noFill/>
          <a:ln/>
        </p:spPr>
        <p:txBody>
          <a:bodyPr wrap="square" lIns="0" tIns="0" rIns="0" bIns="0" rtlCol="0" anchor="t"/>
          <a:lstStyle/>
          <a:p>
            <a:pPr indent="0" marL="0">
              <a:buNone/>
            </a:pPr>
            <a:r>
              <a:rPr lang="en-US" sz="1300" dirty="0">
                <a:solidFill>
                  <a:schemeClr val="tx1"/>
                </a:solidFill>
              </a:rPr>
              <a:t>Create, extension or block / unblock.</a:t>
            </a:r>
            <a:endParaRPr lang="en-US" sz="1300" dirty="0"/>
          </a:p>
        </p:txBody>
      </p:sp>
      <p:sp>
        <p:nvSpPr>
          <p:cNvPr id="14" name="num-130"/>
          <p:cNvSpPr/>
          <p:nvPr/>
        </p:nvSpPr>
        <p:spPr>
          <a:xfrm>
            <a:off x="6949440" y="3200400"/>
            <a:ext cx="384048" cy="384048"/>
          </a:xfrm>
          <a:prstGeom prst="ellipse">
            <a:avLst/>
          </a:prstGeom>
          <a:solidFill>
            <a:schemeClr val="accent1"/>
          </a:solidFill>
          <a:ln/>
        </p:spPr>
      </p:sp>
      <p:sp>
        <p:nvSpPr>
          <p:cNvPr id="15" name="numtxt-131"/>
          <p:cNvSpPr txBox="1"/>
          <p:nvPr/>
        </p:nvSpPr>
        <p:spPr>
          <a:xfrm>
            <a:off x="6949440" y="3200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132"/>
          <p:cNvSpPr txBox="1"/>
          <p:nvPr/>
        </p:nvSpPr>
        <p:spPr>
          <a:xfrm>
            <a:off x="7498080" y="3182112"/>
            <a:ext cx="4114800" cy="320040"/>
          </a:xfrm>
          <a:prstGeom prst="rect">
            <a:avLst/>
          </a:prstGeom>
          <a:noFill/>
          <a:ln/>
        </p:spPr>
        <p:txBody>
          <a:bodyPr wrap="square" lIns="0" tIns="0" rIns="0" bIns="0" rtlCol="0" anchor="t"/>
          <a:lstStyle/>
          <a:p>
            <a:pPr indent="0" marL="0">
              <a:buNone/>
            </a:pPr>
            <a:r>
              <a:rPr lang="en-US" sz="1500" b="1" dirty="0">
                <a:solidFill>
                  <a:schemeClr val="tx2"/>
                </a:solidFill>
              </a:rPr>
              <a:t>Country / region and account group</a:t>
            </a:r>
            <a:endParaRPr lang="en-US" sz="1500" dirty="0"/>
          </a:p>
        </p:txBody>
      </p:sp>
      <p:sp>
        <p:nvSpPr>
          <p:cNvPr id="17" name="text-133"/>
          <p:cNvSpPr txBox="1"/>
          <p:nvPr/>
        </p:nvSpPr>
        <p:spPr>
          <a:xfrm>
            <a:off x="7498080" y="3520440"/>
            <a:ext cx="4114800" cy="548640"/>
          </a:xfrm>
          <a:prstGeom prst="rect">
            <a:avLst/>
          </a:prstGeom>
          <a:noFill/>
          <a:ln/>
        </p:spPr>
        <p:txBody>
          <a:bodyPr wrap="square" lIns="0" tIns="0" rIns="0" bIns="0" rtlCol="0" anchor="t"/>
          <a:lstStyle/>
          <a:p>
            <a:pPr indent="0" marL="0">
              <a:buNone/>
            </a:pPr>
            <a:r>
              <a:rPr lang="en-US" sz="1300" dirty="0">
                <a:solidFill>
                  <a:schemeClr val="tx1"/>
                </a:solidFill>
              </a:rPr>
              <a:t>Picked from lists - the program finds the right layout from the pair.</a:t>
            </a:r>
            <a:endParaRPr lang="en-US" sz="1300" dirty="0"/>
          </a:p>
        </p:txBody>
      </p:sp>
      <p:sp>
        <p:nvSpPr>
          <p:cNvPr id="18" name="num-134"/>
          <p:cNvSpPr/>
          <p:nvPr/>
        </p:nvSpPr>
        <p:spPr>
          <a:xfrm>
            <a:off x="6949440" y="4114800"/>
            <a:ext cx="384048" cy="384048"/>
          </a:xfrm>
          <a:prstGeom prst="ellipse">
            <a:avLst/>
          </a:prstGeom>
          <a:solidFill>
            <a:schemeClr val="accent1"/>
          </a:solidFill>
          <a:ln/>
        </p:spPr>
      </p:sp>
      <p:sp>
        <p:nvSpPr>
          <p:cNvPr id="19" name="numtxt-135"/>
          <p:cNvSpPr txBox="1"/>
          <p:nvPr/>
        </p:nvSpPr>
        <p:spPr>
          <a:xfrm>
            <a:off x="6949440" y="4114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136"/>
          <p:cNvSpPr txBox="1"/>
          <p:nvPr/>
        </p:nvSpPr>
        <p:spPr>
          <a:xfrm>
            <a:off x="7498080" y="4096512"/>
            <a:ext cx="4114800" cy="320040"/>
          </a:xfrm>
          <a:prstGeom prst="rect">
            <a:avLst/>
          </a:prstGeom>
          <a:noFill/>
          <a:ln/>
        </p:spPr>
        <p:txBody>
          <a:bodyPr wrap="square" lIns="0" tIns="0" rIns="0" bIns="0" rtlCol="0" anchor="t"/>
          <a:lstStyle/>
          <a:p>
            <a:pPr indent="0" marL="0">
              <a:buNone/>
            </a:pPr>
            <a:r>
              <a:rPr lang="en-US" sz="1500" b="1" dirty="0">
                <a:solidFill>
                  <a:schemeClr val="tx2"/>
                </a:solidFill>
              </a:rPr>
              <a:t>Which customers</a:t>
            </a:r>
            <a:endParaRPr lang="en-US" sz="1500" dirty="0"/>
          </a:p>
        </p:txBody>
      </p:sp>
      <p:sp>
        <p:nvSpPr>
          <p:cNvPr id="21" name="text-137"/>
          <p:cNvSpPr txBox="1"/>
          <p:nvPr/>
        </p:nvSpPr>
        <p:spPr>
          <a:xfrm>
            <a:off x="7498080" y="4434840"/>
            <a:ext cx="4114800" cy="548640"/>
          </a:xfrm>
          <a:prstGeom prst="rect">
            <a:avLst/>
          </a:prstGeom>
          <a:noFill/>
          <a:ln/>
        </p:spPr>
        <p:txBody>
          <a:bodyPr wrap="square" lIns="0" tIns="0" rIns="0" bIns="0" rtlCol="0" anchor="t"/>
          <a:lstStyle/>
          <a:p>
            <a:pPr indent="0" marL="0">
              <a:buNone/>
            </a:pPr>
            <a:r>
              <a:rPr lang="en-US" sz="1300" dirty="0">
                <a:solidFill>
                  <a:schemeClr val="tx1"/>
                </a:solidFill>
              </a:rPr>
              <a:t>Existing customers to download, or upload options: test run, stop at the first error.</a:t>
            </a:r>
            <a:endParaRPr lang="en-US" sz="1300" dirty="0"/>
          </a:p>
        </p:txBody>
      </p:sp>
      <p:sp>
        <p:nvSpPr>
          <p:cNvPr id="22" name="num-138"/>
          <p:cNvSpPr/>
          <p:nvPr/>
        </p:nvSpPr>
        <p:spPr>
          <a:xfrm>
            <a:off x="6949440" y="5029200"/>
            <a:ext cx="384048" cy="384048"/>
          </a:xfrm>
          <a:prstGeom prst="ellipse">
            <a:avLst/>
          </a:prstGeom>
          <a:solidFill>
            <a:schemeClr val="accent1"/>
          </a:solidFill>
          <a:ln/>
        </p:spPr>
      </p:sp>
      <p:sp>
        <p:nvSpPr>
          <p:cNvPr id="23" name="numtxt-139"/>
          <p:cNvSpPr txBox="1"/>
          <p:nvPr/>
        </p:nvSpPr>
        <p:spPr>
          <a:xfrm>
            <a:off x="6949440" y="50292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4" name="text-140"/>
          <p:cNvSpPr txBox="1"/>
          <p:nvPr/>
        </p:nvSpPr>
        <p:spPr>
          <a:xfrm>
            <a:off x="7498080" y="5010912"/>
            <a:ext cx="4114800" cy="320040"/>
          </a:xfrm>
          <a:prstGeom prst="rect">
            <a:avLst/>
          </a:prstGeom>
          <a:noFill/>
          <a:ln/>
        </p:spPr>
        <p:txBody>
          <a:bodyPr wrap="square" lIns="0" tIns="0" rIns="0" bIns="0" rtlCol="0" anchor="t"/>
          <a:lstStyle/>
          <a:p>
            <a:pPr indent="0" marL="0">
              <a:buNone/>
            </a:pPr>
            <a:r>
              <a:rPr lang="en-US" sz="1500" b="1" dirty="0">
                <a:solidFill>
                  <a:schemeClr val="tx2"/>
                </a:solidFill>
              </a:rPr>
              <a:t>File</a:t>
            </a:r>
            <a:endParaRPr lang="en-US" sz="1500" dirty="0"/>
          </a:p>
        </p:txBody>
      </p:sp>
      <p:sp>
        <p:nvSpPr>
          <p:cNvPr id="25" name="text-141"/>
          <p:cNvSpPr txBox="1"/>
          <p:nvPr/>
        </p:nvSpPr>
        <p:spPr>
          <a:xfrm>
            <a:off x="7498080" y="5349240"/>
            <a:ext cx="4114800" cy="548640"/>
          </a:xfrm>
          <a:prstGeom prst="rect">
            <a:avLst/>
          </a:prstGeom>
          <a:noFill/>
          <a:ln/>
        </p:spPr>
        <p:txBody>
          <a:bodyPr wrap="square" lIns="0" tIns="0" rIns="0" bIns="0" rtlCol="0" anchor="t"/>
          <a:lstStyle/>
          <a:p>
            <a:pPr indent="0" marL="0">
              <a:buNone/>
            </a:pPr>
            <a:r>
              <a:rPr lang="en-US" sz="1300" dirty="0">
                <a:solidFill>
                  <a:schemeClr val="tx1"/>
                </a:solidFill>
              </a:rPr>
              <a:t>On the PC or the application server; a name is proposed for a download.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Customer Excel format</a:t>
            </a:r>
            <a:endParaRPr lang="en-US" sz="3200" dirty="0"/>
          </a:p>
        </p:txBody>
      </p:sp>
      <p:pic>
        <p:nvPicPr>
          <p:cNvPr id="3" name="img-142" descr="cust excel">    </p:cNvPr>
          <p:cNvPicPr>
            <a:picLocks noChangeAspect="1"/>
          </p:cNvPicPr>
          <p:nvPr/>
        </p:nvPicPr>
        <p:blipFill>
          <a:blip r:embed="rId1"/>
          <a:stretch>
            <a:fillRect/>
          </a:stretch>
        </p:blipFill>
        <p:spPr>
          <a:xfrm>
            <a:off x="548640" y="1371600"/>
            <a:ext cx="11064240" cy="1384284"/>
          </a:xfrm>
          <a:prstGeom prst="rect">
            <a:avLst/>
          </a:prstGeom>
        </p:spPr>
      </p:pic>
      <p:sp>
        <p:nvSpPr>
          <p:cNvPr id="4" name="frame-143"/>
          <p:cNvSpPr/>
          <p:nvPr/>
        </p:nvSpPr>
        <p:spPr>
          <a:xfrm>
            <a:off x="548640" y="1371600"/>
            <a:ext cx="11064240" cy="1384284"/>
          </a:xfrm>
          <a:prstGeom prst="rect">
            <a:avLst/>
          </a:prstGeom>
          <a:ln w="9525">
            <a:solidFill>
              <a:srgbClr val="C9D3DA"/>
            </a:solidFill>
            <a:prstDash val="solid"/>
          </a:ln>
        </p:spPr>
      </p:sp>
      <p:sp>
        <p:nvSpPr>
          <p:cNvPr id="5" name="text-144"/>
          <p:cNvSpPr txBox="1"/>
          <p:nvPr/>
        </p:nvSpPr>
        <p:spPr>
          <a:xfrm>
            <a:off x="548640" y="2829036"/>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Illustration - a create template, selected columns; sample values are invented</a:t>
            </a:r>
            <a:endParaRPr lang="en-US" sz="1100" dirty="0"/>
          </a:p>
        </p:txBody>
      </p:sp>
      <p:sp>
        <p:nvSpPr>
          <p:cNvPr id="6" name="card-145"/>
          <p:cNvSpPr/>
          <p:nvPr/>
        </p:nvSpPr>
        <p:spPr>
          <a:xfrm>
            <a:off x="548640" y="3520440"/>
            <a:ext cx="3520440" cy="2011680"/>
          </a:xfrm>
          <a:prstGeom prst="roundRect">
            <a:avLst>
              <a:gd name="adj" fmla="val 3636"/>
            </a:avLst>
          </a:prstGeom>
          <a:solidFill>
            <a:schemeClr val="bg2"/>
          </a:solidFill>
          <a:ln/>
        </p:spPr>
      </p:sp>
      <p:sp>
        <p:nvSpPr>
          <p:cNvPr id="7" name="badge-146"/>
          <p:cNvSpPr/>
          <p:nvPr/>
        </p:nvSpPr>
        <p:spPr>
          <a:xfrm>
            <a:off x="822960" y="3794760"/>
            <a:ext cx="548640" cy="548640"/>
          </a:xfrm>
          <a:prstGeom prst="ellipse">
            <a:avLst/>
          </a:prstGeom>
          <a:solidFill>
            <a:schemeClr val="accent1"/>
          </a:solidFill>
          <a:ln/>
        </p:spPr>
      </p:sp>
      <p:pic>
        <p:nvPicPr>
          <p:cNvPr id="8" name="icon-147" descr="preencoded.png">    </p:cNvPr>
          <p:cNvPicPr>
            <a:picLocks noChangeAspect="1"/>
          </p:cNvPicPr>
          <p:nvPr/>
        </p:nvPicPr>
        <p:blipFill>
          <a:blip r:embed="rId2"/>
          <a:stretch>
            <a:fillRect/>
          </a:stretch>
        </p:blipFill>
        <p:spPr>
          <a:xfrm>
            <a:off x="943661" y="3915461"/>
            <a:ext cx="307238" cy="307238"/>
          </a:xfrm>
          <a:prstGeom prst="rect">
            <a:avLst/>
          </a:prstGeom>
        </p:spPr>
      </p:pic>
      <p:sp>
        <p:nvSpPr>
          <p:cNvPr id="9" name="text-148"/>
          <p:cNvSpPr txBox="1"/>
          <p:nvPr/>
        </p:nvSpPr>
        <p:spPr>
          <a:xfrm>
            <a:off x="1554480" y="38130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The client’s own headings</a:t>
            </a:r>
            <a:endParaRPr lang="en-US" sz="1600" dirty="0"/>
          </a:p>
        </p:txBody>
      </p:sp>
      <p:sp>
        <p:nvSpPr>
          <p:cNvPr id="10" name="text-149"/>
          <p:cNvSpPr txBox="1"/>
          <p:nvPr/>
        </p:nvSpPr>
        <p:spPr>
          <a:xfrm>
            <a:off x="822960" y="4480560"/>
            <a:ext cx="3017520" cy="914400"/>
          </a:xfrm>
          <a:prstGeom prst="rect">
            <a:avLst/>
          </a:prstGeom>
          <a:noFill/>
          <a:ln/>
        </p:spPr>
        <p:txBody>
          <a:bodyPr wrap="square" lIns="0" tIns="0" rIns="0" bIns="0" rtlCol="0" anchor="t"/>
          <a:lstStyle/>
          <a:p>
            <a:pPr indent="0" marL="0">
              <a:buNone/>
            </a:pPr>
            <a:r>
              <a:rPr lang="en-US" sz="1400" dirty="0">
                <a:solidFill>
                  <a:schemeClr val="tx1"/>
                </a:solidFill>
              </a:rPr>
              <a:t>Each of the 24 layouts keeps its columns and wording - up to 136 columns.</a:t>
            </a:r>
            <a:endParaRPr lang="en-US" sz="1400" dirty="0"/>
          </a:p>
        </p:txBody>
      </p:sp>
      <p:sp>
        <p:nvSpPr>
          <p:cNvPr id="11" name="card-150"/>
          <p:cNvSpPr/>
          <p:nvPr/>
        </p:nvSpPr>
        <p:spPr>
          <a:xfrm>
            <a:off x="4297680" y="3520440"/>
            <a:ext cx="3520440" cy="2011680"/>
          </a:xfrm>
          <a:prstGeom prst="roundRect">
            <a:avLst>
              <a:gd name="adj" fmla="val 3636"/>
            </a:avLst>
          </a:prstGeom>
          <a:solidFill>
            <a:schemeClr val="bg2"/>
          </a:solidFill>
          <a:ln/>
        </p:spPr>
      </p:sp>
      <p:sp>
        <p:nvSpPr>
          <p:cNvPr id="12" name="badge-151"/>
          <p:cNvSpPr/>
          <p:nvPr/>
        </p:nvSpPr>
        <p:spPr>
          <a:xfrm>
            <a:off x="4572000" y="3794760"/>
            <a:ext cx="548640" cy="548640"/>
          </a:xfrm>
          <a:prstGeom prst="ellipse">
            <a:avLst/>
          </a:prstGeom>
          <a:solidFill>
            <a:schemeClr val="accent1"/>
          </a:solidFill>
          <a:ln/>
        </p:spPr>
      </p:sp>
      <p:pic>
        <p:nvPicPr>
          <p:cNvPr id="13" name="icon-152" descr="preencoded.png">    </p:cNvPr>
          <p:cNvPicPr>
            <a:picLocks noChangeAspect="1"/>
          </p:cNvPicPr>
          <p:nvPr/>
        </p:nvPicPr>
        <p:blipFill>
          <a:blip r:embed="rId3"/>
          <a:stretch>
            <a:fillRect/>
          </a:stretch>
        </p:blipFill>
        <p:spPr>
          <a:xfrm>
            <a:off x="4692701" y="3915461"/>
            <a:ext cx="307238" cy="307238"/>
          </a:xfrm>
          <a:prstGeom prst="rect">
            <a:avLst/>
          </a:prstGeom>
        </p:spPr>
      </p:pic>
      <p:sp>
        <p:nvSpPr>
          <p:cNvPr id="14" name="text-153"/>
          <p:cNvSpPr txBox="1"/>
          <p:nvPr/>
        </p:nvSpPr>
        <p:spPr>
          <a:xfrm>
            <a:off x="5303520" y="38130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Named after the selection</a:t>
            </a:r>
            <a:endParaRPr lang="en-US" sz="1600" dirty="0"/>
          </a:p>
        </p:txBody>
      </p:sp>
      <p:sp>
        <p:nvSpPr>
          <p:cNvPr id="15" name="text-154"/>
          <p:cNvSpPr txBox="1"/>
          <p:nvPr/>
        </p:nvSpPr>
        <p:spPr>
          <a:xfrm>
            <a:off x="4572000" y="4480560"/>
            <a:ext cx="3017520" cy="914400"/>
          </a:xfrm>
          <a:prstGeom prst="rect">
            <a:avLst/>
          </a:prstGeom>
          <a:noFill/>
          <a:ln/>
        </p:spPr>
        <p:txBody>
          <a:bodyPr wrap="square" lIns="0" tIns="0" rIns="0" bIns="0" rtlCol="0" anchor="t"/>
          <a:lstStyle/>
          <a:p>
            <a:pPr indent="0" marL="0">
              <a:buNone/>
            </a:pPr>
            <a:r>
              <a:rPr lang="en-US" sz="1400" dirty="0">
                <a:solidFill>
                  <a:schemeClr val="tx1"/>
                </a:solidFill>
              </a:rPr>
              <a:t>The tab is named after the region and account group, for example IN_ZDOM.</a:t>
            </a:r>
            <a:endParaRPr lang="en-US" sz="1400" dirty="0"/>
          </a:p>
        </p:txBody>
      </p:sp>
      <p:sp>
        <p:nvSpPr>
          <p:cNvPr id="16" name="card-155"/>
          <p:cNvSpPr/>
          <p:nvPr/>
        </p:nvSpPr>
        <p:spPr>
          <a:xfrm>
            <a:off x="8046720" y="3520440"/>
            <a:ext cx="3520440" cy="2011680"/>
          </a:xfrm>
          <a:prstGeom prst="roundRect">
            <a:avLst>
              <a:gd name="adj" fmla="val 3636"/>
            </a:avLst>
          </a:prstGeom>
          <a:solidFill>
            <a:schemeClr val="bg2"/>
          </a:solidFill>
          <a:ln/>
        </p:spPr>
      </p:sp>
      <p:sp>
        <p:nvSpPr>
          <p:cNvPr id="17" name="badge-156"/>
          <p:cNvSpPr/>
          <p:nvPr/>
        </p:nvSpPr>
        <p:spPr>
          <a:xfrm>
            <a:off x="8321040" y="3794760"/>
            <a:ext cx="548640" cy="548640"/>
          </a:xfrm>
          <a:prstGeom prst="ellipse">
            <a:avLst/>
          </a:prstGeom>
          <a:solidFill>
            <a:schemeClr val="accent1"/>
          </a:solidFill>
          <a:ln/>
        </p:spPr>
      </p:sp>
      <p:pic>
        <p:nvPicPr>
          <p:cNvPr id="18" name="icon-157" descr="preencoded.png">    </p:cNvPr>
          <p:cNvPicPr>
            <a:picLocks noChangeAspect="1"/>
          </p:cNvPicPr>
          <p:nvPr/>
        </p:nvPicPr>
        <p:blipFill>
          <a:blip r:embed="rId4"/>
          <a:stretch>
            <a:fillRect/>
          </a:stretch>
        </p:blipFill>
        <p:spPr>
          <a:xfrm>
            <a:off x="8441741" y="3915461"/>
            <a:ext cx="307238" cy="307238"/>
          </a:xfrm>
          <a:prstGeom prst="rect">
            <a:avLst/>
          </a:prstGeom>
        </p:spPr>
      </p:pic>
      <p:sp>
        <p:nvSpPr>
          <p:cNvPr id="19" name="text-158"/>
          <p:cNvSpPr txBox="1"/>
          <p:nvPr/>
        </p:nvSpPr>
        <p:spPr>
          <a:xfrm>
            <a:off x="9052560" y="38130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Create or change</a:t>
            </a:r>
            <a:endParaRPr lang="en-US" sz="1600" dirty="0"/>
          </a:p>
        </p:txBody>
      </p:sp>
      <p:sp>
        <p:nvSpPr>
          <p:cNvPr id="20" name="text-159"/>
          <p:cNvSpPr txBox="1"/>
          <p:nvPr/>
        </p:nvSpPr>
        <p:spPr>
          <a:xfrm>
            <a:off x="8321040" y="4480560"/>
            <a:ext cx="3017520" cy="914400"/>
          </a:xfrm>
          <a:prstGeom prst="rect">
            <a:avLst/>
          </a:prstGeom>
          <a:noFill/>
          <a:ln/>
        </p:spPr>
        <p:txBody>
          <a:bodyPr wrap="square" lIns="0" tIns="0" rIns="0" bIns="0" rtlCol="0" anchor="t"/>
          <a:lstStyle/>
          <a:p>
            <a:pPr indent="0" marL="0">
              <a:buNone/>
            </a:pPr>
            <a:r>
              <a:rPr lang="en-US" sz="1400" dirty="0">
                <a:solidFill>
                  <a:schemeClr val="tx1"/>
                </a:solidFill>
              </a:rPr>
              <a:t>An empty customer code creates a new customer; a filled one changes that customer.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Vendor program - selection screen</a:t>
            </a:r>
            <a:endParaRPr lang="en-US" sz="3200" dirty="0"/>
          </a:p>
        </p:txBody>
      </p:sp>
      <p:pic>
        <p:nvPicPr>
          <p:cNvPr id="3" name="img-160" descr="vend screen">    </p:cNvPr>
          <p:cNvPicPr>
            <a:picLocks noChangeAspect="1"/>
          </p:cNvPicPr>
          <p:nvPr/>
        </p:nvPicPr>
        <p:blipFill>
          <a:blip r:embed="rId1"/>
          <a:stretch>
            <a:fillRect/>
          </a:stretch>
        </p:blipFill>
        <p:spPr>
          <a:xfrm>
            <a:off x="548640" y="1325880"/>
            <a:ext cx="5806440" cy="4541926"/>
          </a:xfrm>
          <a:prstGeom prst="rect">
            <a:avLst/>
          </a:prstGeom>
        </p:spPr>
      </p:pic>
      <p:sp>
        <p:nvSpPr>
          <p:cNvPr id="4" name="frame-161"/>
          <p:cNvSpPr/>
          <p:nvPr/>
        </p:nvSpPr>
        <p:spPr>
          <a:xfrm>
            <a:off x="548640" y="1325880"/>
            <a:ext cx="5806440" cy="4541926"/>
          </a:xfrm>
          <a:prstGeom prst="rect">
            <a:avLst/>
          </a:prstGeom>
          <a:ln w="9525">
            <a:solidFill>
              <a:srgbClr val="C9D3DA"/>
            </a:solidFill>
            <a:prstDash val="solid"/>
          </a:ln>
        </p:spPr>
      </p:sp>
      <p:sp>
        <p:nvSpPr>
          <p:cNvPr id="5" name="text-162"/>
          <p:cNvSpPr txBox="1"/>
          <p:nvPr/>
        </p:nvSpPr>
        <p:spPr>
          <a:xfrm>
            <a:off x="548640" y="5940958"/>
            <a:ext cx="5806440" cy="274320"/>
          </a:xfrm>
          <a:prstGeom prst="rect">
            <a:avLst/>
          </a:prstGeom>
          <a:noFill/>
          <a:ln/>
        </p:spPr>
        <p:txBody>
          <a:bodyPr wrap="square" lIns="0" tIns="0" rIns="0" bIns="0" rtlCol="0" anchor="t"/>
          <a:lstStyle/>
          <a:p>
            <a:pPr indent="0" marL="0">
              <a:buNone/>
            </a:pPr>
            <a:r>
              <a:rPr lang="en-US" sz="1100" i="1" dirty="0">
                <a:solidFill>
                  <a:schemeClr val="accent5"/>
                </a:solidFill>
              </a:rPr>
              <a:t>Illustration of the selection screen</a:t>
            </a:r>
            <a:endParaRPr lang="en-US" sz="1100" dirty="0"/>
          </a:p>
        </p:txBody>
      </p:sp>
      <p:sp>
        <p:nvSpPr>
          <p:cNvPr id="6" name="num-163"/>
          <p:cNvSpPr/>
          <p:nvPr/>
        </p:nvSpPr>
        <p:spPr>
          <a:xfrm>
            <a:off x="6766560" y="1463040"/>
            <a:ext cx="384048" cy="384048"/>
          </a:xfrm>
          <a:prstGeom prst="ellipse">
            <a:avLst/>
          </a:prstGeom>
          <a:solidFill>
            <a:schemeClr val="accent1"/>
          </a:solidFill>
          <a:ln/>
        </p:spPr>
      </p:sp>
      <p:sp>
        <p:nvSpPr>
          <p:cNvPr id="7" name="numtxt-164"/>
          <p:cNvSpPr txBox="1"/>
          <p:nvPr/>
        </p:nvSpPr>
        <p:spPr>
          <a:xfrm>
            <a:off x="676656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165"/>
          <p:cNvSpPr txBox="1"/>
          <p:nvPr/>
        </p:nvSpPr>
        <p:spPr>
          <a:xfrm>
            <a:off x="7315200" y="1444752"/>
            <a:ext cx="4297680" cy="320040"/>
          </a:xfrm>
          <a:prstGeom prst="rect">
            <a:avLst/>
          </a:prstGeom>
          <a:noFill/>
          <a:ln/>
        </p:spPr>
        <p:txBody>
          <a:bodyPr wrap="square" lIns="0" tIns="0" rIns="0" bIns="0" rtlCol="0" anchor="t"/>
          <a:lstStyle/>
          <a:p>
            <a:pPr indent="0" marL="0">
              <a:buNone/>
            </a:pPr>
            <a:r>
              <a:rPr lang="en-US" sz="1500" b="1" dirty="0">
                <a:solidFill>
                  <a:schemeClr val="tx2"/>
                </a:solidFill>
              </a:rPr>
              <a:t>Download or upload</a:t>
            </a:r>
            <a:endParaRPr lang="en-US" sz="1500" dirty="0"/>
          </a:p>
        </p:txBody>
      </p:sp>
      <p:sp>
        <p:nvSpPr>
          <p:cNvPr id="9" name="text-166"/>
          <p:cNvSpPr txBox="1"/>
          <p:nvPr/>
        </p:nvSpPr>
        <p:spPr>
          <a:xfrm>
            <a:off x="7315200" y="1783080"/>
            <a:ext cx="4297680" cy="640080"/>
          </a:xfrm>
          <a:prstGeom prst="rect">
            <a:avLst/>
          </a:prstGeom>
          <a:noFill/>
          <a:ln/>
        </p:spPr>
        <p:txBody>
          <a:bodyPr wrap="square" lIns="0" tIns="0" rIns="0" bIns="0" rtlCol="0" anchor="t"/>
          <a:lstStyle/>
          <a:p>
            <a:pPr indent="0" marL="0">
              <a:buNone/>
            </a:pPr>
            <a:r>
              <a:rPr lang="en-US" sz="1300" dirty="0">
                <a:solidFill>
                  <a:schemeClr val="tx1"/>
                </a:solidFill>
              </a:rPr>
              <a:t>The same program writes a tab from existing vendors or posts a filled one.</a:t>
            </a:r>
            <a:endParaRPr lang="en-US" sz="1300" dirty="0"/>
          </a:p>
        </p:txBody>
      </p:sp>
      <p:sp>
        <p:nvSpPr>
          <p:cNvPr id="10" name="num-167"/>
          <p:cNvSpPr/>
          <p:nvPr/>
        </p:nvSpPr>
        <p:spPr>
          <a:xfrm>
            <a:off x="6766560" y="2560320"/>
            <a:ext cx="384048" cy="384048"/>
          </a:xfrm>
          <a:prstGeom prst="ellipse">
            <a:avLst/>
          </a:prstGeom>
          <a:solidFill>
            <a:schemeClr val="accent1"/>
          </a:solidFill>
          <a:ln/>
        </p:spPr>
      </p:sp>
      <p:sp>
        <p:nvSpPr>
          <p:cNvPr id="11" name="numtxt-168"/>
          <p:cNvSpPr txBox="1"/>
          <p:nvPr/>
        </p:nvSpPr>
        <p:spPr>
          <a:xfrm>
            <a:off x="6766560" y="2560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169"/>
          <p:cNvSpPr txBox="1"/>
          <p:nvPr/>
        </p:nvSpPr>
        <p:spPr>
          <a:xfrm>
            <a:off x="7315200" y="2542032"/>
            <a:ext cx="4297680" cy="320040"/>
          </a:xfrm>
          <a:prstGeom prst="rect">
            <a:avLst/>
          </a:prstGeom>
          <a:noFill/>
          <a:ln/>
        </p:spPr>
        <p:txBody>
          <a:bodyPr wrap="square" lIns="0" tIns="0" rIns="0" bIns="0" rtlCol="0" anchor="t"/>
          <a:lstStyle/>
          <a:p>
            <a:pPr indent="0" marL="0">
              <a:buNone/>
            </a:pPr>
            <a:r>
              <a:rPr lang="en-US" sz="1500" b="1" dirty="0">
                <a:solidFill>
                  <a:schemeClr val="tx2"/>
                </a:solidFill>
              </a:rPr>
              <a:t>Scenario</a:t>
            </a:r>
            <a:endParaRPr lang="en-US" sz="1500" dirty="0"/>
          </a:p>
        </p:txBody>
      </p:sp>
      <p:sp>
        <p:nvSpPr>
          <p:cNvPr id="13" name="text-170"/>
          <p:cNvSpPr txBox="1"/>
          <p:nvPr/>
        </p:nvSpPr>
        <p:spPr>
          <a:xfrm>
            <a:off x="7315200" y="2880360"/>
            <a:ext cx="4297680" cy="640080"/>
          </a:xfrm>
          <a:prstGeom prst="rect">
            <a:avLst/>
          </a:prstGeom>
          <a:noFill/>
          <a:ln/>
        </p:spPr>
        <p:txBody>
          <a:bodyPr wrap="square" lIns="0" tIns="0" rIns="0" bIns="0" rtlCol="0" anchor="t"/>
          <a:lstStyle/>
          <a:p>
            <a:pPr indent="0" marL="0">
              <a:buNone/>
            </a:pPr>
            <a:r>
              <a:rPr lang="en-US" sz="1300" dirty="0">
                <a:solidFill>
                  <a:schemeClr val="tx1"/>
                </a:solidFill>
              </a:rPr>
              <a:t>Nine scenarios, one per tab of the vendor workbook.</a:t>
            </a:r>
            <a:endParaRPr lang="en-US" sz="1300" dirty="0"/>
          </a:p>
        </p:txBody>
      </p:sp>
      <p:sp>
        <p:nvSpPr>
          <p:cNvPr id="14" name="num-171"/>
          <p:cNvSpPr/>
          <p:nvPr/>
        </p:nvSpPr>
        <p:spPr>
          <a:xfrm>
            <a:off x="6766560" y="3657600"/>
            <a:ext cx="384048" cy="384048"/>
          </a:xfrm>
          <a:prstGeom prst="ellipse">
            <a:avLst/>
          </a:prstGeom>
          <a:solidFill>
            <a:schemeClr val="accent1"/>
          </a:solidFill>
          <a:ln/>
        </p:spPr>
      </p:sp>
      <p:sp>
        <p:nvSpPr>
          <p:cNvPr id="15" name="numtxt-172"/>
          <p:cNvSpPr txBox="1"/>
          <p:nvPr/>
        </p:nvSpPr>
        <p:spPr>
          <a:xfrm>
            <a:off x="6766560" y="3657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173"/>
          <p:cNvSpPr txBox="1"/>
          <p:nvPr/>
        </p:nvSpPr>
        <p:spPr>
          <a:xfrm>
            <a:off x="7315200" y="3639312"/>
            <a:ext cx="4297680" cy="320040"/>
          </a:xfrm>
          <a:prstGeom prst="rect">
            <a:avLst/>
          </a:prstGeom>
          <a:noFill/>
          <a:ln/>
        </p:spPr>
        <p:txBody>
          <a:bodyPr wrap="square" lIns="0" tIns="0" rIns="0" bIns="0" rtlCol="0" anchor="t"/>
          <a:lstStyle/>
          <a:p>
            <a:pPr indent="0" marL="0">
              <a:buNone/>
            </a:pPr>
            <a:r>
              <a:rPr lang="en-US" sz="1500" b="1" dirty="0">
                <a:solidFill>
                  <a:schemeClr val="tx2"/>
                </a:solidFill>
              </a:rPr>
              <a:t>Upload options</a:t>
            </a:r>
            <a:endParaRPr lang="en-US" sz="1500" dirty="0"/>
          </a:p>
        </p:txBody>
      </p:sp>
      <p:sp>
        <p:nvSpPr>
          <p:cNvPr id="17" name="text-174"/>
          <p:cNvSpPr txBox="1"/>
          <p:nvPr/>
        </p:nvSpPr>
        <p:spPr>
          <a:xfrm>
            <a:off x="7315200" y="3977640"/>
            <a:ext cx="4297680" cy="640080"/>
          </a:xfrm>
          <a:prstGeom prst="rect">
            <a:avLst/>
          </a:prstGeom>
          <a:noFill/>
          <a:ln/>
        </p:spPr>
        <p:txBody>
          <a:bodyPr wrap="square" lIns="0" tIns="0" rIns="0" bIns="0" rtlCol="0" anchor="t"/>
          <a:lstStyle/>
          <a:p>
            <a:pPr indent="0" marL="0">
              <a:buNone/>
            </a:pPr>
            <a:r>
              <a:rPr lang="en-US" sz="1300" dirty="0">
                <a:solidFill>
                  <a:schemeClr val="tx1"/>
                </a:solidFill>
              </a:rPr>
              <a:t>Test run ticked by default; optionally stop at the first faulty row.</a:t>
            </a:r>
            <a:endParaRPr lang="en-US" sz="1300" dirty="0"/>
          </a:p>
        </p:txBody>
      </p:sp>
      <p:sp>
        <p:nvSpPr>
          <p:cNvPr id="18" name="num-175"/>
          <p:cNvSpPr/>
          <p:nvPr/>
        </p:nvSpPr>
        <p:spPr>
          <a:xfrm>
            <a:off x="6766560" y="4754880"/>
            <a:ext cx="384048" cy="384048"/>
          </a:xfrm>
          <a:prstGeom prst="ellipse">
            <a:avLst/>
          </a:prstGeom>
          <a:solidFill>
            <a:schemeClr val="accent1"/>
          </a:solidFill>
          <a:ln/>
        </p:spPr>
      </p:sp>
      <p:sp>
        <p:nvSpPr>
          <p:cNvPr id="19" name="numtxt-176"/>
          <p:cNvSpPr txBox="1"/>
          <p:nvPr/>
        </p:nvSpPr>
        <p:spPr>
          <a:xfrm>
            <a:off x="6766560" y="4754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177"/>
          <p:cNvSpPr txBox="1"/>
          <p:nvPr/>
        </p:nvSpPr>
        <p:spPr>
          <a:xfrm>
            <a:off x="7315200" y="4736592"/>
            <a:ext cx="4297680" cy="320040"/>
          </a:xfrm>
          <a:prstGeom prst="rect">
            <a:avLst/>
          </a:prstGeom>
          <a:noFill/>
          <a:ln/>
        </p:spPr>
        <p:txBody>
          <a:bodyPr wrap="square" lIns="0" tIns="0" rIns="0" bIns="0" rtlCol="0" anchor="t"/>
          <a:lstStyle/>
          <a:p>
            <a:pPr indent="0" marL="0">
              <a:buNone/>
            </a:pPr>
            <a:r>
              <a:rPr lang="en-US" sz="1500" b="1" dirty="0">
                <a:solidFill>
                  <a:schemeClr val="tx2"/>
                </a:solidFill>
              </a:rPr>
              <a:t>File</a:t>
            </a:r>
            <a:endParaRPr lang="en-US" sz="1500" dirty="0"/>
          </a:p>
        </p:txBody>
      </p:sp>
      <p:sp>
        <p:nvSpPr>
          <p:cNvPr id="21" name="text-178"/>
          <p:cNvSpPr txBox="1"/>
          <p:nvPr/>
        </p:nvSpPr>
        <p:spPr>
          <a:xfrm>
            <a:off x="7315200" y="5074920"/>
            <a:ext cx="4297680" cy="640080"/>
          </a:xfrm>
          <a:prstGeom prst="rect">
            <a:avLst/>
          </a:prstGeom>
          <a:noFill/>
          <a:ln/>
        </p:spPr>
        <p:txBody>
          <a:bodyPr wrap="square" lIns="0" tIns="0" rIns="0" bIns="0" rtlCol="0" anchor="t"/>
          <a:lstStyle/>
          <a:p>
            <a:pPr indent="0" marL="0">
              <a:buNone/>
            </a:pPr>
            <a:r>
              <a:rPr lang="en-US" sz="1300" dirty="0">
                <a:solidFill>
                  <a:schemeClr val="tx1"/>
                </a:solidFill>
              </a:rPr>
              <a:t>F4 picks the workbook to upload; a download proposes a name per scenario.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Vendor Excel format and loading order</a:t>
            </a:r>
            <a:endParaRPr lang="en-US" sz="3200" dirty="0"/>
          </a:p>
        </p:txBody>
      </p:sp>
      <p:pic>
        <p:nvPicPr>
          <p:cNvPr id="3" name="img-179" descr="vend excel">    </p:cNvPr>
          <p:cNvPicPr>
            <a:picLocks noChangeAspect="1"/>
          </p:cNvPicPr>
          <p:nvPr/>
        </p:nvPicPr>
        <p:blipFill>
          <a:blip r:embed="rId1"/>
          <a:stretch>
            <a:fillRect/>
          </a:stretch>
        </p:blipFill>
        <p:spPr>
          <a:xfrm>
            <a:off x="548640" y="1371600"/>
            <a:ext cx="8229600" cy="1450428"/>
          </a:xfrm>
          <a:prstGeom prst="rect">
            <a:avLst/>
          </a:prstGeom>
        </p:spPr>
      </p:pic>
      <p:sp>
        <p:nvSpPr>
          <p:cNvPr id="4" name="frame-180"/>
          <p:cNvSpPr/>
          <p:nvPr/>
        </p:nvSpPr>
        <p:spPr>
          <a:xfrm>
            <a:off x="548640" y="1371600"/>
            <a:ext cx="8229600" cy="1450428"/>
          </a:xfrm>
          <a:prstGeom prst="rect">
            <a:avLst/>
          </a:prstGeom>
          <a:ln w="9525">
            <a:solidFill>
              <a:srgbClr val="C9D3DA"/>
            </a:solidFill>
            <a:prstDash val="solid"/>
          </a:ln>
        </p:spPr>
      </p:sp>
      <p:sp>
        <p:nvSpPr>
          <p:cNvPr id="5" name="text-181"/>
          <p:cNvSpPr txBox="1"/>
          <p:nvPr/>
        </p:nvSpPr>
        <p:spPr>
          <a:xfrm>
            <a:off x="548640" y="2895180"/>
            <a:ext cx="8229600" cy="274320"/>
          </a:xfrm>
          <a:prstGeom prst="rect">
            <a:avLst/>
          </a:prstGeom>
          <a:noFill/>
          <a:ln/>
        </p:spPr>
        <p:txBody>
          <a:bodyPr wrap="square" lIns="0" tIns="0" rIns="0" bIns="0" rtlCol="0" anchor="t"/>
          <a:lstStyle/>
          <a:p>
            <a:pPr indent="0" marL="0">
              <a:buNone/>
            </a:pPr>
            <a:r>
              <a:rPr lang="en-US" sz="1100" i="1" dirty="0">
                <a:solidFill>
                  <a:schemeClr val="accent5"/>
                </a:solidFill>
              </a:rPr>
              <a:t>Illustration - vendor creation tab, selected columns; sample values are invented</a:t>
            </a:r>
            <a:endParaRPr lang="en-US" sz="1100" dirty="0"/>
          </a:p>
        </p:txBody>
      </p:sp>
      <p:sp>
        <p:nvSpPr>
          <p:cNvPr id="6" name="text-182"/>
          <p:cNvSpPr txBox="1"/>
          <p:nvPr/>
        </p:nvSpPr>
        <p:spPr>
          <a:xfrm>
            <a:off x="9052560" y="1371600"/>
            <a:ext cx="2560320" cy="1737360"/>
          </a:xfrm>
          <a:prstGeom prst="rect">
            <a:avLst/>
          </a:prstGeom>
          <a:noFill/>
          <a:ln/>
        </p:spPr>
        <p:txBody>
          <a:bodyPr wrap="square" lIns="0" tIns="0" rIns="0" bIns="0" rtlCol="0" anchor="t"/>
          <a:lstStyle/>
          <a:p>
            <a:pPr indent="0" marL="0">
              <a:buNone/>
            </a:pPr>
            <a:r>
              <a:rPr lang="en-US" sz="1300" dirty="0">
                <a:solidFill>
                  <a:schemeClr val="tx1"/>
                </a:solidFill>
              </a:rPr>
              <a:t>Technical field names as headings, as in the existing workbook. An empty vendor number creates a new vendor from the account group’s number range.</a:t>
            </a:r>
            <a:endParaRPr lang="en-US" sz="1300" dirty="0"/>
          </a:p>
        </p:txBody>
      </p:sp>
      <p:sp>
        <p:nvSpPr>
          <p:cNvPr id="7" name="text-183"/>
          <p:cNvSpPr txBox="1"/>
          <p:nvPr/>
        </p:nvSpPr>
        <p:spPr>
          <a:xfrm>
            <a:off x="548640" y="3703320"/>
            <a:ext cx="11064240" cy="365760"/>
          </a:xfrm>
          <a:prstGeom prst="rect">
            <a:avLst/>
          </a:prstGeom>
          <a:noFill/>
          <a:ln/>
        </p:spPr>
        <p:txBody>
          <a:bodyPr wrap="square" lIns="0" tIns="0" rIns="0" bIns="0" rtlCol="0" anchor="t"/>
          <a:lstStyle/>
          <a:p>
            <a:pPr indent="0" marL="0">
              <a:buNone/>
            </a:pPr>
            <a:r>
              <a:rPr lang="en-US" sz="1600" b="1" dirty="0">
                <a:solidFill>
                  <a:schemeClr val="tx2"/>
                </a:solidFill>
              </a:rPr>
              <a:t>Scenarios build on each other, so they are loaded in this order</a:t>
            </a:r>
            <a:endParaRPr lang="en-US" sz="1600" dirty="0"/>
          </a:p>
        </p:txBody>
      </p:sp>
      <p:sp>
        <p:nvSpPr>
          <p:cNvPr id="8" name="card-184"/>
          <p:cNvSpPr/>
          <p:nvPr/>
        </p:nvSpPr>
        <p:spPr>
          <a:xfrm>
            <a:off x="548640" y="4251960"/>
            <a:ext cx="2011680" cy="1325880"/>
          </a:xfrm>
          <a:prstGeom prst="roundRect">
            <a:avLst>
              <a:gd name="adj" fmla="val 5517"/>
            </a:avLst>
          </a:prstGeom>
          <a:solidFill>
            <a:schemeClr val="bg2"/>
          </a:solidFill>
          <a:ln/>
        </p:spPr>
      </p:sp>
      <p:sp>
        <p:nvSpPr>
          <p:cNvPr id="9" name="num-185"/>
          <p:cNvSpPr/>
          <p:nvPr/>
        </p:nvSpPr>
        <p:spPr>
          <a:xfrm>
            <a:off x="713232" y="4389120"/>
            <a:ext cx="365760" cy="365760"/>
          </a:xfrm>
          <a:prstGeom prst="ellipse">
            <a:avLst/>
          </a:prstGeom>
          <a:solidFill>
            <a:schemeClr val="accent1"/>
          </a:solidFill>
          <a:ln/>
        </p:spPr>
      </p:sp>
      <p:sp>
        <p:nvSpPr>
          <p:cNvPr id="10" name="numtxt-186"/>
          <p:cNvSpPr txBox="1"/>
          <p:nvPr/>
        </p:nvSpPr>
        <p:spPr>
          <a:xfrm>
            <a:off x="713232" y="43891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187"/>
          <p:cNvSpPr txBox="1"/>
          <p:nvPr/>
        </p:nvSpPr>
        <p:spPr>
          <a:xfrm>
            <a:off x="713232" y="4846320"/>
            <a:ext cx="1737360" cy="685800"/>
          </a:xfrm>
          <a:prstGeom prst="rect">
            <a:avLst/>
          </a:prstGeom>
          <a:noFill/>
          <a:ln/>
        </p:spPr>
        <p:txBody>
          <a:bodyPr wrap="square" lIns="0" tIns="0" rIns="0" bIns="0" rtlCol="0" anchor="t"/>
          <a:lstStyle/>
          <a:p>
            <a:pPr indent="0" marL="0">
              <a:buNone/>
            </a:pPr>
            <a:r>
              <a:rPr lang="en-US" sz="1300" b="1" dirty="0">
                <a:solidFill>
                  <a:schemeClr val="tx2"/>
                </a:solidFill>
              </a:rPr>
              <a:t>Bank keys</a:t>
            </a:r>
            <a:endParaRPr lang="en-US" sz="1300" dirty="0"/>
          </a:p>
        </p:txBody>
      </p:sp>
      <p:sp>
        <p:nvSpPr>
          <p:cNvPr id="12" name="flow-188"/>
          <p:cNvSpPr/>
          <p:nvPr/>
        </p:nvSpPr>
        <p:spPr>
          <a:xfrm>
            <a:off x="2596896" y="4773168"/>
            <a:ext cx="201168" cy="274320"/>
          </a:xfrm>
          <a:prstGeom prst="rightArrow">
            <a:avLst/>
          </a:prstGeom>
          <a:solidFill>
            <a:schemeClr val="accent2"/>
          </a:solidFill>
          <a:ln/>
        </p:spPr>
      </p:sp>
      <p:sp>
        <p:nvSpPr>
          <p:cNvPr id="13" name="card-189"/>
          <p:cNvSpPr/>
          <p:nvPr/>
        </p:nvSpPr>
        <p:spPr>
          <a:xfrm>
            <a:off x="2834640" y="4251960"/>
            <a:ext cx="2011680" cy="1325880"/>
          </a:xfrm>
          <a:prstGeom prst="roundRect">
            <a:avLst>
              <a:gd name="adj" fmla="val 5517"/>
            </a:avLst>
          </a:prstGeom>
          <a:solidFill>
            <a:schemeClr val="bg2"/>
          </a:solidFill>
          <a:ln/>
        </p:spPr>
      </p:sp>
      <p:sp>
        <p:nvSpPr>
          <p:cNvPr id="14" name="num-190"/>
          <p:cNvSpPr/>
          <p:nvPr/>
        </p:nvSpPr>
        <p:spPr>
          <a:xfrm>
            <a:off x="2999232" y="4389120"/>
            <a:ext cx="365760" cy="365760"/>
          </a:xfrm>
          <a:prstGeom prst="ellipse">
            <a:avLst/>
          </a:prstGeom>
          <a:solidFill>
            <a:schemeClr val="accent1"/>
          </a:solidFill>
          <a:ln/>
        </p:spPr>
      </p:sp>
      <p:sp>
        <p:nvSpPr>
          <p:cNvPr id="15" name="numtxt-191"/>
          <p:cNvSpPr txBox="1"/>
          <p:nvPr/>
        </p:nvSpPr>
        <p:spPr>
          <a:xfrm>
            <a:off x="2999232" y="43891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text-192"/>
          <p:cNvSpPr txBox="1"/>
          <p:nvPr/>
        </p:nvSpPr>
        <p:spPr>
          <a:xfrm>
            <a:off x="2999232" y="4846320"/>
            <a:ext cx="1737360" cy="685800"/>
          </a:xfrm>
          <a:prstGeom prst="rect">
            <a:avLst/>
          </a:prstGeom>
          <a:noFill/>
          <a:ln/>
        </p:spPr>
        <p:txBody>
          <a:bodyPr wrap="square" lIns="0" tIns="0" rIns="0" bIns="0" rtlCol="0" anchor="t"/>
          <a:lstStyle/>
          <a:p>
            <a:pPr indent="0" marL="0">
              <a:buNone/>
            </a:pPr>
            <a:r>
              <a:rPr lang="en-US" sz="1300" b="1" dirty="0">
                <a:solidFill>
                  <a:schemeClr val="tx2"/>
                </a:solidFill>
              </a:rPr>
              <a:t>Vendor creation</a:t>
            </a:r>
            <a:endParaRPr lang="en-US" sz="1300" dirty="0"/>
          </a:p>
        </p:txBody>
      </p:sp>
      <p:sp>
        <p:nvSpPr>
          <p:cNvPr id="17" name="flow-193"/>
          <p:cNvSpPr/>
          <p:nvPr/>
        </p:nvSpPr>
        <p:spPr>
          <a:xfrm>
            <a:off x="4882896" y="4773168"/>
            <a:ext cx="201168" cy="274320"/>
          </a:xfrm>
          <a:prstGeom prst="rightArrow">
            <a:avLst/>
          </a:prstGeom>
          <a:solidFill>
            <a:schemeClr val="accent2"/>
          </a:solidFill>
          <a:ln/>
        </p:spPr>
      </p:sp>
      <p:sp>
        <p:nvSpPr>
          <p:cNvPr id="18" name="card-194"/>
          <p:cNvSpPr/>
          <p:nvPr/>
        </p:nvSpPr>
        <p:spPr>
          <a:xfrm>
            <a:off x="5120640" y="4251960"/>
            <a:ext cx="2011680" cy="1325880"/>
          </a:xfrm>
          <a:prstGeom prst="roundRect">
            <a:avLst>
              <a:gd name="adj" fmla="val 5517"/>
            </a:avLst>
          </a:prstGeom>
          <a:solidFill>
            <a:schemeClr val="bg2"/>
          </a:solidFill>
          <a:ln/>
        </p:spPr>
      </p:sp>
      <p:sp>
        <p:nvSpPr>
          <p:cNvPr id="19" name="num-195"/>
          <p:cNvSpPr/>
          <p:nvPr/>
        </p:nvSpPr>
        <p:spPr>
          <a:xfrm>
            <a:off x="5285232" y="4389120"/>
            <a:ext cx="365760" cy="365760"/>
          </a:xfrm>
          <a:prstGeom prst="ellipse">
            <a:avLst/>
          </a:prstGeom>
          <a:solidFill>
            <a:schemeClr val="accent1"/>
          </a:solidFill>
          <a:ln/>
        </p:spPr>
      </p:sp>
      <p:sp>
        <p:nvSpPr>
          <p:cNvPr id="20" name="numtxt-196"/>
          <p:cNvSpPr txBox="1"/>
          <p:nvPr/>
        </p:nvSpPr>
        <p:spPr>
          <a:xfrm>
            <a:off x="5285232" y="43891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197"/>
          <p:cNvSpPr txBox="1"/>
          <p:nvPr/>
        </p:nvSpPr>
        <p:spPr>
          <a:xfrm>
            <a:off x="5285232" y="4846320"/>
            <a:ext cx="1737360" cy="685800"/>
          </a:xfrm>
          <a:prstGeom prst="rect">
            <a:avLst/>
          </a:prstGeom>
          <a:noFill/>
          <a:ln/>
        </p:spPr>
        <p:txBody>
          <a:bodyPr wrap="square" lIns="0" tIns="0" rIns="0" bIns="0" rtlCol="0" anchor="t"/>
          <a:lstStyle/>
          <a:p>
            <a:pPr indent="0" marL="0">
              <a:buNone/>
            </a:pPr>
            <a:r>
              <a:rPr lang="en-US" sz="1300" b="1" dirty="0">
                <a:solidFill>
                  <a:schemeClr val="tx2"/>
                </a:solidFill>
              </a:rPr>
              <a:t>Vendor extension</a:t>
            </a:r>
            <a:endParaRPr lang="en-US" sz="1300" dirty="0"/>
          </a:p>
        </p:txBody>
      </p:sp>
      <p:sp>
        <p:nvSpPr>
          <p:cNvPr id="22" name="flow-198"/>
          <p:cNvSpPr/>
          <p:nvPr/>
        </p:nvSpPr>
        <p:spPr>
          <a:xfrm>
            <a:off x="7168896" y="4773168"/>
            <a:ext cx="201168" cy="274320"/>
          </a:xfrm>
          <a:prstGeom prst="rightArrow">
            <a:avLst/>
          </a:prstGeom>
          <a:solidFill>
            <a:schemeClr val="accent2"/>
          </a:solidFill>
          <a:ln/>
        </p:spPr>
      </p:sp>
      <p:sp>
        <p:nvSpPr>
          <p:cNvPr id="23" name="card-199"/>
          <p:cNvSpPr/>
          <p:nvPr/>
        </p:nvSpPr>
        <p:spPr>
          <a:xfrm>
            <a:off x="7406640" y="4251960"/>
            <a:ext cx="2011680" cy="1325880"/>
          </a:xfrm>
          <a:prstGeom prst="roundRect">
            <a:avLst>
              <a:gd name="adj" fmla="val 5517"/>
            </a:avLst>
          </a:prstGeom>
          <a:solidFill>
            <a:schemeClr val="bg2"/>
          </a:solidFill>
          <a:ln/>
        </p:spPr>
      </p:sp>
      <p:sp>
        <p:nvSpPr>
          <p:cNvPr id="24" name="num-200"/>
          <p:cNvSpPr/>
          <p:nvPr/>
        </p:nvSpPr>
        <p:spPr>
          <a:xfrm>
            <a:off x="7571232" y="4389120"/>
            <a:ext cx="365760" cy="365760"/>
          </a:xfrm>
          <a:prstGeom prst="ellipse">
            <a:avLst/>
          </a:prstGeom>
          <a:solidFill>
            <a:schemeClr val="accent1"/>
          </a:solidFill>
          <a:ln/>
        </p:spPr>
      </p:sp>
      <p:sp>
        <p:nvSpPr>
          <p:cNvPr id="25" name="numtxt-201"/>
          <p:cNvSpPr txBox="1"/>
          <p:nvPr/>
        </p:nvSpPr>
        <p:spPr>
          <a:xfrm>
            <a:off x="7571232" y="43891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xt-202"/>
          <p:cNvSpPr txBox="1"/>
          <p:nvPr/>
        </p:nvSpPr>
        <p:spPr>
          <a:xfrm>
            <a:off x="7571232" y="4846320"/>
            <a:ext cx="1737360" cy="685800"/>
          </a:xfrm>
          <a:prstGeom prst="rect">
            <a:avLst/>
          </a:prstGeom>
          <a:noFill/>
          <a:ln/>
        </p:spPr>
        <p:txBody>
          <a:bodyPr wrap="square" lIns="0" tIns="0" rIns="0" bIns="0" rtlCol="0" anchor="t"/>
          <a:lstStyle/>
          <a:p>
            <a:pPr indent="0" marL="0">
              <a:buNone/>
            </a:pPr>
            <a:r>
              <a:rPr lang="en-US" sz="1300" b="1" dirty="0">
                <a:solidFill>
                  <a:schemeClr val="tx2"/>
                </a:solidFill>
              </a:rPr>
              <a:t>TDS, TAN, bank details, CIN, partner functions</a:t>
            </a:r>
            <a:endParaRPr lang="en-US" sz="1300" dirty="0"/>
          </a:p>
        </p:txBody>
      </p:sp>
      <p:sp>
        <p:nvSpPr>
          <p:cNvPr id="27" name="flow-203"/>
          <p:cNvSpPr/>
          <p:nvPr/>
        </p:nvSpPr>
        <p:spPr>
          <a:xfrm>
            <a:off x="9454896" y="4773168"/>
            <a:ext cx="201168" cy="274320"/>
          </a:xfrm>
          <a:prstGeom prst="rightArrow">
            <a:avLst/>
          </a:prstGeom>
          <a:solidFill>
            <a:schemeClr val="accent2"/>
          </a:solidFill>
          <a:ln/>
        </p:spPr>
      </p:sp>
      <p:sp>
        <p:nvSpPr>
          <p:cNvPr id="28" name="card-204"/>
          <p:cNvSpPr/>
          <p:nvPr/>
        </p:nvSpPr>
        <p:spPr>
          <a:xfrm>
            <a:off x="9692640" y="4251960"/>
            <a:ext cx="2011680" cy="1325880"/>
          </a:xfrm>
          <a:prstGeom prst="roundRect">
            <a:avLst>
              <a:gd name="adj" fmla="val 5517"/>
            </a:avLst>
          </a:prstGeom>
          <a:solidFill>
            <a:schemeClr val="bg2"/>
          </a:solidFill>
          <a:ln/>
        </p:spPr>
      </p:sp>
      <p:sp>
        <p:nvSpPr>
          <p:cNvPr id="29" name="num-205"/>
          <p:cNvSpPr/>
          <p:nvPr/>
        </p:nvSpPr>
        <p:spPr>
          <a:xfrm>
            <a:off x="9857232" y="4389120"/>
            <a:ext cx="365760" cy="365760"/>
          </a:xfrm>
          <a:prstGeom prst="ellipse">
            <a:avLst/>
          </a:prstGeom>
          <a:solidFill>
            <a:schemeClr val="accent1"/>
          </a:solidFill>
          <a:ln/>
        </p:spPr>
      </p:sp>
      <p:sp>
        <p:nvSpPr>
          <p:cNvPr id="30" name="numtxt-206"/>
          <p:cNvSpPr txBox="1"/>
          <p:nvPr/>
        </p:nvSpPr>
        <p:spPr>
          <a:xfrm>
            <a:off x="9857232" y="43891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207"/>
          <p:cNvSpPr txBox="1"/>
          <p:nvPr/>
        </p:nvSpPr>
        <p:spPr>
          <a:xfrm>
            <a:off x="9857232" y="4846320"/>
            <a:ext cx="1737360" cy="685800"/>
          </a:xfrm>
          <a:prstGeom prst="rect">
            <a:avLst/>
          </a:prstGeom>
          <a:noFill/>
          <a:ln/>
        </p:spPr>
        <p:txBody>
          <a:bodyPr wrap="square" lIns="0" tIns="0" rIns="0" bIns="0" rtlCol="0" anchor="t"/>
          <a:lstStyle/>
          <a:p>
            <a:pPr indent="0" marL="0">
              <a:buNone/>
            </a:pPr>
            <a:r>
              <a:rPr lang="en-US" sz="1300" b="1" dirty="0">
                <a:solidFill>
                  <a:schemeClr val="tx2"/>
                </a:solidFill>
              </a:rPr>
              <a:t>Block / unblock</a:t>
            </a:r>
            <a:endParaRPr lang="en-US" sz="1300" dirty="0"/>
          </a:p>
        </p:txBody>
      </p:sp>
      <p:sp>
        <p:nvSpPr>
          <p:cNvPr id="32" name="text-208"/>
          <p:cNvSpPr txBox="1"/>
          <p:nvPr/>
        </p:nvSpPr>
        <p:spPr>
          <a:xfrm>
            <a:off x="548640" y="5715000"/>
            <a:ext cx="11064240" cy="274320"/>
          </a:xfrm>
          <a:prstGeom prst="rect">
            <a:avLst/>
          </a:prstGeom>
          <a:noFill/>
          <a:ln/>
        </p:spPr>
        <p:txBody>
          <a:bodyPr wrap="square" lIns="0" tIns="0" rIns="0" bIns="0" rtlCol="0" anchor="t"/>
          <a:lstStyle/>
          <a:p>
            <a:pPr indent="0" marL="0">
              <a:buNone/>
            </a:pPr>
            <a:r>
              <a:rPr lang="en-US" sz="1100" i="1" dirty="0">
                <a:solidFill>
                  <a:schemeClr val="accent5"/>
                </a:solidFill>
              </a:rPr>
              <a:t>A row that needs data not there yet - tax data for a company code the vendor is not in - is refused with a message, not posted halfway.</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Every Excel row gets a clear result</a:t>
            </a:r>
            <a:endParaRPr lang="en-US" sz="3200" dirty="0"/>
          </a:p>
        </p:txBody>
      </p:sp>
      <p:pic>
        <p:nvPicPr>
          <p:cNvPr id="3" name="img-209" descr="result list">    </p:cNvPr>
          <p:cNvPicPr>
            <a:picLocks noChangeAspect="1"/>
          </p:cNvPicPr>
          <p:nvPr/>
        </p:nvPicPr>
        <p:blipFill>
          <a:blip r:embed="rId1"/>
          <a:stretch>
            <a:fillRect/>
          </a:stretch>
        </p:blipFill>
        <p:spPr>
          <a:xfrm>
            <a:off x="548640" y="1371600"/>
            <a:ext cx="8595360" cy="1942128"/>
          </a:xfrm>
          <a:prstGeom prst="rect">
            <a:avLst/>
          </a:prstGeom>
        </p:spPr>
      </p:pic>
      <p:sp>
        <p:nvSpPr>
          <p:cNvPr id="4" name="frame-210"/>
          <p:cNvSpPr/>
          <p:nvPr/>
        </p:nvSpPr>
        <p:spPr>
          <a:xfrm>
            <a:off x="548640" y="1371600"/>
            <a:ext cx="8595360" cy="1942128"/>
          </a:xfrm>
          <a:prstGeom prst="rect">
            <a:avLst/>
          </a:prstGeom>
          <a:ln w="9525">
            <a:solidFill>
              <a:srgbClr val="C9D3DA"/>
            </a:solidFill>
            <a:prstDash val="solid"/>
          </a:ln>
        </p:spPr>
      </p:sp>
      <p:sp>
        <p:nvSpPr>
          <p:cNvPr id="5" name="text-211"/>
          <p:cNvSpPr txBox="1"/>
          <p:nvPr/>
        </p:nvSpPr>
        <p:spPr>
          <a:xfrm>
            <a:off x="548640" y="3386880"/>
            <a:ext cx="8595360" cy="274320"/>
          </a:xfrm>
          <a:prstGeom prst="rect">
            <a:avLst/>
          </a:prstGeom>
          <a:noFill/>
          <a:ln/>
        </p:spPr>
        <p:txBody>
          <a:bodyPr wrap="square" lIns="0" tIns="0" rIns="0" bIns="0" rtlCol="0" anchor="t"/>
          <a:lstStyle/>
          <a:p>
            <a:pPr indent="0" marL="0">
              <a:buNone/>
            </a:pPr>
            <a:r>
              <a:rPr lang="en-US" sz="1100" i="1" dirty="0">
                <a:solidFill>
                  <a:schemeClr val="accent5"/>
                </a:solidFill>
              </a:rPr>
              <a:t>Illustration of the result list after a test run</a:t>
            </a:r>
            <a:endParaRPr lang="en-US" sz="1100" dirty="0"/>
          </a:p>
        </p:txBody>
      </p:sp>
      <p:sp>
        <p:nvSpPr>
          <p:cNvPr id="6" name="dot-212"/>
          <p:cNvSpPr/>
          <p:nvPr/>
        </p:nvSpPr>
        <p:spPr>
          <a:xfrm>
            <a:off x="9464040" y="1463040"/>
            <a:ext cx="256032" cy="256032"/>
          </a:xfrm>
          <a:prstGeom prst="ellipse">
            <a:avLst/>
          </a:prstGeom>
          <a:solidFill>
            <a:srgbClr val="2E8B57"/>
          </a:solidFill>
          <a:ln/>
        </p:spPr>
      </p:sp>
      <p:sp>
        <p:nvSpPr>
          <p:cNvPr id="7" name="text-213"/>
          <p:cNvSpPr txBox="1"/>
          <p:nvPr/>
        </p:nvSpPr>
        <p:spPr>
          <a:xfrm>
            <a:off x="9829800" y="1417320"/>
            <a:ext cx="1828800" cy="502920"/>
          </a:xfrm>
          <a:prstGeom prst="rect">
            <a:avLst/>
          </a:prstGeom>
          <a:noFill/>
          <a:ln/>
        </p:spPr>
        <p:txBody>
          <a:bodyPr wrap="square" lIns="0" tIns="0" rIns="0" bIns="0" rtlCol="0" anchor="t"/>
          <a:lstStyle/>
          <a:p>
            <a:pPr indent="0" marL="0">
              <a:buNone/>
            </a:pPr>
            <a:r>
              <a:rPr lang="en-US" sz="1200" b="1" dirty="0">
                <a:solidFill>
                  <a:schemeClr val="tx1"/>
                </a:solidFill>
              </a:rPr>
              <a:t>Done </a:t>
            </a:r>
            <a:pPr indent="0" marL="0">
              <a:buNone/>
            </a:pPr>
            <a:r>
              <a:rPr lang="en-US" sz="1200" dirty="0">
                <a:solidFill>
                  <a:schemeClr val="tx1"/>
                </a:solidFill>
              </a:rPr>
              <a:t>posted - or, in a test run, would be</a:t>
            </a:r>
            <a:endParaRPr lang="en-US" sz="1200" dirty="0"/>
          </a:p>
        </p:txBody>
      </p:sp>
      <p:sp>
        <p:nvSpPr>
          <p:cNvPr id="8" name="dot-214"/>
          <p:cNvSpPr/>
          <p:nvPr/>
        </p:nvSpPr>
        <p:spPr>
          <a:xfrm>
            <a:off x="9464040" y="2011680"/>
            <a:ext cx="256032" cy="256032"/>
          </a:xfrm>
          <a:prstGeom prst="ellipse">
            <a:avLst/>
          </a:prstGeom>
          <a:solidFill>
            <a:srgbClr val="E8A33D"/>
          </a:solidFill>
          <a:ln/>
        </p:spPr>
      </p:sp>
      <p:sp>
        <p:nvSpPr>
          <p:cNvPr id="9" name="text-215"/>
          <p:cNvSpPr txBox="1"/>
          <p:nvPr/>
        </p:nvSpPr>
        <p:spPr>
          <a:xfrm>
            <a:off x="9829800" y="1965960"/>
            <a:ext cx="1828800" cy="502920"/>
          </a:xfrm>
          <a:prstGeom prst="rect">
            <a:avLst/>
          </a:prstGeom>
          <a:noFill/>
          <a:ln/>
        </p:spPr>
        <p:txBody>
          <a:bodyPr wrap="square" lIns="0" tIns="0" rIns="0" bIns="0" rtlCol="0" anchor="t"/>
          <a:lstStyle/>
          <a:p>
            <a:pPr indent="0" marL="0">
              <a:buNone/>
            </a:pPr>
            <a:r>
              <a:rPr lang="en-US" sz="1200" b="1" dirty="0">
                <a:solidFill>
                  <a:schemeClr val="tx1"/>
                </a:solidFill>
              </a:rPr>
              <a:t>Warning </a:t>
            </a:r>
            <a:pPr indent="0" marL="0">
              <a:buNone/>
            </a:pPr>
            <a:r>
              <a:rPr lang="en-US" sz="1200" dirty="0">
                <a:solidFill>
                  <a:schemeClr val="tx1"/>
                </a:solidFill>
              </a:rPr>
              <a:t>went through; read the message</a:t>
            </a:r>
            <a:endParaRPr lang="en-US" sz="1200" dirty="0"/>
          </a:p>
        </p:txBody>
      </p:sp>
      <p:sp>
        <p:nvSpPr>
          <p:cNvPr id="10" name="dot-216"/>
          <p:cNvSpPr/>
          <p:nvPr/>
        </p:nvSpPr>
        <p:spPr>
          <a:xfrm>
            <a:off x="9464040" y="2560320"/>
            <a:ext cx="256032" cy="256032"/>
          </a:xfrm>
          <a:prstGeom prst="ellipse">
            <a:avLst/>
          </a:prstGeom>
          <a:solidFill>
            <a:srgbClr val="C0392B"/>
          </a:solidFill>
          <a:ln/>
        </p:spPr>
      </p:sp>
      <p:sp>
        <p:nvSpPr>
          <p:cNvPr id="11" name="text-217"/>
          <p:cNvSpPr txBox="1"/>
          <p:nvPr/>
        </p:nvSpPr>
        <p:spPr>
          <a:xfrm>
            <a:off x="9829800" y="2514600"/>
            <a:ext cx="1828800" cy="502920"/>
          </a:xfrm>
          <a:prstGeom prst="rect">
            <a:avLst/>
          </a:prstGeom>
          <a:noFill/>
          <a:ln/>
        </p:spPr>
        <p:txBody>
          <a:bodyPr wrap="square" lIns="0" tIns="0" rIns="0" bIns="0" rtlCol="0" anchor="t"/>
          <a:lstStyle/>
          <a:p>
            <a:pPr indent="0" marL="0">
              <a:buNone/>
            </a:pPr>
            <a:r>
              <a:rPr lang="en-US" sz="1200" b="1" dirty="0">
                <a:solidFill>
                  <a:schemeClr val="tx1"/>
                </a:solidFill>
              </a:rPr>
              <a:t>Error </a:t>
            </a:r>
            <a:pPr indent="0" marL="0">
              <a:buNone/>
            </a:pPr>
            <a:r>
              <a:rPr lang="en-US" sz="1200" dirty="0">
                <a:solidFill>
                  <a:schemeClr val="tx1"/>
                </a:solidFill>
              </a:rPr>
              <a:t>nothing posted for this row</a:t>
            </a:r>
            <a:endParaRPr lang="en-US" sz="1200" dirty="0"/>
          </a:p>
        </p:txBody>
      </p:sp>
      <p:sp>
        <p:nvSpPr>
          <p:cNvPr id="12" name="dot-218"/>
          <p:cNvSpPr/>
          <p:nvPr/>
        </p:nvSpPr>
        <p:spPr>
          <a:xfrm>
            <a:off x="9464040" y="3108960"/>
            <a:ext cx="256032" cy="256032"/>
          </a:xfrm>
          <a:prstGeom prst="ellipse">
            <a:avLst/>
          </a:prstGeom>
          <a:solidFill>
            <a:srgbClr val="3C6EAA"/>
          </a:solidFill>
          <a:ln/>
        </p:spPr>
      </p:sp>
      <p:sp>
        <p:nvSpPr>
          <p:cNvPr id="13" name="text-219"/>
          <p:cNvSpPr txBox="1"/>
          <p:nvPr/>
        </p:nvSpPr>
        <p:spPr>
          <a:xfrm>
            <a:off x="9829800" y="3063240"/>
            <a:ext cx="1828800" cy="502920"/>
          </a:xfrm>
          <a:prstGeom prst="rect">
            <a:avLst/>
          </a:prstGeom>
          <a:noFill/>
          <a:ln/>
        </p:spPr>
        <p:txBody>
          <a:bodyPr wrap="square" lIns="0" tIns="0" rIns="0" bIns="0" rtlCol="0" anchor="t"/>
          <a:lstStyle/>
          <a:p>
            <a:pPr indent="0" marL="0">
              <a:buNone/>
            </a:pPr>
            <a:r>
              <a:rPr lang="en-US" sz="1200" b="1" dirty="0">
                <a:solidFill>
                  <a:schemeClr val="tx1"/>
                </a:solidFill>
              </a:rPr>
              <a:t>Information </a:t>
            </a:r>
            <a:pPr indent="0" marL="0">
              <a:buNone/>
            </a:pPr>
            <a:r>
              <a:rPr lang="en-US" sz="1200" dirty="0">
                <a:solidFill>
                  <a:schemeClr val="tx1"/>
                </a:solidFill>
              </a:rPr>
              <a:t>about the run, not a row</a:t>
            </a:r>
            <a:endParaRPr lang="en-US" sz="1200" dirty="0"/>
          </a:p>
        </p:txBody>
      </p:sp>
      <p:sp>
        <p:nvSpPr>
          <p:cNvPr id="14" name="card-220"/>
          <p:cNvSpPr/>
          <p:nvPr/>
        </p:nvSpPr>
        <p:spPr>
          <a:xfrm>
            <a:off x="548640" y="4160520"/>
            <a:ext cx="11064240" cy="1371600"/>
          </a:xfrm>
          <a:prstGeom prst="roundRect">
            <a:avLst>
              <a:gd name="adj" fmla="val 5333"/>
            </a:avLst>
          </a:prstGeom>
          <a:solidFill>
            <a:schemeClr val="bg2"/>
          </a:solidFill>
          <a:ln/>
        </p:spPr>
      </p:sp>
      <p:sp>
        <p:nvSpPr>
          <p:cNvPr id="15" name="badge-221"/>
          <p:cNvSpPr/>
          <p:nvPr/>
        </p:nvSpPr>
        <p:spPr>
          <a:xfrm>
            <a:off x="822960" y="4434840"/>
            <a:ext cx="594360" cy="594360"/>
          </a:xfrm>
          <a:prstGeom prst="ellipse">
            <a:avLst/>
          </a:prstGeom>
          <a:solidFill>
            <a:schemeClr val="accent1"/>
          </a:solidFill>
          <a:ln/>
        </p:spPr>
      </p:sp>
      <p:pic>
        <p:nvPicPr>
          <p:cNvPr id="16" name="icon-222" descr="preencoded.png">    </p:cNvPr>
          <p:cNvPicPr>
            <a:picLocks noChangeAspect="1"/>
          </p:cNvPicPr>
          <p:nvPr/>
        </p:nvPicPr>
        <p:blipFill>
          <a:blip r:embed="rId2"/>
          <a:stretch>
            <a:fillRect/>
          </a:stretch>
        </p:blipFill>
        <p:spPr>
          <a:xfrm>
            <a:off x="953719" y="4565599"/>
            <a:ext cx="332842" cy="332842"/>
          </a:xfrm>
          <a:prstGeom prst="rect">
            <a:avLst/>
          </a:prstGeom>
        </p:spPr>
      </p:pic>
      <p:sp>
        <p:nvSpPr>
          <p:cNvPr id="17" name="text-223"/>
          <p:cNvSpPr txBox="1"/>
          <p:nvPr/>
        </p:nvSpPr>
        <p:spPr>
          <a:xfrm>
            <a:off x="1645920" y="4389120"/>
            <a:ext cx="9692640" cy="1005840"/>
          </a:xfrm>
          <a:prstGeom prst="rect">
            <a:avLst/>
          </a:prstGeom>
          <a:noFill/>
          <a:ln/>
        </p:spPr>
        <p:txBody>
          <a:bodyPr wrap="square" lIns="0" tIns="0" rIns="0" bIns="0" rtlCol="0" anchor="t"/>
          <a:lstStyle/>
          <a:p>
            <a:pPr indent="0" marL="0">
              <a:buNone/>
            </a:pPr>
            <a:r>
              <a:rPr lang="en-US" sz="1500" b="1" dirty="0">
                <a:solidFill>
                  <a:schemeClr val="tx2"/>
                </a:solidFill>
              </a:rPr>
              <a:t>Test run first, then post. </a:t>
            </a:r>
            <a:pPr indent="0" marL="0">
              <a:buNone/>
            </a:pPr>
            <a:r>
              <a:rPr lang="en-US" sz="1500" dirty="0">
                <a:solidFill>
                  <a:schemeClr val="tx1"/>
                </a:solidFill>
              </a:rPr>
              <a:t>The test run makes every check SAP would make and saves nothing. The same list names the Excel row, the record and the field at fault, so the file can be corrected and run again. Only then is the test run switched off to post.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Built to SAP S/4HANA standards</a:t>
            </a:r>
            <a:endParaRPr lang="en-US" sz="3200" dirty="0"/>
          </a:p>
        </p:txBody>
      </p:sp>
      <p:sp>
        <p:nvSpPr>
          <p:cNvPr id="3" name="card-224"/>
          <p:cNvSpPr/>
          <p:nvPr/>
        </p:nvSpPr>
        <p:spPr>
          <a:xfrm>
            <a:off x="548640" y="1463040"/>
            <a:ext cx="3520440" cy="2103120"/>
          </a:xfrm>
          <a:prstGeom prst="roundRect">
            <a:avLst>
              <a:gd name="adj" fmla="val 3478"/>
            </a:avLst>
          </a:prstGeom>
          <a:solidFill>
            <a:schemeClr val="bg2"/>
          </a:solidFill>
          <a:ln/>
        </p:spPr>
      </p:sp>
      <p:sp>
        <p:nvSpPr>
          <p:cNvPr id="4" name="badge-225"/>
          <p:cNvSpPr/>
          <p:nvPr/>
        </p:nvSpPr>
        <p:spPr>
          <a:xfrm>
            <a:off x="822960" y="1737360"/>
            <a:ext cx="548640" cy="548640"/>
          </a:xfrm>
          <a:prstGeom prst="ellipse">
            <a:avLst/>
          </a:prstGeom>
          <a:solidFill>
            <a:schemeClr val="accent1"/>
          </a:solidFill>
          <a:ln/>
        </p:spPr>
      </p:sp>
      <p:pic>
        <p:nvPicPr>
          <p:cNvPr id="5" name="icon-226" descr="preencoded.png">    </p:cNvPr>
          <p:cNvPicPr>
            <a:picLocks noChangeAspect="1"/>
          </p:cNvPicPr>
          <p:nvPr/>
        </p:nvPicPr>
        <p:blipFill>
          <a:blip r:embed="rId1"/>
          <a:stretch>
            <a:fillRect/>
          </a:stretch>
        </p:blipFill>
        <p:spPr>
          <a:xfrm>
            <a:off x="943661" y="1858061"/>
            <a:ext cx="307238" cy="307238"/>
          </a:xfrm>
          <a:prstGeom prst="rect">
            <a:avLst/>
          </a:prstGeom>
        </p:spPr>
      </p:pic>
      <p:sp>
        <p:nvSpPr>
          <p:cNvPr id="6" name="text-227"/>
          <p:cNvSpPr txBox="1"/>
          <p:nvPr/>
        </p:nvSpPr>
        <p:spPr>
          <a:xfrm>
            <a:off x="1554480" y="17556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Standard interfaces</a:t>
            </a:r>
            <a:endParaRPr lang="en-US" sz="1600" dirty="0"/>
          </a:p>
        </p:txBody>
      </p:sp>
      <p:sp>
        <p:nvSpPr>
          <p:cNvPr id="7" name="text-228"/>
          <p:cNvSpPr txBox="1"/>
          <p:nvPr/>
        </p:nvSpPr>
        <p:spPr>
          <a:xfrm>
            <a:off x="822960" y="2423160"/>
            <a:ext cx="3017520" cy="1051560"/>
          </a:xfrm>
          <a:prstGeom prst="rect">
            <a:avLst/>
          </a:prstGeom>
          <a:noFill/>
          <a:ln/>
        </p:spPr>
        <p:txBody>
          <a:bodyPr wrap="square" lIns="0" tIns="0" rIns="0" bIns="0" rtlCol="0" anchor="t"/>
          <a:lstStyle/>
          <a:p>
            <a:pPr indent="0" marL="0">
              <a:buNone/>
            </a:pPr>
            <a:r>
              <a:rPr lang="en-US" sz="1400" dirty="0">
                <a:solidFill>
                  <a:schemeClr val="tx1"/>
                </a:solidFill>
              </a:rPr>
              <a:t>Business Partner maintained through SAP’s customer / vendor integration API, with every commit checked.</a:t>
            </a:r>
            <a:endParaRPr lang="en-US" sz="1400" dirty="0"/>
          </a:p>
        </p:txBody>
      </p:sp>
      <p:sp>
        <p:nvSpPr>
          <p:cNvPr id="8" name="card-229"/>
          <p:cNvSpPr/>
          <p:nvPr/>
        </p:nvSpPr>
        <p:spPr>
          <a:xfrm>
            <a:off x="4297680" y="1463040"/>
            <a:ext cx="3520440" cy="2103120"/>
          </a:xfrm>
          <a:prstGeom prst="roundRect">
            <a:avLst>
              <a:gd name="adj" fmla="val 3478"/>
            </a:avLst>
          </a:prstGeom>
          <a:solidFill>
            <a:schemeClr val="bg2"/>
          </a:solidFill>
          <a:ln/>
        </p:spPr>
      </p:sp>
      <p:sp>
        <p:nvSpPr>
          <p:cNvPr id="9" name="badge-230"/>
          <p:cNvSpPr/>
          <p:nvPr/>
        </p:nvSpPr>
        <p:spPr>
          <a:xfrm>
            <a:off x="4572000" y="1737360"/>
            <a:ext cx="548640" cy="548640"/>
          </a:xfrm>
          <a:prstGeom prst="ellipse">
            <a:avLst/>
          </a:prstGeom>
          <a:solidFill>
            <a:schemeClr val="accent1"/>
          </a:solidFill>
          <a:ln/>
        </p:spPr>
      </p:sp>
      <p:pic>
        <p:nvPicPr>
          <p:cNvPr id="10" name="icon-231" descr="preencoded.png">    </p:cNvPr>
          <p:cNvPicPr>
            <a:picLocks noChangeAspect="1"/>
          </p:cNvPicPr>
          <p:nvPr/>
        </p:nvPicPr>
        <p:blipFill>
          <a:blip r:embed="rId2"/>
          <a:stretch>
            <a:fillRect/>
          </a:stretch>
        </p:blipFill>
        <p:spPr>
          <a:xfrm>
            <a:off x="4692701" y="1858061"/>
            <a:ext cx="307238" cy="307238"/>
          </a:xfrm>
          <a:prstGeom prst="rect">
            <a:avLst/>
          </a:prstGeom>
        </p:spPr>
      </p:pic>
      <p:sp>
        <p:nvSpPr>
          <p:cNvPr id="11" name="text-232"/>
          <p:cNvSpPr txBox="1"/>
          <p:nvPr/>
        </p:nvSpPr>
        <p:spPr>
          <a:xfrm>
            <a:off x="5303520" y="17556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No direct table updates</a:t>
            </a:r>
            <a:endParaRPr lang="en-US" sz="1600" dirty="0"/>
          </a:p>
        </p:txBody>
      </p:sp>
      <p:sp>
        <p:nvSpPr>
          <p:cNvPr id="12" name="text-233"/>
          <p:cNvSpPr txBox="1"/>
          <p:nvPr/>
        </p:nvSpPr>
        <p:spPr>
          <a:xfrm>
            <a:off x="4572000" y="2423160"/>
            <a:ext cx="3017520" cy="1051560"/>
          </a:xfrm>
          <a:prstGeom prst="rect">
            <a:avLst/>
          </a:prstGeom>
          <a:noFill/>
          <a:ln/>
        </p:spPr>
        <p:txBody>
          <a:bodyPr wrap="square" lIns="0" tIns="0" rIns="0" bIns="0" rtlCol="0" anchor="t"/>
          <a:lstStyle/>
          <a:p>
            <a:pPr indent="0" marL="0">
              <a:buNone/>
            </a:pPr>
            <a:r>
              <a:rPr lang="en-US" sz="1400" dirty="0">
                <a:solidFill>
                  <a:schemeClr val="tx1"/>
                </a:solidFill>
              </a:rPr>
              <a:t>SAP data changes only through standard interfaces; client-owned custom tables only where agreed.</a:t>
            </a:r>
            <a:endParaRPr lang="en-US" sz="1400" dirty="0"/>
          </a:p>
        </p:txBody>
      </p:sp>
      <p:sp>
        <p:nvSpPr>
          <p:cNvPr id="13" name="card-234"/>
          <p:cNvSpPr/>
          <p:nvPr/>
        </p:nvSpPr>
        <p:spPr>
          <a:xfrm>
            <a:off x="8046720" y="1463040"/>
            <a:ext cx="3520440" cy="2103120"/>
          </a:xfrm>
          <a:prstGeom prst="roundRect">
            <a:avLst>
              <a:gd name="adj" fmla="val 3478"/>
            </a:avLst>
          </a:prstGeom>
          <a:solidFill>
            <a:schemeClr val="bg2"/>
          </a:solidFill>
          <a:ln/>
        </p:spPr>
      </p:sp>
      <p:sp>
        <p:nvSpPr>
          <p:cNvPr id="14" name="badge-235"/>
          <p:cNvSpPr/>
          <p:nvPr/>
        </p:nvSpPr>
        <p:spPr>
          <a:xfrm>
            <a:off x="8321040" y="1737360"/>
            <a:ext cx="548640" cy="548640"/>
          </a:xfrm>
          <a:prstGeom prst="ellipse">
            <a:avLst/>
          </a:prstGeom>
          <a:solidFill>
            <a:schemeClr val="accent1"/>
          </a:solidFill>
          <a:ln/>
        </p:spPr>
      </p:sp>
      <p:pic>
        <p:nvPicPr>
          <p:cNvPr id="15" name="icon-236" descr="preencoded.png">    </p:cNvPr>
          <p:cNvPicPr>
            <a:picLocks noChangeAspect="1"/>
          </p:cNvPicPr>
          <p:nvPr/>
        </p:nvPicPr>
        <p:blipFill>
          <a:blip r:embed="rId3"/>
          <a:stretch>
            <a:fillRect/>
          </a:stretch>
        </p:blipFill>
        <p:spPr>
          <a:xfrm>
            <a:off x="8441741" y="1858061"/>
            <a:ext cx="307238" cy="307238"/>
          </a:xfrm>
          <a:prstGeom prst="rect">
            <a:avLst/>
          </a:prstGeom>
        </p:spPr>
      </p:pic>
      <p:sp>
        <p:nvSpPr>
          <p:cNvPr id="16" name="text-237"/>
          <p:cNvSpPr txBox="1"/>
          <p:nvPr/>
        </p:nvSpPr>
        <p:spPr>
          <a:xfrm>
            <a:off x="9052560" y="175564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Test mode built in</a:t>
            </a:r>
            <a:endParaRPr lang="en-US" sz="1600" dirty="0"/>
          </a:p>
        </p:txBody>
      </p:sp>
      <p:sp>
        <p:nvSpPr>
          <p:cNvPr id="17" name="text-238"/>
          <p:cNvSpPr txBox="1"/>
          <p:nvPr/>
        </p:nvSpPr>
        <p:spPr>
          <a:xfrm>
            <a:off x="8321040" y="2423160"/>
            <a:ext cx="3017520" cy="1051560"/>
          </a:xfrm>
          <a:prstGeom prst="rect">
            <a:avLst/>
          </a:prstGeom>
          <a:noFill/>
          <a:ln/>
        </p:spPr>
        <p:txBody>
          <a:bodyPr wrap="square" lIns="0" tIns="0" rIns="0" bIns="0" rtlCol="0" anchor="t"/>
          <a:lstStyle/>
          <a:p>
            <a:pPr indent="0" marL="0">
              <a:buNone/>
            </a:pPr>
            <a:r>
              <a:rPr lang="en-US" sz="1400" dirty="0">
                <a:solidFill>
                  <a:schemeClr val="tx1"/>
                </a:solidFill>
              </a:rPr>
              <a:t>A full check of every row before anything is saved.</a:t>
            </a:r>
            <a:endParaRPr lang="en-US" sz="1400" dirty="0"/>
          </a:p>
        </p:txBody>
      </p:sp>
      <p:sp>
        <p:nvSpPr>
          <p:cNvPr id="18" name="card-239"/>
          <p:cNvSpPr/>
          <p:nvPr/>
        </p:nvSpPr>
        <p:spPr>
          <a:xfrm>
            <a:off x="548640" y="3794760"/>
            <a:ext cx="3520440" cy="2103120"/>
          </a:xfrm>
          <a:prstGeom prst="roundRect">
            <a:avLst>
              <a:gd name="adj" fmla="val 3478"/>
            </a:avLst>
          </a:prstGeom>
          <a:solidFill>
            <a:schemeClr val="bg2"/>
          </a:solidFill>
          <a:ln/>
        </p:spPr>
      </p:sp>
      <p:sp>
        <p:nvSpPr>
          <p:cNvPr id="19" name="badge-240"/>
          <p:cNvSpPr/>
          <p:nvPr/>
        </p:nvSpPr>
        <p:spPr>
          <a:xfrm>
            <a:off x="822960" y="4069080"/>
            <a:ext cx="548640" cy="548640"/>
          </a:xfrm>
          <a:prstGeom prst="ellipse">
            <a:avLst/>
          </a:prstGeom>
          <a:solidFill>
            <a:schemeClr val="accent1"/>
          </a:solidFill>
          <a:ln/>
        </p:spPr>
      </p:sp>
      <p:pic>
        <p:nvPicPr>
          <p:cNvPr id="20" name="icon-241" descr="preencoded.png">    </p:cNvPr>
          <p:cNvPicPr>
            <a:picLocks noChangeAspect="1"/>
          </p:cNvPicPr>
          <p:nvPr/>
        </p:nvPicPr>
        <p:blipFill>
          <a:blip r:embed="rId4"/>
          <a:stretch>
            <a:fillRect/>
          </a:stretch>
        </p:blipFill>
        <p:spPr>
          <a:xfrm>
            <a:off x="943661" y="4189781"/>
            <a:ext cx="307238" cy="307238"/>
          </a:xfrm>
          <a:prstGeom prst="rect">
            <a:avLst/>
          </a:prstGeom>
        </p:spPr>
      </p:pic>
      <p:sp>
        <p:nvSpPr>
          <p:cNvPr id="21" name="text-242"/>
          <p:cNvSpPr txBox="1"/>
          <p:nvPr/>
        </p:nvSpPr>
        <p:spPr>
          <a:xfrm>
            <a:off x="1554480" y="408736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Read by heading</a:t>
            </a:r>
            <a:endParaRPr lang="en-US" sz="1600" dirty="0"/>
          </a:p>
        </p:txBody>
      </p:sp>
      <p:sp>
        <p:nvSpPr>
          <p:cNvPr id="22" name="text-243"/>
          <p:cNvSpPr txBox="1"/>
          <p:nvPr/>
        </p:nvSpPr>
        <p:spPr>
          <a:xfrm>
            <a:off x="822960" y="4754880"/>
            <a:ext cx="3017520" cy="1051560"/>
          </a:xfrm>
          <a:prstGeom prst="rect">
            <a:avLst/>
          </a:prstGeom>
          <a:noFill/>
          <a:ln/>
        </p:spPr>
        <p:txBody>
          <a:bodyPr wrap="square" lIns="0" tIns="0" rIns="0" bIns="0" rtlCol="0" anchor="t"/>
          <a:lstStyle/>
          <a:p>
            <a:pPr indent="0" marL="0">
              <a:buNone/>
            </a:pPr>
            <a:r>
              <a:rPr lang="en-US" sz="1400" dirty="0">
                <a:solidFill>
                  <a:schemeClr val="tx1"/>
                </a:solidFill>
              </a:rPr>
              <a:t>Columns found by their headings, so a changed layout cannot load a value into the wrong field.</a:t>
            </a:r>
            <a:endParaRPr lang="en-US" sz="1400" dirty="0"/>
          </a:p>
        </p:txBody>
      </p:sp>
      <p:sp>
        <p:nvSpPr>
          <p:cNvPr id="23" name="card-244"/>
          <p:cNvSpPr/>
          <p:nvPr/>
        </p:nvSpPr>
        <p:spPr>
          <a:xfrm>
            <a:off x="4297680" y="3794760"/>
            <a:ext cx="3520440" cy="2103120"/>
          </a:xfrm>
          <a:prstGeom prst="roundRect">
            <a:avLst>
              <a:gd name="adj" fmla="val 3478"/>
            </a:avLst>
          </a:prstGeom>
          <a:solidFill>
            <a:schemeClr val="bg2"/>
          </a:solidFill>
          <a:ln/>
        </p:spPr>
      </p:sp>
      <p:sp>
        <p:nvSpPr>
          <p:cNvPr id="24" name="badge-245"/>
          <p:cNvSpPr/>
          <p:nvPr/>
        </p:nvSpPr>
        <p:spPr>
          <a:xfrm>
            <a:off x="4572000" y="4069080"/>
            <a:ext cx="548640" cy="548640"/>
          </a:xfrm>
          <a:prstGeom prst="ellipse">
            <a:avLst/>
          </a:prstGeom>
          <a:solidFill>
            <a:schemeClr val="accent1"/>
          </a:solidFill>
          <a:ln/>
        </p:spPr>
      </p:sp>
      <p:pic>
        <p:nvPicPr>
          <p:cNvPr id="25" name="icon-246" descr="preencoded.png">    </p:cNvPr>
          <p:cNvPicPr>
            <a:picLocks noChangeAspect="1"/>
          </p:cNvPicPr>
          <p:nvPr/>
        </p:nvPicPr>
        <p:blipFill>
          <a:blip r:embed="rId5"/>
          <a:stretch>
            <a:fillRect/>
          </a:stretch>
        </p:blipFill>
        <p:spPr>
          <a:xfrm>
            <a:off x="4692701" y="4189781"/>
            <a:ext cx="307238" cy="307238"/>
          </a:xfrm>
          <a:prstGeom prst="rect">
            <a:avLst/>
          </a:prstGeom>
        </p:spPr>
      </p:pic>
      <p:sp>
        <p:nvSpPr>
          <p:cNvPr id="26" name="text-247"/>
          <p:cNvSpPr txBox="1"/>
          <p:nvPr/>
        </p:nvSpPr>
        <p:spPr>
          <a:xfrm>
            <a:off x="5303520" y="408736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Clean core aware</a:t>
            </a:r>
            <a:endParaRPr lang="en-US" sz="1600" dirty="0"/>
          </a:p>
        </p:txBody>
      </p:sp>
      <p:sp>
        <p:nvSpPr>
          <p:cNvPr id="27" name="text-248"/>
          <p:cNvSpPr txBox="1"/>
          <p:nvPr/>
        </p:nvSpPr>
        <p:spPr>
          <a:xfrm>
            <a:off x="4572000" y="4754880"/>
            <a:ext cx="3017520" cy="1051560"/>
          </a:xfrm>
          <a:prstGeom prst="rect">
            <a:avLst/>
          </a:prstGeom>
          <a:noFill/>
          <a:ln/>
        </p:spPr>
        <p:txBody>
          <a:bodyPr wrap="square" lIns="0" tIns="0" rIns="0" bIns="0" rtlCol="0" anchor="t"/>
          <a:lstStyle/>
          <a:p>
            <a:pPr indent="0" marL="0">
              <a:buNone/>
            </a:pPr>
            <a:r>
              <a:rPr lang="en-US" sz="1400" dirty="0">
                <a:solidFill>
                  <a:schemeClr val="tx1"/>
                </a:solidFill>
              </a:rPr>
              <a:t>Classic ABAP extension (tier 2 in SAP’s clean core model), ATC readiness check documented.</a:t>
            </a:r>
            <a:endParaRPr lang="en-US" sz="1400" dirty="0"/>
          </a:p>
        </p:txBody>
      </p:sp>
      <p:sp>
        <p:nvSpPr>
          <p:cNvPr id="28" name="card-249"/>
          <p:cNvSpPr/>
          <p:nvPr/>
        </p:nvSpPr>
        <p:spPr>
          <a:xfrm>
            <a:off x="8046720" y="3794760"/>
            <a:ext cx="3520440" cy="2103120"/>
          </a:xfrm>
          <a:prstGeom prst="roundRect">
            <a:avLst>
              <a:gd name="adj" fmla="val 3478"/>
            </a:avLst>
          </a:prstGeom>
          <a:solidFill>
            <a:schemeClr val="bg2"/>
          </a:solidFill>
          <a:ln/>
        </p:spPr>
      </p:sp>
      <p:sp>
        <p:nvSpPr>
          <p:cNvPr id="29" name="badge-250"/>
          <p:cNvSpPr/>
          <p:nvPr/>
        </p:nvSpPr>
        <p:spPr>
          <a:xfrm>
            <a:off x="8321040" y="4069080"/>
            <a:ext cx="548640" cy="548640"/>
          </a:xfrm>
          <a:prstGeom prst="ellipse">
            <a:avLst/>
          </a:prstGeom>
          <a:solidFill>
            <a:schemeClr val="accent1"/>
          </a:solidFill>
          <a:ln/>
        </p:spPr>
      </p:sp>
      <p:pic>
        <p:nvPicPr>
          <p:cNvPr id="30" name="icon-251" descr="preencoded.png">    </p:cNvPr>
          <p:cNvPicPr>
            <a:picLocks noChangeAspect="1"/>
          </p:cNvPicPr>
          <p:nvPr/>
        </p:nvPicPr>
        <p:blipFill>
          <a:blip r:embed="rId6"/>
          <a:stretch>
            <a:fillRect/>
          </a:stretch>
        </p:blipFill>
        <p:spPr>
          <a:xfrm>
            <a:off x="8441741" y="4189781"/>
            <a:ext cx="307238" cy="307238"/>
          </a:xfrm>
          <a:prstGeom prst="rect">
            <a:avLst/>
          </a:prstGeom>
        </p:spPr>
      </p:pic>
      <p:sp>
        <p:nvSpPr>
          <p:cNvPr id="31" name="text-252"/>
          <p:cNvSpPr txBox="1"/>
          <p:nvPr/>
        </p:nvSpPr>
        <p:spPr>
          <a:xfrm>
            <a:off x="9052560" y="4087368"/>
            <a:ext cx="2331720" cy="548640"/>
          </a:xfrm>
          <a:prstGeom prst="rect">
            <a:avLst/>
          </a:prstGeom>
          <a:noFill/>
          <a:ln/>
        </p:spPr>
        <p:txBody>
          <a:bodyPr wrap="square" lIns="0" tIns="0" rIns="0" bIns="0" rtlCol="0" anchor="ctr"/>
          <a:lstStyle/>
          <a:p>
            <a:pPr indent="0" marL="0">
              <a:buNone/>
            </a:pPr>
            <a:r>
              <a:rPr lang="en-US" sz="1600" b="1" dirty="0">
                <a:solidFill>
                  <a:schemeClr val="tx2"/>
                </a:solidFill>
              </a:rPr>
              <a:t>Automated checks</a:t>
            </a:r>
            <a:endParaRPr lang="en-US" sz="1600" dirty="0"/>
          </a:p>
        </p:txBody>
      </p:sp>
      <p:sp>
        <p:nvSpPr>
          <p:cNvPr id="32" name="text-253"/>
          <p:cNvSpPr txBox="1"/>
          <p:nvPr/>
        </p:nvSpPr>
        <p:spPr>
          <a:xfrm>
            <a:off x="8321040" y="4754880"/>
            <a:ext cx="3017520" cy="1051560"/>
          </a:xfrm>
          <a:prstGeom prst="rect">
            <a:avLst/>
          </a:prstGeom>
          <a:noFill/>
          <a:ln/>
        </p:spPr>
        <p:txBody>
          <a:bodyPr wrap="square" lIns="0" tIns="0" rIns="0" bIns="0" rtlCol="0" anchor="t"/>
          <a:lstStyle/>
          <a:p>
            <a:pPr indent="0" marL="0">
              <a:buNone/>
            </a:pPr>
            <a:r>
              <a:rPr lang="en-US" sz="1400" dirty="0">
                <a:solidFill>
                  <a:schemeClr val="tx1"/>
                </a:solidFill>
              </a:rPr>
              <a:t>Every issue found in testing became an automated check, so it cannot come back.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How we delivered it</a:t>
            </a:r>
            <a:endParaRPr lang="en-US" sz="3200" dirty="0"/>
          </a:p>
        </p:txBody>
      </p:sp>
      <p:sp>
        <p:nvSpPr>
          <p:cNvPr id="3" name="timeline-254"/>
          <p:cNvSpPr/>
          <p:nvPr/>
        </p:nvSpPr>
        <p:spPr>
          <a:xfrm>
            <a:off x="914400" y="2057400"/>
            <a:ext cx="9692640" cy="0"/>
          </a:xfrm>
          <a:prstGeom prst="line">
            <a:avLst/>
          </a:prstGeom>
          <a:noFill/>
          <a:ln w="25400">
            <a:solidFill>
              <a:schemeClr val="accent1"/>
            </a:solidFill>
            <a:prstDash val="solid"/>
          </a:ln>
        </p:spPr>
      </p:sp>
      <p:sp>
        <p:nvSpPr>
          <p:cNvPr id="4" name="num-255"/>
          <p:cNvSpPr/>
          <p:nvPr/>
        </p:nvSpPr>
        <p:spPr>
          <a:xfrm>
            <a:off x="731520" y="1828800"/>
            <a:ext cx="457200" cy="457200"/>
          </a:xfrm>
          <a:prstGeom prst="ellipse">
            <a:avLst/>
          </a:prstGeom>
          <a:solidFill>
            <a:schemeClr val="accent1"/>
          </a:solidFill>
          <a:ln/>
        </p:spPr>
      </p:sp>
      <p:sp>
        <p:nvSpPr>
          <p:cNvPr id="5" name="numtxt-256"/>
          <p:cNvSpPr txBox="1"/>
          <p:nvPr/>
        </p:nvSpPr>
        <p:spPr>
          <a:xfrm>
            <a:off x="731520" y="1828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257"/>
          <p:cNvSpPr txBox="1"/>
          <p:nvPr/>
        </p:nvSpPr>
        <p:spPr>
          <a:xfrm>
            <a:off x="548640" y="2514600"/>
            <a:ext cx="2103120" cy="411480"/>
          </a:xfrm>
          <a:prstGeom prst="rect">
            <a:avLst/>
          </a:prstGeom>
          <a:noFill/>
          <a:ln/>
        </p:spPr>
        <p:txBody>
          <a:bodyPr wrap="square" lIns="0" tIns="0" rIns="0" bIns="0" rtlCol="0" anchor="t"/>
          <a:lstStyle/>
          <a:p>
            <a:pPr indent="0" marL="0">
              <a:buNone/>
            </a:pPr>
            <a:r>
              <a:rPr lang="en-US" sz="1800" b="1" dirty="0">
                <a:solidFill>
                  <a:schemeClr val="tx2"/>
                </a:solidFill>
              </a:rPr>
              <a:t>Analyse</a:t>
            </a:r>
            <a:endParaRPr lang="en-US" sz="1800" dirty="0"/>
          </a:p>
        </p:txBody>
      </p:sp>
      <p:sp>
        <p:nvSpPr>
          <p:cNvPr id="7" name="text-258"/>
          <p:cNvSpPr txBox="1"/>
          <p:nvPr/>
        </p:nvSpPr>
        <p:spPr>
          <a:xfrm>
            <a:off x="54864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The client’s templates: layouts, country and account group combinations, every column.</a:t>
            </a:r>
            <a:endParaRPr lang="en-US" sz="1400" dirty="0"/>
          </a:p>
        </p:txBody>
      </p:sp>
      <p:sp>
        <p:nvSpPr>
          <p:cNvPr id="8" name="num-259"/>
          <p:cNvSpPr/>
          <p:nvPr/>
        </p:nvSpPr>
        <p:spPr>
          <a:xfrm>
            <a:off x="3017520" y="1828800"/>
            <a:ext cx="457200" cy="457200"/>
          </a:xfrm>
          <a:prstGeom prst="ellipse">
            <a:avLst/>
          </a:prstGeom>
          <a:solidFill>
            <a:schemeClr val="accent1"/>
          </a:solidFill>
          <a:ln/>
        </p:spPr>
      </p:sp>
      <p:sp>
        <p:nvSpPr>
          <p:cNvPr id="9" name="numtxt-260"/>
          <p:cNvSpPr txBox="1"/>
          <p:nvPr/>
        </p:nvSpPr>
        <p:spPr>
          <a:xfrm>
            <a:off x="3017520" y="1828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261"/>
          <p:cNvSpPr txBox="1"/>
          <p:nvPr/>
        </p:nvSpPr>
        <p:spPr>
          <a:xfrm>
            <a:off x="2834640" y="2514600"/>
            <a:ext cx="2103120" cy="411480"/>
          </a:xfrm>
          <a:prstGeom prst="rect">
            <a:avLst/>
          </a:prstGeom>
          <a:noFill/>
          <a:ln/>
        </p:spPr>
        <p:txBody>
          <a:bodyPr wrap="square" lIns="0" tIns="0" rIns="0" bIns="0" rtlCol="0" anchor="t"/>
          <a:lstStyle/>
          <a:p>
            <a:pPr indent="0" marL="0">
              <a:buNone/>
            </a:pPr>
            <a:r>
              <a:rPr lang="en-US" sz="1800" b="1" dirty="0">
                <a:solidFill>
                  <a:schemeClr val="tx2"/>
                </a:solidFill>
              </a:rPr>
              <a:t>Map</a:t>
            </a:r>
            <a:endParaRPr lang="en-US" sz="1800" dirty="0"/>
          </a:p>
        </p:txBody>
      </p:sp>
      <p:sp>
        <p:nvSpPr>
          <p:cNvPr id="11" name="text-262"/>
          <p:cNvSpPr txBox="1"/>
          <p:nvPr/>
        </p:nvSpPr>
        <p:spPr>
          <a:xfrm>
            <a:off x="283464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Every column to its Business Partner field - generated from the templates, not typed by hand.</a:t>
            </a:r>
            <a:endParaRPr lang="en-US" sz="1400" dirty="0"/>
          </a:p>
        </p:txBody>
      </p:sp>
      <p:sp>
        <p:nvSpPr>
          <p:cNvPr id="12" name="num-263"/>
          <p:cNvSpPr/>
          <p:nvPr/>
        </p:nvSpPr>
        <p:spPr>
          <a:xfrm>
            <a:off x="5303520" y="1828800"/>
            <a:ext cx="457200" cy="457200"/>
          </a:xfrm>
          <a:prstGeom prst="ellipse">
            <a:avLst/>
          </a:prstGeom>
          <a:solidFill>
            <a:schemeClr val="accent1"/>
          </a:solidFill>
          <a:ln/>
        </p:spPr>
      </p:sp>
      <p:sp>
        <p:nvSpPr>
          <p:cNvPr id="13" name="numtxt-264"/>
          <p:cNvSpPr txBox="1"/>
          <p:nvPr/>
        </p:nvSpPr>
        <p:spPr>
          <a:xfrm>
            <a:off x="5303520" y="1828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265"/>
          <p:cNvSpPr txBox="1"/>
          <p:nvPr/>
        </p:nvSpPr>
        <p:spPr>
          <a:xfrm>
            <a:off x="5120640" y="2514600"/>
            <a:ext cx="2103120" cy="411480"/>
          </a:xfrm>
          <a:prstGeom prst="rect">
            <a:avLst/>
          </a:prstGeom>
          <a:noFill/>
          <a:ln/>
        </p:spPr>
        <p:txBody>
          <a:bodyPr wrap="square" lIns="0" tIns="0" rIns="0" bIns="0" rtlCol="0" anchor="t"/>
          <a:lstStyle/>
          <a:p>
            <a:pPr indent="0" marL="0">
              <a:buNone/>
            </a:pPr>
            <a:r>
              <a:rPr lang="en-US" sz="1800" b="1" dirty="0">
                <a:solidFill>
                  <a:schemeClr val="tx2"/>
                </a:solidFill>
              </a:rPr>
              <a:t>Build</a:t>
            </a:r>
            <a:endParaRPr lang="en-US" sz="1800" dirty="0"/>
          </a:p>
        </p:txBody>
      </p:sp>
      <p:sp>
        <p:nvSpPr>
          <p:cNvPr id="15" name="text-266"/>
          <p:cNvSpPr txBox="1"/>
          <p:nvPr/>
        </p:nvSpPr>
        <p:spPr>
          <a:xfrm>
            <a:off x="512064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Download and upload in one program per master, on one column map.</a:t>
            </a:r>
            <a:endParaRPr lang="en-US" sz="1400" dirty="0"/>
          </a:p>
        </p:txBody>
      </p:sp>
      <p:sp>
        <p:nvSpPr>
          <p:cNvPr id="16" name="num-267"/>
          <p:cNvSpPr/>
          <p:nvPr/>
        </p:nvSpPr>
        <p:spPr>
          <a:xfrm>
            <a:off x="7589520" y="1828800"/>
            <a:ext cx="457200" cy="457200"/>
          </a:xfrm>
          <a:prstGeom prst="ellipse">
            <a:avLst/>
          </a:prstGeom>
          <a:solidFill>
            <a:schemeClr val="accent1"/>
          </a:solidFill>
          <a:ln/>
        </p:spPr>
      </p:sp>
      <p:sp>
        <p:nvSpPr>
          <p:cNvPr id="17" name="numtxt-268"/>
          <p:cNvSpPr txBox="1"/>
          <p:nvPr/>
        </p:nvSpPr>
        <p:spPr>
          <a:xfrm>
            <a:off x="7589520" y="1828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269"/>
          <p:cNvSpPr txBox="1"/>
          <p:nvPr/>
        </p:nvSpPr>
        <p:spPr>
          <a:xfrm>
            <a:off x="7406640" y="2514600"/>
            <a:ext cx="2103120" cy="411480"/>
          </a:xfrm>
          <a:prstGeom prst="rect">
            <a:avLst/>
          </a:prstGeom>
          <a:noFill/>
          <a:ln/>
        </p:spPr>
        <p:txBody>
          <a:bodyPr wrap="square" lIns="0" tIns="0" rIns="0" bIns="0" rtlCol="0" anchor="t"/>
          <a:lstStyle/>
          <a:p>
            <a:pPr indent="0" marL="0">
              <a:buNone/>
            </a:pPr>
            <a:r>
              <a:rPr lang="en-US" sz="1800" b="1" dirty="0">
                <a:solidFill>
                  <a:schemeClr val="tx2"/>
                </a:solidFill>
              </a:rPr>
              <a:t>Test</a:t>
            </a:r>
            <a:endParaRPr lang="en-US" sz="1800" dirty="0"/>
          </a:p>
        </p:txBody>
      </p:sp>
      <p:sp>
        <p:nvSpPr>
          <p:cNvPr id="19" name="text-270"/>
          <p:cNvSpPr txBox="1"/>
          <p:nvPr/>
        </p:nvSpPr>
        <p:spPr>
          <a:xfrm>
            <a:off x="740664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With the business, against a test script with expected results and sign-off.</a:t>
            </a:r>
            <a:endParaRPr lang="en-US" sz="1400" dirty="0"/>
          </a:p>
        </p:txBody>
      </p:sp>
      <p:sp>
        <p:nvSpPr>
          <p:cNvPr id="20" name="num-271"/>
          <p:cNvSpPr/>
          <p:nvPr/>
        </p:nvSpPr>
        <p:spPr>
          <a:xfrm>
            <a:off x="9875520" y="1828800"/>
            <a:ext cx="457200" cy="457200"/>
          </a:xfrm>
          <a:prstGeom prst="ellipse">
            <a:avLst/>
          </a:prstGeom>
          <a:solidFill>
            <a:schemeClr val="accent1"/>
          </a:solidFill>
          <a:ln/>
        </p:spPr>
      </p:sp>
      <p:sp>
        <p:nvSpPr>
          <p:cNvPr id="21" name="numtxt-272"/>
          <p:cNvSpPr txBox="1"/>
          <p:nvPr/>
        </p:nvSpPr>
        <p:spPr>
          <a:xfrm>
            <a:off x="9875520" y="1828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273"/>
          <p:cNvSpPr txBox="1"/>
          <p:nvPr/>
        </p:nvSpPr>
        <p:spPr>
          <a:xfrm>
            <a:off x="9692640" y="2514600"/>
            <a:ext cx="2103120" cy="411480"/>
          </a:xfrm>
          <a:prstGeom prst="rect">
            <a:avLst/>
          </a:prstGeom>
          <a:noFill/>
          <a:ln/>
        </p:spPr>
        <p:txBody>
          <a:bodyPr wrap="square" lIns="0" tIns="0" rIns="0" bIns="0" rtlCol="0" anchor="t"/>
          <a:lstStyle/>
          <a:p>
            <a:pPr indent="0" marL="0">
              <a:buNone/>
            </a:pPr>
            <a:r>
              <a:rPr lang="en-US" sz="1800" b="1" dirty="0">
                <a:solidFill>
                  <a:schemeClr val="tx2"/>
                </a:solidFill>
              </a:rPr>
              <a:t>Hand over</a:t>
            </a:r>
            <a:endParaRPr lang="en-US" sz="1800" dirty="0"/>
          </a:p>
        </p:txBody>
      </p:sp>
      <p:sp>
        <p:nvSpPr>
          <p:cNvPr id="23" name="text-274"/>
          <p:cNvSpPr txBox="1"/>
          <p:nvPr/>
        </p:nvSpPr>
        <p:spPr>
          <a:xfrm>
            <a:off x="9692640" y="2971800"/>
            <a:ext cx="2103120" cy="1463040"/>
          </a:xfrm>
          <a:prstGeom prst="rect">
            <a:avLst/>
          </a:prstGeom>
          <a:noFill/>
          <a:ln/>
        </p:spPr>
        <p:txBody>
          <a:bodyPr wrap="square" lIns="0" tIns="0" rIns="0" bIns="0" rtlCol="0" anchor="t"/>
          <a:lstStyle/>
          <a:p>
            <a:pPr indent="0" marL="0">
              <a:buNone/>
            </a:pPr>
            <a:r>
              <a:rPr lang="en-US" sz="1400" dirty="0">
                <a:solidFill>
                  <a:schemeClr val="tx1"/>
                </a:solidFill>
              </a:rPr>
              <a:t>User and test guide; programs and texts ready to transport.</a:t>
            </a:r>
            <a:endParaRPr lang="en-US" sz="1400" dirty="0"/>
          </a:p>
        </p:txBody>
      </p:sp>
      <p:sp>
        <p:nvSpPr>
          <p:cNvPr id="24" name="card-275"/>
          <p:cNvSpPr/>
          <p:nvPr/>
        </p:nvSpPr>
        <p:spPr>
          <a:xfrm>
            <a:off x="548640" y="4617720"/>
            <a:ext cx="3520440" cy="1417320"/>
          </a:xfrm>
          <a:prstGeom prst="roundRect">
            <a:avLst>
              <a:gd name="adj" fmla="val 5161"/>
            </a:avLst>
          </a:prstGeom>
          <a:solidFill>
            <a:schemeClr val="bg2"/>
          </a:solidFill>
          <a:ln/>
        </p:spPr>
      </p:sp>
      <p:sp>
        <p:nvSpPr>
          <p:cNvPr id="25" name="text-276"/>
          <p:cNvSpPr txBox="1"/>
          <p:nvPr/>
        </p:nvSpPr>
        <p:spPr>
          <a:xfrm>
            <a:off x="822960" y="4754880"/>
            <a:ext cx="1371600" cy="1143000"/>
          </a:xfrm>
          <a:prstGeom prst="rect">
            <a:avLst/>
          </a:prstGeom>
          <a:noFill/>
          <a:ln/>
        </p:spPr>
        <p:txBody>
          <a:bodyPr wrap="square" lIns="0" tIns="0" rIns="0" bIns="0" rtlCol="0" anchor="ctr"/>
          <a:lstStyle/>
          <a:p>
            <a:pPr indent="0" marL="0">
              <a:buNone/>
            </a:pPr>
            <a:r>
              <a:rPr lang="en-US" sz="3600" b="1" dirty="0">
                <a:solidFill>
                  <a:schemeClr val="tx2"/>
                </a:solidFill>
              </a:rPr>
              <a:t>1,986</a:t>
            </a:r>
            <a:endParaRPr lang="en-US" sz="3600" dirty="0"/>
          </a:p>
        </p:txBody>
      </p:sp>
      <p:sp>
        <p:nvSpPr>
          <p:cNvPr id="26" name="text-277"/>
          <p:cNvSpPr txBox="1"/>
          <p:nvPr/>
        </p:nvSpPr>
        <p:spPr>
          <a:xfrm>
            <a:off x="2240280" y="4754880"/>
            <a:ext cx="1691640" cy="1143000"/>
          </a:xfrm>
          <a:prstGeom prst="rect">
            <a:avLst/>
          </a:prstGeom>
          <a:noFill/>
          <a:ln/>
        </p:spPr>
        <p:txBody>
          <a:bodyPr wrap="square" lIns="0" tIns="0" rIns="0" bIns="0" rtlCol="0" anchor="ctr"/>
          <a:lstStyle/>
          <a:p>
            <a:pPr indent="0" marL="0">
              <a:buNone/>
            </a:pPr>
            <a:r>
              <a:rPr lang="en-US" sz="1200" dirty="0">
                <a:solidFill>
                  <a:schemeClr val="tx1"/>
                </a:solidFill>
              </a:rPr>
              <a:t>template columns mapped from the client’s customer workbook</a:t>
            </a:r>
            <a:endParaRPr lang="en-US" sz="1200" dirty="0"/>
          </a:p>
        </p:txBody>
      </p:sp>
      <p:sp>
        <p:nvSpPr>
          <p:cNvPr id="27" name="card-278"/>
          <p:cNvSpPr/>
          <p:nvPr/>
        </p:nvSpPr>
        <p:spPr>
          <a:xfrm>
            <a:off x="4297680" y="4617720"/>
            <a:ext cx="3520440" cy="1417320"/>
          </a:xfrm>
          <a:prstGeom prst="roundRect">
            <a:avLst>
              <a:gd name="adj" fmla="val 5161"/>
            </a:avLst>
          </a:prstGeom>
          <a:solidFill>
            <a:schemeClr val="bg2"/>
          </a:solidFill>
          <a:ln/>
        </p:spPr>
      </p:sp>
      <p:sp>
        <p:nvSpPr>
          <p:cNvPr id="28" name="text-279"/>
          <p:cNvSpPr txBox="1"/>
          <p:nvPr/>
        </p:nvSpPr>
        <p:spPr>
          <a:xfrm>
            <a:off x="4572000" y="4754880"/>
            <a:ext cx="1371600" cy="1143000"/>
          </a:xfrm>
          <a:prstGeom prst="rect">
            <a:avLst/>
          </a:prstGeom>
          <a:noFill/>
          <a:ln/>
        </p:spPr>
        <p:txBody>
          <a:bodyPr wrap="square" lIns="0" tIns="0" rIns="0" bIns="0" rtlCol="0" anchor="ctr"/>
          <a:lstStyle/>
          <a:p>
            <a:pPr indent="0" marL="0">
              <a:buNone/>
            </a:pPr>
            <a:r>
              <a:rPr lang="en-US" sz="3600" b="1" dirty="0">
                <a:solidFill>
                  <a:schemeClr val="tx2"/>
                </a:solidFill>
              </a:rPr>
              <a:t>33</a:t>
            </a:r>
            <a:endParaRPr lang="en-US" sz="3600" dirty="0"/>
          </a:p>
        </p:txBody>
      </p:sp>
      <p:sp>
        <p:nvSpPr>
          <p:cNvPr id="29" name="text-280"/>
          <p:cNvSpPr txBox="1"/>
          <p:nvPr/>
        </p:nvSpPr>
        <p:spPr>
          <a:xfrm>
            <a:off x="5989320" y="4754880"/>
            <a:ext cx="1691640" cy="1143000"/>
          </a:xfrm>
          <a:prstGeom prst="rect">
            <a:avLst/>
          </a:prstGeom>
          <a:noFill/>
          <a:ln/>
        </p:spPr>
        <p:txBody>
          <a:bodyPr wrap="square" lIns="0" tIns="0" rIns="0" bIns="0" rtlCol="0" anchor="ctr"/>
          <a:lstStyle/>
          <a:p>
            <a:pPr indent="0" marL="0">
              <a:buNone/>
            </a:pPr>
            <a:r>
              <a:rPr lang="en-US" sz="1200" dirty="0">
                <a:solidFill>
                  <a:schemeClr val="tx1"/>
                </a:solidFill>
              </a:rPr>
              <a:t>user tests in the sign-off script, with expected results</a:t>
            </a:r>
            <a:endParaRPr lang="en-US" sz="1200" dirty="0"/>
          </a:p>
        </p:txBody>
      </p:sp>
      <p:sp>
        <p:nvSpPr>
          <p:cNvPr id="30" name="card-281"/>
          <p:cNvSpPr/>
          <p:nvPr/>
        </p:nvSpPr>
        <p:spPr>
          <a:xfrm>
            <a:off x="8046720" y="4617720"/>
            <a:ext cx="3520440" cy="1417320"/>
          </a:xfrm>
          <a:prstGeom prst="roundRect">
            <a:avLst>
              <a:gd name="adj" fmla="val 5161"/>
            </a:avLst>
          </a:prstGeom>
          <a:solidFill>
            <a:schemeClr val="bg2"/>
          </a:solidFill>
          <a:ln/>
        </p:spPr>
      </p:sp>
      <p:sp>
        <p:nvSpPr>
          <p:cNvPr id="31" name="text-282"/>
          <p:cNvSpPr txBox="1"/>
          <p:nvPr/>
        </p:nvSpPr>
        <p:spPr>
          <a:xfrm>
            <a:off x="8321040" y="4754880"/>
            <a:ext cx="1371600" cy="1143000"/>
          </a:xfrm>
          <a:prstGeom prst="rect">
            <a:avLst/>
          </a:prstGeom>
          <a:noFill/>
          <a:ln/>
        </p:spPr>
        <p:txBody>
          <a:bodyPr wrap="square" lIns="0" tIns="0" rIns="0" bIns="0" rtlCol="0" anchor="ctr"/>
          <a:lstStyle/>
          <a:p>
            <a:pPr indent="0" marL="0">
              <a:buNone/>
            </a:pPr>
            <a:r>
              <a:rPr lang="en-US" sz="3600" b="1" dirty="0">
                <a:solidFill>
                  <a:schemeClr val="tx2"/>
                </a:solidFill>
              </a:rPr>
              <a:t>0</a:t>
            </a:r>
            <a:endParaRPr lang="en-US" sz="3600" dirty="0"/>
          </a:p>
        </p:txBody>
      </p:sp>
      <p:sp>
        <p:nvSpPr>
          <p:cNvPr id="32" name="text-283"/>
          <p:cNvSpPr txBox="1"/>
          <p:nvPr/>
        </p:nvSpPr>
        <p:spPr>
          <a:xfrm>
            <a:off x="9738360" y="4754880"/>
            <a:ext cx="1691640" cy="1143000"/>
          </a:xfrm>
          <a:prstGeom prst="rect">
            <a:avLst/>
          </a:prstGeom>
          <a:noFill/>
          <a:ln/>
        </p:spPr>
        <p:txBody>
          <a:bodyPr wrap="square" lIns="0" tIns="0" rIns="0" bIns="0" rtlCol="0" anchor="ctr"/>
          <a:lstStyle/>
          <a:p>
            <a:pPr indent="0" marL="0">
              <a:buNone/>
            </a:pPr>
            <a:r>
              <a:rPr lang="en-US" sz="1200" dirty="0">
                <a:solidFill>
                  <a:schemeClr val="tx1"/>
                </a:solidFill>
              </a:rPr>
              <a:t>screen recordings - everything through standard interfaces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698480" cy="548640"/>
          </a:xfrm>
          <a:prstGeom prst="rect">
            <a:avLst/>
          </a:prstGeom>
          <a:noFill/>
          <a:ln/>
        </p:spPr>
        <p:txBody>
          <a:bodyPr wrap="square" lIns="0" tIns="0" rIns="0" bIns="0" rtlCol="0"/>
          <a:lstStyle/>
          <a:p>
            <a:pPr indent="0" marL="0">
              <a:buNone/>
            </a:pPr>
            <a:r>
              <a:rPr lang="en-US" sz="1800" b="1" dirty="0">
                <a:solidFill>
                  <a:schemeClr val="accent2"/>
                </a:solidFill>
              </a:rPr>
              <a:t>NEXT STEPS</a:t>
            </a:r>
            <a:endParaRPr lang="en-US" sz="1800" dirty="0"/>
          </a:p>
        </p:txBody>
      </p:sp>
      <p:sp>
        <p:nvSpPr>
          <p:cNvPr id="3" name="Text 0"/>
          <p:cNvSpPr/>
          <p:nvPr>
            <p:ph idx="101" type="title" hasCustomPrompt="1"/>
          </p:nvPr>
        </p:nvSpPr>
        <p:spPr>
          <a:xfrm>
            <a:off x="731520" y="265176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What we need from you to start</a:t>
            </a:r>
            <a:endParaRPr lang="en-US" sz="4000" dirty="0"/>
          </a:p>
        </p:txBody>
      </p:sp>
      <p:sp>
        <p:nvSpPr>
          <p:cNvPr id="4" name="dot-284"/>
          <p:cNvSpPr/>
          <p:nvPr/>
        </p:nvSpPr>
        <p:spPr>
          <a:xfrm>
            <a:off x="731520" y="3941064"/>
            <a:ext cx="274320" cy="274320"/>
          </a:xfrm>
          <a:prstGeom prst="ellipse">
            <a:avLst/>
          </a:prstGeom>
          <a:solidFill>
            <a:schemeClr val="accent2"/>
          </a:solidFill>
          <a:ln/>
        </p:spPr>
      </p:sp>
      <p:sp>
        <p:nvSpPr>
          <p:cNvPr id="5" name="text-285"/>
          <p:cNvSpPr txBox="1"/>
          <p:nvPr/>
        </p:nvSpPr>
        <p:spPr>
          <a:xfrm>
            <a:off x="1188720" y="3886200"/>
            <a:ext cx="4846320" cy="640080"/>
          </a:xfrm>
          <a:prstGeom prst="rect">
            <a:avLst/>
          </a:prstGeom>
          <a:noFill/>
          <a:ln/>
        </p:spPr>
        <p:txBody>
          <a:bodyPr wrap="square" lIns="0" tIns="0" rIns="0" bIns="0" rtlCol="0" anchor="t"/>
          <a:lstStyle/>
          <a:p>
            <a:pPr indent="0" marL="0">
              <a:buNone/>
            </a:pPr>
            <a:r>
              <a:rPr lang="en-US" sz="1500" dirty="0">
                <a:solidFill>
                  <a:schemeClr val="bg1"/>
                </a:solidFill>
              </a:rPr>
              <a:t>Your Excel templates - every country, account group and scenario in use</a:t>
            </a:r>
            <a:endParaRPr lang="en-US" sz="1500" dirty="0"/>
          </a:p>
        </p:txBody>
      </p:sp>
      <p:sp>
        <p:nvSpPr>
          <p:cNvPr id="6" name="dot-286"/>
          <p:cNvSpPr/>
          <p:nvPr/>
        </p:nvSpPr>
        <p:spPr>
          <a:xfrm>
            <a:off x="6217920" y="3941064"/>
            <a:ext cx="274320" cy="274320"/>
          </a:xfrm>
          <a:prstGeom prst="ellipse">
            <a:avLst/>
          </a:prstGeom>
          <a:solidFill>
            <a:schemeClr val="accent2"/>
          </a:solidFill>
          <a:ln/>
        </p:spPr>
      </p:sp>
      <p:sp>
        <p:nvSpPr>
          <p:cNvPr id="7" name="text-287"/>
          <p:cNvSpPr txBox="1"/>
          <p:nvPr/>
        </p:nvSpPr>
        <p:spPr>
          <a:xfrm>
            <a:off x="6675120" y="3886200"/>
            <a:ext cx="4846320" cy="640080"/>
          </a:xfrm>
          <a:prstGeom prst="rect">
            <a:avLst/>
          </a:prstGeom>
          <a:noFill/>
          <a:ln/>
        </p:spPr>
        <p:txBody>
          <a:bodyPr wrap="square" lIns="0" tIns="0" rIns="0" bIns="0" rtlCol="0" anchor="t"/>
          <a:lstStyle/>
          <a:p>
            <a:pPr indent="0" marL="0">
              <a:buNone/>
            </a:pPr>
            <a:r>
              <a:rPr lang="en-US" sz="1500" dirty="0">
                <a:solidFill>
                  <a:schemeClr val="bg1"/>
                </a:solidFill>
              </a:rPr>
              <a:t>Which objects are in scope: customers, vendors, or both</a:t>
            </a:r>
            <a:endParaRPr lang="en-US" sz="1500" dirty="0"/>
          </a:p>
        </p:txBody>
      </p:sp>
      <p:sp>
        <p:nvSpPr>
          <p:cNvPr id="8" name="dot-288"/>
          <p:cNvSpPr/>
          <p:nvPr/>
        </p:nvSpPr>
        <p:spPr>
          <a:xfrm>
            <a:off x="731520" y="4672584"/>
            <a:ext cx="274320" cy="274320"/>
          </a:xfrm>
          <a:prstGeom prst="ellipse">
            <a:avLst/>
          </a:prstGeom>
          <a:solidFill>
            <a:schemeClr val="accent2"/>
          </a:solidFill>
          <a:ln/>
        </p:spPr>
      </p:sp>
      <p:sp>
        <p:nvSpPr>
          <p:cNvPr id="9" name="text-289"/>
          <p:cNvSpPr txBox="1"/>
          <p:nvPr/>
        </p:nvSpPr>
        <p:spPr>
          <a:xfrm>
            <a:off x="1188720" y="4617720"/>
            <a:ext cx="4846320" cy="640080"/>
          </a:xfrm>
          <a:prstGeom prst="rect">
            <a:avLst/>
          </a:prstGeom>
          <a:noFill/>
          <a:ln/>
        </p:spPr>
        <p:txBody>
          <a:bodyPr wrap="square" lIns="0" tIns="0" rIns="0" bIns="0" rtlCol="0" anchor="t"/>
          <a:lstStyle/>
          <a:p>
            <a:pPr indent="0" marL="0">
              <a:buNone/>
            </a:pPr>
            <a:r>
              <a:rPr lang="en-US" sz="1500" dirty="0">
                <a:solidFill>
                  <a:schemeClr val="bg1"/>
                </a:solidFill>
              </a:rPr>
              <a:t>SAP release, and access to a development and a test system</a:t>
            </a:r>
            <a:endParaRPr lang="en-US" sz="1500" dirty="0"/>
          </a:p>
        </p:txBody>
      </p:sp>
      <p:sp>
        <p:nvSpPr>
          <p:cNvPr id="10" name="dot-290"/>
          <p:cNvSpPr/>
          <p:nvPr/>
        </p:nvSpPr>
        <p:spPr>
          <a:xfrm>
            <a:off x="6217920" y="4672584"/>
            <a:ext cx="274320" cy="274320"/>
          </a:xfrm>
          <a:prstGeom prst="ellipse">
            <a:avLst/>
          </a:prstGeom>
          <a:solidFill>
            <a:schemeClr val="accent2"/>
          </a:solidFill>
          <a:ln/>
        </p:spPr>
      </p:sp>
      <p:sp>
        <p:nvSpPr>
          <p:cNvPr id="11" name="text-291"/>
          <p:cNvSpPr txBox="1"/>
          <p:nvPr/>
        </p:nvSpPr>
        <p:spPr>
          <a:xfrm>
            <a:off x="6675120" y="4617720"/>
            <a:ext cx="4846320" cy="640080"/>
          </a:xfrm>
          <a:prstGeom prst="rect">
            <a:avLst/>
          </a:prstGeom>
          <a:noFill/>
          <a:ln/>
        </p:spPr>
        <p:txBody>
          <a:bodyPr wrap="square" lIns="0" tIns="0" rIns="0" bIns="0" rtlCol="0" anchor="t"/>
          <a:lstStyle/>
          <a:p>
            <a:pPr indent="0" marL="0">
              <a:buNone/>
            </a:pPr>
            <a:r>
              <a:rPr lang="en-US" sz="1500" dirty="0">
                <a:solidFill>
                  <a:schemeClr val="bg1"/>
                </a:solidFill>
              </a:rPr>
              <a:t>Account groups, BP groupings and number ranges</a:t>
            </a:r>
            <a:endParaRPr lang="en-US" sz="1500" dirty="0"/>
          </a:p>
        </p:txBody>
      </p:sp>
      <p:sp>
        <p:nvSpPr>
          <p:cNvPr id="12" name="dot-292"/>
          <p:cNvSpPr/>
          <p:nvPr/>
        </p:nvSpPr>
        <p:spPr>
          <a:xfrm>
            <a:off x="731520" y="5404104"/>
            <a:ext cx="274320" cy="274320"/>
          </a:xfrm>
          <a:prstGeom prst="ellipse">
            <a:avLst/>
          </a:prstGeom>
          <a:solidFill>
            <a:schemeClr val="accent2"/>
          </a:solidFill>
          <a:ln/>
        </p:spPr>
      </p:sp>
      <p:sp>
        <p:nvSpPr>
          <p:cNvPr id="13" name="text-293"/>
          <p:cNvSpPr txBox="1"/>
          <p:nvPr/>
        </p:nvSpPr>
        <p:spPr>
          <a:xfrm>
            <a:off x="1188720" y="5349240"/>
            <a:ext cx="4846320" cy="640080"/>
          </a:xfrm>
          <a:prstGeom prst="rect">
            <a:avLst/>
          </a:prstGeom>
          <a:noFill/>
          <a:ln/>
        </p:spPr>
        <p:txBody>
          <a:bodyPr wrap="square" lIns="0" tIns="0" rIns="0" bIns="0" rtlCol="0" anchor="t"/>
          <a:lstStyle/>
          <a:p>
            <a:pPr indent="0" marL="0">
              <a:buNone/>
            </a:pPr>
            <a:r>
              <a:rPr lang="en-US" sz="1500" dirty="0">
                <a:solidFill>
                  <a:schemeClr val="bg1"/>
                </a:solidFill>
              </a:rPr>
              <a:t>Sample data for testing</a:t>
            </a:r>
            <a:endParaRPr lang="en-US" sz="1500" dirty="0"/>
          </a:p>
        </p:txBody>
      </p:sp>
      <p:sp>
        <p:nvSpPr>
          <p:cNvPr id="14" name="dot-294"/>
          <p:cNvSpPr/>
          <p:nvPr/>
        </p:nvSpPr>
        <p:spPr>
          <a:xfrm>
            <a:off x="6217920" y="5404104"/>
            <a:ext cx="274320" cy="274320"/>
          </a:xfrm>
          <a:prstGeom prst="ellipse">
            <a:avLst/>
          </a:prstGeom>
          <a:solidFill>
            <a:schemeClr val="accent2"/>
          </a:solidFill>
          <a:ln/>
        </p:spPr>
      </p:sp>
      <p:sp>
        <p:nvSpPr>
          <p:cNvPr id="15" name="text-295"/>
          <p:cNvSpPr txBox="1"/>
          <p:nvPr/>
        </p:nvSpPr>
        <p:spPr>
          <a:xfrm>
            <a:off x="6675120" y="5349240"/>
            <a:ext cx="4846320" cy="640080"/>
          </a:xfrm>
          <a:prstGeom prst="rect">
            <a:avLst/>
          </a:prstGeom>
          <a:noFill/>
          <a:ln/>
        </p:spPr>
        <p:txBody>
          <a:bodyPr wrap="square" lIns="0" tIns="0" rIns="0" bIns="0" rtlCol="0" anchor="t"/>
          <a:lstStyle/>
          <a:p>
            <a:pPr indent="0" marL="0">
              <a:buNone/>
            </a:pPr>
            <a:r>
              <a:rPr lang="en-US" sz="1500" dirty="0">
                <a:solidFill>
                  <a:schemeClr val="bg1"/>
                </a:solidFill>
              </a:rPr>
              <a:t>A business contact to confirm the field mapping</a:t>
            </a:r>
            <a:endParaRPr lang="en-US" sz="1500" dirty="0"/>
          </a:p>
        </p:txBody>
      </p:sp>
    </p:spTree>
  </p:cSld>
  <p:clrMapOvr>
    <a:masterClrMapping/>
  </p:clrMapOvr>
</p:sld>
</file>

<file path=ppt/theme/theme1.xml><?xml version="1.0" encoding="utf-8"?>
<a:theme xmlns:a="http://schemas.openxmlformats.org/drawingml/2006/main" name="Master Data Teal">
  <a:themeElements>
    <a:clrScheme name="Master Data Teal">
      <a:dk1>
        <a:srgbClr val="1B2B34"/>
      </a:dk1>
      <a:lt1>
        <a:srgbClr val="FFFFFF"/>
      </a:lt1>
      <a:dk2>
        <a:srgbClr val="0E4D64"/>
      </a:dk2>
      <a:lt2>
        <a:srgbClr val="EAF2F4"/>
      </a:lt2>
      <a:accent1>
        <a:srgbClr val="137C8B"/>
      </a:accent1>
      <a:accent2>
        <a:srgbClr val="E8A33D"/>
      </a:accent2>
      <a:accent3>
        <a:srgbClr val="2E8B57"/>
      </a:accent3>
      <a:accent4>
        <a:srgbClr val="C0392B"/>
      </a:accent4>
      <a:accent5>
        <a:srgbClr val="6C7A89"/>
      </a:accent5>
      <a:accent6>
        <a:srgbClr val="0E4D64"/>
      </a:accent6>
      <a:hlink>
        <a:srgbClr val="137C8B"/>
      </a:hlink>
      <a:folHlink>
        <a:srgbClr val="6C7A89"/>
      </a:folHlink>
    </a:clrScheme>
    <a:fontScheme name="Master Data Te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and Vendor Master Data in SAP S/4HANA</dc:title>
  <dc:subject>PptxGenJS Presentation</dc:subject>
  <dc:creator>SAP project team</dc:creator>
  <cp:lastModifiedBy>SAP project team</cp:lastModifiedBy>
  <cp:revision>1</cp:revision>
  <dcterms:created xsi:type="dcterms:W3CDTF">2026-10-14T03:26:07Z</dcterms:created>
  <dcterms:modified xsi:type="dcterms:W3CDTF">2026-10-14T03:26:07Z</dcterms:modified>
</cp:coreProperties>
</file>