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3" r:id="rId1"/>
  </p:sldMasterIdLst>
  <p:notesMasterIdLst>
    <p:notesMasterId r:id="rId24"/>
  </p:notesMasterIdLst>
  <p:sldIdLst>
    <p:sldId id="256" r:id="rId2"/>
    <p:sldId id="257" r:id="rId3"/>
    <p:sldId id="258" r:id="rId4"/>
    <p:sldId id="288" r:id="rId5"/>
    <p:sldId id="259" r:id="rId6"/>
    <p:sldId id="268" r:id="rId7"/>
    <p:sldId id="262" r:id="rId8"/>
    <p:sldId id="269" r:id="rId9"/>
    <p:sldId id="264" r:id="rId10"/>
    <p:sldId id="270" r:id="rId11"/>
    <p:sldId id="272" r:id="rId12"/>
    <p:sldId id="278" r:id="rId13"/>
    <p:sldId id="260" r:id="rId14"/>
    <p:sldId id="261" r:id="rId15"/>
    <p:sldId id="291" r:id="rId16"/>
    <p:sldId id="296" r:id="rId17"/>
    <p:sldId id="297" r:id="rId18"/>
    <p:sldId id="298" r:id="rId19"/>
    <p:sldId id="295" r:id="rId20"/>
    <p:sldId id="265" r:id="rId21"/>
    <p:sldId id="287" r:id="rId22"/>
    <p:sldId id="267" r:id="rId23"/>
  </p:sldIdLst>
  <p:sldSz cx="9144000" cy="6858000" type="screen4x3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D84BC-10E2-4637-BAEF-FD1EBDD18311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FC43D81-EAC4-49C3-AC63-EEB6D9838A7B}" type="pres">
      <dgm:prSet presAssocID="{A5CD84BC-10E2-4637-BAEF-FD1EBDD18311}" presName="Name0" presStyleCnt="0">
        <dgm:presLayoutVars>
          <dgm:resizeHandles/>
        </dgm:presLayoutVars>
      </dgm:prSet>
      <dgm:spPr/>
    </dgm:pt>
  </dgm:ptLst>
  <dgm:cxnLst>
    <dgm:cxn modelId="{AA0D8711-671D-4879-A790-977AD0A1B8FF}" type="presOf" srcId="{A5CD84BC-10E2-4637-BAEF-FD1EBDD18311}" destId="{6FC43D81-EAC4-49C3-AC63-EEB6D9838A7B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4E5E80-5A70-4A7B-9D08-966B5B24EE44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7DD769-04EA-4E27-8C18-9CF42C989B9F}">
      <dgm:prSet phldrT="[Text]" phldr="0"/>
      <dgm:spPr/>
      <dgm:t>
        <a:bodyPr/>
        <a:lstStyle/>
        <a:p>
          <a:endParaRPr lang="en-IN" dirty="0"/>
        </a:p>
      </dgm:t>
    </dgm:pt>
    <dgm:pt modelId="{305075B1-9762-41DC-98E2-6AFFF07F3D0C}" type="parTrans" cxnId="{5D373A77-47D1-4BEE-AB12-E04CD0A21E43}">
      <dgm:prSet/>
      <dgm:spPr/>
      <dgm:t>
        <a:bodyPr/>
        <a:lstStyle/>
        <a:p>
          <a:endParaRPr lang="en-IN"/>
        </a:p>
      </dgm:t>
    </dgm:pt>
    <dgm:pt modelId="{8269D786-CA22-4FD2-8E65-90B04DD7059D}" type="sibTrans" cxnId="{5D373A77-47D1-4BEE-AB12-E04CD0A21E43}">
      <dgm:prSet/>
      <dgm:spPr/>
      <dgm:t>
        <a:bodyPr/>
        <a:lstStyle/>
        <a:p>
          <a:endParaRPr lang="en-IN"/>
        </a:p>
      </dgm:t>
    </dgm:pt>
    <dgm:pt modelId="{A0918EAC-D7C9-4FAB-B0CB-B9F7ADE6F237}">
      <dgm:prSet phldrT="[Text]" custT="1"/>
      <dgm:spPr/>
      <dgm:t>
        <a:bodyPr/>
        <a:lstStyle/>
        <a:p>
          <a:r>
            <a:rPr lang="en-IN" sz="2000" dirty="0"/>
            <a:t>CGM (CO PMG) Approval</a:t>
          </a:r>
        </a:p>
      </dgm:t>
    </dgm:pt>
    <dgm:pt modelId="{07826A4C-57AC-4555-8551-620B6D2AE3CE}" type="parTrans" cxnId="{ABA37967-B2E9-4C69-9AE8-7F40DC82A26D}">
      <dgm:prSet/>
      <dgm:spPr/>
      <dgm:t>
        <a:bodyPr/>
        <a:lstStyle/>
        <a:p>
          <a:endParaRPr lang="en-IN"/>
        </a:p>
      </dgm:t>
    </dgm:pt>
    <dgm:pt modelId="{5171D376-066A-469B-A7EA-EE597A1B2200}" type="sibTrans" cxnId="{ABA37967-B2E9-4C69-9AE8-7F40DC82A26D}">
      <dgm:prSet/>
      <dgm:spPr/>
      <dgm:t>
        <a:bodyPr/>
        <a:lstStyle/>
        <a:p>
          <a:endParaRPr lang="en-IN"/>
        </a:p>
      </dgm:t>
    </dgm:pt>
    <dgm:pt modelId="{F351DBBE-C61F-41B7-A5FE-DFC6F355402C}">
      <dgm:prSet phldrT="[Text]" phldr="0"/>
      <dgm:spPr/>
      <dgm:t>
        <a:bodyPr/>
        <a:lstStyle/>
        <a:p>
          <a:endParaRPr lang="en-IN" dirty="0"/>
        </a:p>
      </dgm:t>
    </dgm:pt>
    <dgm:pt modelId="{F5C401A7-DFD7-448E-A4A5-ABDC54415788}" type="parTrans" cxnId="{E2FC4272-CD01-4AAC-B9AC-9BA27521FE0E}">
      <dgm:prSet/>
      <dgm:spPr/>
      <dgm:t>
        <a:bodyPr/>
        <a:lstStyle/>
        <a:p>
          <a:endParaRPr lang="en-IN"/>
        </a:p>
      </dgm:t>
    </dgm:pt>
    <dgm:pt modelId="{A8BE3B4B-3DF1-426D-993C-5DB6BDFA6713}" type="sibTrans" cxnId="{E2FC4272-CD01-4AAC-B9AC-9BA27521FE0E}">
      <dgm:prSet/>
      <dgm:spPr/>
      <dgm:t>
        <a:bodyPr/>
        <a:lstStyle/>
        <a:p>
          <a:endParaRPr lang="en-IN"/>
        </a:p>
      </dgm:t>
    </dgm:pt>
    <dgm:pt modelId="{3314CACD-0F49-4E31-B8FB-CA5F878936EF}">
      <dgm:prSet phldrT="[Text]" custT="1"/>
      <dgm:spPr/>
      <dgm:t>
        <a:bodyPr/>
        <a:lstStyle/>
        <a:p>
          <a:r>
            <a:rPr lang="en-IN" sz="2000" dirty="0"/>
            <a:t>Send Approval to CPC Head for Discount disbursal Approval</a:t>
          </a:r>
        </a:p>
      </dgm:t>
    </dgm:pt>
    <dgm:pt modelId="{141D7CB5-461A-40F2-9CB4-B6EDC749D7A6}" type="parTrans" cxnId="{4AA8F251-A383-4459-852F-C20329BF19FC}">
      <dgm:prSet/>
      <dgm:spPr/>
      <dgm:t>
        <a:bodyPr/>
        <a:lstStyle/>
        <a:p>
          <a:endParaRPr lang="en-IN"/>
        </a:p>
      </dgm:t>
    </dgm:pt>
    <dgm:pt modelId="{FC658839-871F-4A0F-9484-77D2D08BCFB2}" type="sibTrans" cxnId="{4AA8F251-A383-4459-852F-C20329BF19FC}">
      <dgm:prSet/>
      <dgm:spPr/>
      <dgm:t>
        <a:bodyPr/>
        <a:lstStyle/>
        <a:p>
          <a:endParaRPr lang="en-IN"/>
        </a:p>
      </dgm:t>
    </dgm:pt>
    <dgm:pt modelId="{69B0D75B-15E3-4328-95FE-C05DB338C2BE}" type="pres">
      <dgm:prSet presAssocID="{EA4E5E80-5A70-4A7B-9D08-966B5B24EE44}" presName="Name0" presStyleCnt="0">
        <dgm:presLayoutVars>
          <dgm:dir/>
          <dgm:animLvl val="lvl"/>
          <dgm:resizeHandles val="exact"/>
        </dgm:presLayoutVars>
      </dgm:prSet>
      <dgm:spPr/>
    </dgm:pt>
    <dgm:pt modelId="{6678A7DA-1203-45F8-AA59-E5EA45653C8F}" type="pres">
      <dgm:prSet presAssocID="{F57DD769-04EA-4E27-8C18-9CF42C989B9F}" presName="linNode" presStyleCnt="0"/>
      <dgm:spPr/>
    </dgm:pt>
    <dgm:pt modelId="{189FA43D-C922-4606-9E40-82744D78C168}" type="pres">
      <dgm:prSet presAssocID="{F57DD769-04EA-4E27-8C18-9CF42C989B9F}" presName="parTx" presStyleLbl="revTx" presStyleIdx="0" presStyleCnt="2">
        <dgm:presLayoutVars>
          <dgm:chMax val="1"/>
          <dgm:bulletEnabled val="1"/>
        </dgm:presLayoutVars>
      </dgm:prSet>
      <dgm:spPr/>
    </dgm:pt>
    <dgm:pt modelId="{B7945013-0B13-4759-BBF8-7AB4EA865ADA}" type="pres">
      <dgm:prSet presAssocID="{F57DD769-04EA-4E27-8C18-9CF42C989B9F}" presName="bracket" presStyleLbl="parChTrans1D1" presStyleIdx="0" presStyleCnt="2"/>
      <dgm:spPr/>
    </dgm:pt>
    <dgm:pt modelId="{8734EFD5-19AC-473E-AB3B-C8352F3D6D77}" type="pres">
      <dgm:prSet presAssocID="{F57DD769-04EA-4E27-8C18-9CF42C989B9F}" presName="spH" presStyleCnt="0"/>
      <dgm:spPr/>
    </dgm:pt>
    <dgm:pt modelId="{B49A13DB-2EDE-4B32-ADEB-887ACA6499FD}" type="pres">
      <dgm:prSet presAssocID="{F57DD769-04EA-4E27-8C18-9CF42C989B9F}" presName="desTx" presStyleLbl="node1" presStyleIdx="0" presStyleCnt="2" custLinFactNeighborX="-65063" custLinFactNeighborY="5567">
        <dgm:presLayoutVars>
          <dgm:bulletEnabled val="1"/>
        </dgm:presLayoutVars>
      </dgm:prSet>
      <dgm:spPr/>
    </dgm:pt>
    <dgm:pt modelId="{27AE5CAD-DA03-44BF-8774-4259B9467623}" type="pres">
      <dgm:prSet presAssocID="{8269D786-CA22-4FD2-8E65-90B04DD7059D}" presName="spV" presStyleCnt="0"/>
      <dgm:spPr/>
    </dgm:pt>
    <dgm:pt modelId="{17746890-4840-49DB-AEE5-F8F0CE283779}" type="pres">
      <dgm:prSet presAssocID="{F351DBBE-C61F-41B7-A5FE-DFC6F355402C}" presName="linNode" presStyleCnt="0"/>
      <dgm:spPr/>
    </dgm:pt>
    <dgm:pt modelId="{5C2C8D1A-BF5D-416B-9443-5DE4F86764EF}" type="pres">
      <dgm:prSet presAssocID="{F351DBBE-C61F-41B7-A5FE-DFC6F355402C}" presName="parTx" presStyleLbl="revTx" presStyleIdx="1" presStyleCnt="2">
        <dgm:presLayoutVars>
          <dgm:chMax val="1"/>
          <dgm:bulletEnabled val="1"/>
        </dgm:presLayoutVars>
      </dgm:prSet>
      <dgm:spPr/>
    </dgm:pt>
    <dgm:pt modelId="{511EF05A-D3C4-4AB6-8E25-A8971DF2A0EF}" type="pres">
      <dgm:prSet presAssocID="{F351DBBE-C61F-41B7-A5FE-DFC6F355402C}" presName="bracket" presStyleLbl="parChTrans1D1" presStyleIdx="1" presStyleCnt="2"/>
      <dgm:spPr/>
    </dgm:pt>
    <dgm:pt modelId="{67AB1788-A6B2-4578-9E03-A642C1618475}" type="pres">
      <dgm:prSet presAssocID="{F351DBBE-C61F-41B7-A5FE-DFC6F355402C}" presName="spH" presStyleCnt="0"/>
      <dgm:spPr/>
    </dgm:pt>
    <dgm:pt modelId="{F6845BAA-49DE-477E-9E50-3691D941D787}" type="pres">
      <dgm:prSet presAssocID="{F351DBBE-C61F-41B7-A5FE-DFC6F355402C}" presName="desTx" presStyleLbl="node1" presStyleIdx="1" presStyleCnt="2" custLinFactNeighborX="-65063" custLinFactNeighborY="-1118">
        <dgm:presLayoutVars>
          <dgm:bulletEnabled val="1"/>
        </dgm:presLayoutVars>
      </dgm:prSet>
      <dgm:spPr/>
    </dgm:pt>
  </dgm:ptLst>
  <dgm:cxnLst>
    <dgm:cxn modelId="{BBADA115-2474-4717-955D-4063904A3C48}" type="presOf" srcId="{3314CACD-0F49-4E31-B8FB-CA5F878936EF}" destId="{F6845BAA-49DE-477E-9E50-3691D941D787}" srcOrd="0" destOrd="0" presId="urn:diagrams.loki3.com/BracketList"/>
    <dgm:cxn modelId="{E7ABD216-6144-41DF-BD90-5B8226F5FB08}" type="presOf" srcId="{F351DBBE-C61F-41B7-A5FE-DFC6F355402C}" destId="{5C2C8D1A-BF5D-416B-9443-5DE4F86764EF}" srcOrd="0" destOrd="0" presId="urn:diagrams.loki3.com/BracketList"/>
    <dgm:cxn modelId="{80E4835E-2BF2-4E0E-8E88-ACC351A41AC9}" type="presOf" srcId="{EA4E5E80-5A70-4A7B-9D08-966B5B24EE44}" destId="{69B0D75B-15E3-4328-95FE-C05DB338C2BE}" srcOrd="0" destOrd="0" presId="urn:diagrams.loki3.com/BracketList"/>
    <dgm:cxn modelId="{ABA37967-B2E9-4C69-9AE8-7F40DC82A26D}" srcId="{F57DD769-04EA-4E27-8C18-9CF42C989B9F}" destId="{A0918EAC-D7C9-4FAB-B0CB-B9F7ADE6F237}" srcOrd="0" destOrd="0" parTransId="{07826A4C-57AC-4555-8551-620B6D2AE3CE}" sibTransId="{5171D376-066A-469B-A7EA-EE597A1B2200}"/>
    <dgm:cxn modelId="{4AA8F251-A383-4459-852F-C20329BF19FC}" srcId="{F351DBBE-C61F-41B7-A5FE-DFC6F355402C}" destId="{3314CACD-0F49-4E31-B8FB-CA5F878936EF}" srcOrd="0" destOrd="0" parTransId="{141D7CB5-461A-40F2-9CB4-B6EDC749D7A6}" sibTransId="{FC658839-871F-4A0F-9484-77D2D08BCFB2}"/>
    <dgm:cxn modelId="{E2FC4272-CD01-4AAC-B9AC-9BA27521FE0E}" srcId="{EA4E5E80-5A70-4A7B-9D08-966B5B24EE44}" destId="{F351DBBE-C61F-41B7-A5FE-DFC6F355402C}" srcOrd="1" destOrd="0" parTransId="{F5C401A7-DFD7-448E-A4A5-ABDC54415788}" sibTransId="{A8BE3B4B-3DF1-426D-993C-5DB6BDFA6713}"/>
    <dgm:cxn modelId="{5D373A77-47D1-4BEE-AB12-E04CD0A21E43}" srcId="{EA4E5E80-5A70-4A7B-9D08-966B5B24EE44}" destId="{F57DD769-04EA-4E27-8C18-9CF42C989B9F}" srcOrd="0" destOrd="0" parTransId="{305075B1-9762-41DC-98E2-6AFFF07F3D0C}" sibTransId="{8269D786-CA22-4FD2-8E65-90B04DD7059D}"/>
    <dgm:cxn modelId="{C996E157-8590-4BEF-B260-C91DAC3FABFB}" type="presOf" srcId="{A0918EAC-D7C9-4FAB-B0CB-B9F7ADE6F237}" destId="{B49A13DB-2EDE-4B32-ADEB-887ACA6499FD}" srcOrd="0" destOrd="0" presId="urn:diagrams.loki3.com/BracketList"/>
    <dgm:cxn modelId="{33471BD8-5C43-4F0A-903E-20BF06FC1790}" type="presOf" srcId="{F57DD769-04EA-4E27-8C18-9CF42C989B9F}" destId="{189FA43D-C922-4606-9E40-82744D78C168}" srcOrd="0" destOrd="0" presId="urn:diagrams.loki3.com/BracketList"/>
    <dgm:cxn modelId="{57C20431-F6C1-4981-B11D-CD96F9C13FE6}" type="presParOf" srcId="{69B0D75B-15E3-4328-95FE-C05DB338C2BE}" destId="{6678A7DA-1203-45F8-AA59-E5EA45653C8F}" srcOrd="0" destOrd="0" presId="urn:diagrams.loki3.com/BracketList"/>
    <dgm:cxn modelId="{EBCDFD61-322B-4DC3-B84C-609C6CC1A46D}" type="presParOf" srcId="{6678A7DA-1203-45F8-AA59-E5EA45653C8F}" destId="{189FA43D-C922-4606-9E40-82744D78C168}" srcOrd="0" destOrd="0" presId="urn:diagrams.loki3.com/BracketList"/>
    <dgm:cxn modelId="{40B25F62-8EF1-42CE-A146-5E66A3B77C76}" type="presParOf" srcId="{6678A7DA-1203-45F8-AA59-E5EA45653C8F}" destId="{B7945013-0B13-4759-BBF8-7AB4EA865ADA}" srcOrd="1" destOrd="0" presId="urn:diagrams.loki3.com/BracketList"/>
    <dgm:cxn modelId="{46BD56FE-9011-4A4A-AD55-CEAB29B41F79}" type="presParOf" srcId="{6678A7DA-1203-45F8-AA59-E5EA45653C8F}" destId="{8734EFD5-19AC-473E-AB3B-C8352F3D6D77}" srcOrd="2" destOrd="0" presId="urn:diagrams.loki3.com/BracketList"/>
    <dgm:cxn modelId="{7762E080-6F33-4EB0-8ED6-BCDC19FA74EC}" type="presParOf" srcId="{6678A7DA-1203-45F8-AA59-E5EA45653C8F}" destId="{B49A13DB-2EDE-4B32-ADEB-887ACA6499FD}" srcOrd="3" destOrd="0" presId="urn:diagrams.loki3.com/BracketList"/>
    <dgm:cxn modelId="{3807567D-8ECE-4A27-8EEB-4BFFA30043F7}" type="presParOf" srcId="{69B0D75B-15E3-4328-95FE-C05DB338C2BE}" destId="{27AE5CAD-DA03-44BF-8774-4259B9467623}" srcOrd="1" destOrd="0" presId="urn:diagrams.loki3.com/BracketList"/>
    <dgm:cxn modelId="{A111F8FC-0A35-4CD0-9189-CC2C4B343FEB}" type="presParOf" srcId="{69B0D75B-15E3-4328-95FE-C05DB338C2BE}" destId="{17746890-4840-49DB-AEE5-F8F0CE283779}" srcOrd="2" destOrd="0" presId="urn:diagrams.loki3.com/BracketList"/>
    <dgm:cxn modelId="{596404A9-1B9D-4312-AE47-C54B425D5B7E}" type="presParOf" srcId="{17746890-4840-49DB-AEE5-F8F0CE283779}" destId="{5C2C8D1A-BF5D-416B-9443-5DE4F86764EF}" srcOrd="0" destOrd="0" presId="urn:diagrams.loki3.com/BracketList"/>
    <dgm:cxn modelId="{D58EFD97-E51A-4AE7-8935-CCC39DFFC7B9}" type="presParOf" srcId="{17746890-4840-49DB-AEE5-F8F0CE283779}" destId="{511EF05A-D3C4-4AB6-8E25-A8971DF2A0EF}" srcOrd="1" destOrd="0" presId="urn:diagrams.loki3.com/BracketList"/>
    <dgm:cxn modelId="{F9EE95E9-0588-4979-8D06-3C3E2CFCA146}" type="presParOf" srcId="{17746890-4840-49DB-AEE5-F8F0CE283779}" destId="{67AB1788-A6B2-4578-9E03-A642C1618475}" srcOrd="2" destOrd="0" presId="urn:diagrams.loki3.com/BracketList"/>
    <dgm:cxn modelId="{24A48D6B-1236-433B-9361-CB87692EBC15}" type="presParOf" srcId="{17746890-4840-49DB-AEE5-F8F0CE283779}" destId="{F6845BAA-49DE-477E-9E50-3691D941D787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4E5E80-5A70-4A7B-9D08-966B5B24EE44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7DD769-04EA-4E27-8C18-9CF42C989B9F}">
      <dgm:prSet phldrT="[Text]" phldr="0"/>
      <dgm:spPr/>
      <dgm:t>
        <a:bodyPr/>
        <a:lstStyle/>
        <a:p>
          <a:endParaRPr lang="en-IN" dirty="0"/>
        </a:p>
      </dgm:t>
    </dgm:pt>
    <dgm:pt modelId="{305075B1-9762-41DC-98E2-6AFFF07F3D0C}" type="parTrans" cxnId="{5D373A77-47D1-4BEE-AB12-E04CD0A21E43}">
      <dgm:prSet/>
      <dgm:spPr/>
      <dgm:t>
        <a:bodyPr/>
        <a:lstStyle/>
        <a:p>
          <a:endParaRPr lang="en-IN"/>
        </a:p>
      </dgm:t>
    </dgm:pt>
    <dgm:pt modelId="{8269D786-CA22-4FD2-8E65-90B04DD7059D}" type="sibTrans" cxnId="{5D373A77-47D1-4BEE-AB12-E04CD0A21E43}">
      <dgm:prSet/>
      <dgm:spPr/>
      <dgm:t>
        <a:bodyPr/>
        <a:lstStyle/>
        <a:p>
          <a:endParaRPr lang="en-IN"/>
        </a:p>
      </dgm:t>
    </dgm:pt>
    <dgm:pt modelId="{A0918EAC-D7C9-4FAB-B0CB-B9F7ADE6F237}">
      <dgm:prSet phldrT="[Text]" custT="1"/>
      <dgm:spPr/>
      <dgm:t>
        <a:bodyPr/>
        <a:lstStyle/>
        <a:p>
          <a:r>
            <a:rPr lang="en-IN" sz="2000" dirty="0"/>
            <a:t>ZOIC Approval</a:t>
          </a:r>
        </a:p>
      </dgm:t>
    </dgm:pt>
    <dgm:pt modelId="{07826A4C-57AC-4555-8551-620B6D2AE3CE}" type="parTrans" cxnId="{ABA37967-B2E9-4C69-9AE8-7F40DC82A26D}">
      <dgm:prSet/>
      <dgm:spPr/>
      <dgm:t>
        <a:bodyPr/>
        <a:lstStyle/>
        <a:p>
          <a:endParaRPr lang="en-IN"/>
        </a:p>
      </dgm:t>
    </dgm:pt>
    <dgm:pt modelId="{5171D376-066A-469B-A7EA-EE597A1B2200}" type="sibTrans" cxnId="{ABA37967-B2E9-4C69-9AE8-7F40DC82A26D}">
      <dgm:prSet/>
      <dgm:spPr/>
      <dgm:t>
        <a:bodyPr/>
        <a:lstStyle/>
        <a:p>
          <a:endParaRPr lang="en-IN"/>
        </a:p>
      </dgm:t>
    </dgm:pt>
    <dgm:pt modelId="{F351DBBE-C61F-41B7-A5FE-DFC6F355402C}">
      <dgm:prSet phldrT="[Text]" phldr="0"/>
      <dgm:spPr/>
      <dgm:t>
        <a:bodyPr/>
        <a:lstStyle/>
        <a:p>
          <a:endParaRPr lang="en-IN" dirty="0"/>
        </a:p>
      </dgm:t>
    </dgm:pt>
    <dgm:pt modelId="{F5C401A7-DFD7-448E-A4A5-ABDC54415788}" type="parTrans" cxnId="{E2FC4272-CD01-4AAC-B9AC-9BA27521FE0E}">
      <dgm:prSet/>
      <dgm:spPr/>
      <dgm:t>
        <a:bodyPr/>
        <a:lstStyle/>
        <a:p>
          <a:endParaRPr lang="en-IN"/>
        </a:p>
      </dgm:t>
    </dgm:pt>
    <dgm:pt modelId="{A8BE3B4B-3DF1-426D-993C-5DB6BDFA6713}" type="sibTrans" cxnId="{E2FC4272-CD01-4AAC-B9AC-9BA27521FE0E}">
      <dgm:prSet/>
      <dgm:spPr/>
      <dgm:t>
        <a:bodyPr/>
        <a:lstStyle/>
        <a:p>
          <a:endParaRPr lang="en-IN"/>
        </a:p>
      </dgm:t>
    </dgm:pt>
    <dgm:pt modelId="{3314CACD-0F49-4E31-B8FB-CA5F878936EF}">
      <dgm:prSet phldrT="[Text]" custT="1"/>
      <dgm:spPr/>
      <dgm:t>
        <a:bodyPr/>
        <a:lstStyle/>
        <a:p>
          <a:r>
            <a:rPr lang="en-IN" sz="2000" dirty="0"/>
            <a:t>Send Approval to CPC Head for Discount disbursal Approval</a:t>
          </a:r>
        </a:p>
      </dgm:t>
    </dgm:pt>
    <dgm:pt modelId="{141D7CB5-461A-40F2-9CB4-B6EDC749D7A6}" type="parTrans" cxnId="{4AA8F251-A383-4459-852F-C20329BF19FC}">
      <dgm:prSet/>
      <dgm:spPr/>
      <dgm:t>
        <a:bodyPr/>
        <a:lstStyle/>
        <a:p>
          <a:endParaRPr lang="en-IN"/>
        </a:p>
      </dgm:t>
    </dgm:pt>
    <dgm:pt modelId="{FC658839-871F-4A0F-9484-77D2D08BCFB2}" type="sibTrans" cxnId="{4AA8F251-A383-4459-852F-C20329BF19FC}">
      <dgm:prSet/>
      <dgm:spPr/>
      <dgm:t>
        <a:bodyPr/>
        <a:lstStyle/>
        <a:p>
          <a:endParaRPr lang="en-IN"/>
        </a:p>
      </dgm:t>
    </dgm:pt>
    <dgm:pt modelId="{69B0D75B-15E3-4328-95FE-C05DB338C2BE}" type="pres">
      <dgm:prSet presAssocID="{EA4E5E80-5A70-4A7B-9D08-966B5B24EE44}" presName="Name0" presStyleCnt="0">
        <dgm:presLayoutVars>
          <dgm:dir/>
          <dgm:animLvl val="lvl"/>
          <dgm:resizeHandles val="exact"/>
        </dgm:presLayoutVars>
      </dgm:prSet>
      <dgm:spPr/>
    </dgm:pt>
    <dgm:pt modelId="{6678A7DA-1203-45F8-AA59-E5EA45653C8F}" type="pres">
      <dgm:prSet presAssocID="{F57DD769-04EA-4E27-8C18-9CF42C989B9F}" presName="linNode" presStyleCnt="0"/>
      <dgm:spPr/>
    </dgm:pt>
    <dgm:pt modelId="{189FA43D-C922-4606-9E40-82744D78C168}" type="pres">
      <dgm:prSet presAssocID="{F57DD769-04EA-4E27-8C18-9CF42C989B9F}" presName="parTx" presStyleLbl="revTx" presStyleIdx="0" presStyleCnt="2">
        <dgm:presLayoutVars>
          <dgm:chMax val="1"/>
          <dgm:bulletEnabled val="1"/>
        </dgm:presLayoutVars>
      </dgm:prSet>
      <dgm:spPr/>
    </dgm:pt>
    <dgm:pt modelId="{B7945013-0B13-4759-BBF8-7AB4EA865ADA}" type="pres">
      <dgm:prSet presAssocID="{F57DD769-04EA-4E27-8C18-9CF42C989B9F}" presName="bracket" presStyleLbl="parChTrans1D1" presStyleIdx="0" presStyleCnt="2" custLinFactNeighborX="-7673" custLinFactNeighborY="7349"/>
      <dgm:spPr/>
    </dgm:pt>
    <dgm:pt modelId="{8734EFD5-19AC-473E-AB3B-C8352F3D6D77}" type="pres">
      <dgm:prSet presAssocID="{F57DD769-04EA-4E27-8C18-9CF42C989B9F}" presName="spH" presStyleCnt="0"/>
      <dgm:spPr/>
    </dgm:pt>
    <dgm:pt modelId="{B49A13DB-2EDE-4B32-ADEB-887ACA6499FD}" type="pres">
      <dgm:prSet presAssocID="{F57DD769-04EA-4E27-8C18-9CF42C989B9F}" presName="desTx" presStyleLbl="node1" presStyleIdx="0" presStyleCnt="2" custLinFactNeighborX="1" custLinFactNeighborY="4442">
        <dgm:presLayoutVars>
          <dgm:bulletEnabled val="1"/>
        </dgm:presLayoutVars>
      </dgm:prSet>
      <dgm:spPr/>
    </dgm:pt>
    <dgm:pt modelId="{8554F05E-E087-43E9-98A1-7D77BCBB84B7}" type="pres">
      <dgm:prSet presAssocID="{8269D786-CA22-4FD2-8E65-90B04DD7059D}" presName="spV" presStyleCnt="0"/>
      <dgm:spPr/>
    </dgm:pt>
    <dgm:pt modelId="{17746890-4840-49DB-AEE5-F8F0CE283779}" type="pres">
      <dgm:prSet presAssocID="{F351DBBE-C61F-41B7-A5FE-DFC6F355402C}" presName="linNode" presStyleCnt="0"/>
      <dgm:spPr/>
    </dgm:pt>
    <dgm:pt modelId="{5C2C8D1A-BF5D-416B-9443-5DE4F86764EF}" type="pres">
      <dgm:prSet presAssocID="{F351DBBE-C61F-41B7-A5FE-DFC6F355402C}" presName="parTx" presStyleLbl="revTx" presStyleIdx="1" presStyleCnt="2">
        <dgm:presLayoutVars>
          <dgm:chMax val="1"/>
          <dgm:bulletEnabled val="1"/>
        </dgm:presLayoutVars>
      </dgm:prSet>
      <dgm:spPr/>
    </dgm:pt>
    <dgm:pt modelId="{511EF05A-D3C4-4AB6-8E25-A8971DF2A0EF}" type="pres">
      <dgm:prSet presAssocID="{F351DBBE-C61F-41B7-A5FE-DFC6F355402C}" presName="bracket" presStyleLbl="parChTrans1D1" presStyleIdx="1" presStyleCnt="2" custLinFactNeighborX="17510" custLinFactNeighborY="19010"/>
      <dgm:spPr/>
    </dgm:pt>
    <dgm:pt modelId="{67AB1788-A6B2-4578-9E03-A642C1618475}" type="pres">
      <dgm:prSet presAssocID="{F351DBBE-C61F-41B7-A5FE-DFC6F355402C}" presName="spH" presStyleCnt="0"/>
      <dgm:spPr/>
    </dgm:pt>
    <dgm:pt modelId="{F6845BAA-49DE-477E-9E50-3691D941D787}" type="pres">
      <dgm:prSet presAssocID="{F351DBBE-C61F-41B7-A5FE-DFC6F355402C}" presName="desTx" presStyleLbl="node1" presStyleIdx="1" presStyleCnt="2" custLinFactNeighborX="1" custLinFactNeighborY="3710">
        <dgm:presLayoutVars>
          <dgm:bulletEnabled val="1"/>
        </dgm:presLayoutVars>
      </dgm:prSet>
      <dgm:spPr/>
    </dgm:pt>
  </dgm:ptLst>
  <dgm:cxnLst>
    <dgm:cxn modelId="{7DE3875D-9086-413C-AFEC-62C1BC422EEE}" type="presOf" srcId="{3314CACD-0F49-4E31-B8FB-CA5F878936EF}" destId="{F6845BAA-49DE-477E-9E50-3691D941D787}" srcOrd="0" destOrd="0" presId="urn:diagrams.loki3.com/BracketList"/>
    <dgm:cxn modelId="{80E4835E-2BF2-4E0E-8E88-ACC351A41AC9}" type="presOf" srcId="{EA4E5E80-5A70-4A7B-9D08-966B5B24EE44}" destId="{69B0D75B-15E3-4328-95FE-C05DB338C2BE}" srcOrd="0" destOrd="0" presId="urn:diagrams.loki3.com/BracketList"/>
    <dgm:cxn modelId="{ED279D61-5207-4FF8-8C07-BE621C08BEE4}" type="presOf" srcId="{F351DBBE-C61F-41B7-A5FE-DFC6F355402C}" destId="{5C2C8D1A-BF5D-416B-9443-5DE4F86764EF}" srcOrd="0" destOrd="0" presId="urn:diagrams.loki3.com/BracketList"/>
    <dgm:cxn modelId="{ABA37967-B2E9-4C69-9AE8-7F40DC82A26D}" srcId="{F57DD769-04EA-4E27-8C18-9CF42C989B9F}" destId="{A0918EAC-D7C9-4FAB-B0CB-B9F7ADE6F237}" srcOrd="0" destOrd="0" parTransId="{07826A4C-57AC-4555-8551-620B6D2AE3CE}" sibTransId="{5171D376-066A-469B-A7EA-EE597A1B2200}"/>
    <dgm:cxn modelId="{4AA8F251-A383-4459-852F-C20329BF19FC}" srcId="{F351DBBE-C61F-41B7-A5FE-DFC6F355402C}" destId="{3314CACD-0F49-4E31-B8FB-CA5F878936EF}" srcOrd="0" destOrd="0" parTransId="{141D7CB5-461A-40F2-9CB4-B6EDC749D7A6}" sibTransId="{FC658839-871F-4A0F-9484-77D2D08BCFB2}"/>
    <dgm:cxn modelId="{E2FC4272-CD01-4AAC-B9AC-9BA27521FE0E}" srcId="{EA4E5E80-5A70-4A7B-9D08-966B5B24EE44}" destId="{F351DBBE-C61F-41B7-A5FE-DFC6F355402C}" srcOrd="1" destOrd="0" parTransId="{F5C401A7-DFD7-448E-A4A5-ABDC54415788}" sibTransId="{A8BE3B4B-3DF1-426D-993C-5DB6BDFA6713}"/>
    <dgm:cxn modelId="{17BA1373-02E7-4657-9BD4-FBF3C26D68A8}" type="presOf" srcId="{F57DD769-04EA-4E27-8C18-9CF42C989B9F}" destId="{189FA43D-C922-4606-9E40-82744D78C168}" srcOrd="0" destOrd="0" presId="urn:diagrams.loki3.com/BracketList"/>
    <dgm:cxn modelId="{5D373A77-47D1-4BEE-AB12-E04CD0A21E43}" srcId="{EA4E5E80-5A70-4A7B-9D08-966B5B24EE44}" destId="{F57DD769-04EA-4E27-8C18-9CF42C989B9F}" srcOrd="0" destOrd="0" parTransId="{305075B1-9762-41DC-98E2-6AFFF07F3D0C}" sibTransId="{8269D786-CA22-4FD2-8E65-90B04DD7059D}"/>
    <dgm:cxn modelId="{44DC38CF-305B-468F-9CB2-5A63DD1AF806}" type="presOf" srcId="{A0918EAC-D7C9-4FAB-B0CB-B9F7ADE6F237}" destId="{B49A13DB-2EDE-4B32-ADEB-887ACA6499FD}" srcOrd="0" destOrd="0" presId="urn:diagrams.loki3.com/BracketList"/>
    <dgm:cxn modelId="{B2C8744B-F644-4C65-A980-C12070D7A65B}" type="presParOf" srcId="{69B0D75B-15E3-4328-95FE-C05DB338C2BE}" destId="{6678A7DA-1203-45F8-AA59-E5EA45653C8F}" srcOrd="0" destOrd="0" presId="urn:diagrams.loki3.com/BracketList"/>
    <dgm:cxn modelId="{73221FCA-8B47-4BC7-A776-9A43F5783E3D}" type="presParOf" srcId="{6678A7DA-1203-45F8-AA59-E5EA45653C8F}" destId="{189FA43D-C922-4606-9E40-82744D78C168}" srcOrd="0" destOrd="0" presId="urn:diagrams.loki3.com/BracketList"/>
    <dgm:cxn modelId="{55357E79-559F-425C-949E-D1F99DCF04CD}" type="presParOf" srcId="{6678A7DA-1203-45F8-AA59-E5EA45653C8F}" destId="{B7945013-0B13-4759-BBF8-7AB4EA865ADA}" srcOrd="1" destOrd="0" presId="urn:diagrams.loki3.com/BracketList"/>
    <dgm:cxn modelId="{2F2A1569-DEBD-4FD2-B623-A54C20154319}" type="presParOf" srcId="{6678A7DA-1203-45F8-AA59-E5EA45653C8F}" destId="{8734EFD5-19AC-473E-AB3B-C8352F3D6D77}" srcOrd="2" destOrd="0" presId="urn:diagrams.loki3.com/BracketList"/>
    <dgm:cxn modelId="{419063EF-D788-4E5F-9924-BF45CF92FB70}" type="presParOf" srcId="{6678A7DA-1203-45F8-AA59-E5EA45653C8F}" destId="{B49A13DB-2EDE-4B32-ADEB-887ACA6499FD}" srcOrd="3" destOrd="0" presId="urn:diagrams.loki3.com/BracketList"/>
    <dgm:cxn modelId="{66486B97-BB78-4C82-8A3B-22CCCD356668}" type="presParOf" srcId="{69B0D75B-15E3-4328-95FE-C05DB338C2BE}" destId="{8554F05E-E087-43E9-98A1-7D77BCBB84B7}" srcOrd="1" destOrd="0" presId="urn:diagrams.loki3.com/BracketList"/>
    <dgm:cxn modelId="{E80C53DD-0456-49E8-8E85-2C7EA29436B3}" type="presParOf" srcId="{69B0D75B-15E3-4328-95FE-C05DB338C2BE}" destId="{17746890-4840-49DB-AEE5-F8F0CE283779}" srcOrd="2" destOrd="0" presId="urn:diagrams.loki3.com/BracketList"/>
    <dgm:cxn modelId="{2676108E-81F1-41AD-9A46-044E1025B6BA}" type="presParOf" srcId="{17746890-4840-49DB-AEE5-F8F0CE283779}" destId="{5C2C8D1A-BF5D-416B-9443-5DE4F86764EF}" srcOrd="0" destOrd="0" presId="urn:diagrams.loki3.com/BracketList"/>
    <dgm:cxn modelId="{4AF3133B-D8D7-43E1-A57F-8F04395203E6}" type="presParOf" srcId="{17746890-4840-49DB-AEE5-F8F0CE283779}" destId="{511EF05A-D3C4-4AB6-8E25-A8971DF2A0EF}" srcOrd="1" destOrd="0" presId="urn:diagrams.loki3.com/BracketList"/>
    <dgm:cxn modelId="{80F86124-9DA1-40FC-8AD2-382A2EDC0D78}" type="presParOf" srcId="{17746890-4840-49DB-AEE5-F8F0CE283779}" destId="{67AB1788-A6B2-4578-9E03-A642C1618475}" srcOrd="2" destOrd="0" presId="urn:diagrams.loki3.com/BracketList"/>
    <dgm:cxn modelId="{623D37E3-98CA-41DE-87D3-4337977EA1FB}" type="presParOf" srcId="{17746890-4840-49DB-AEE5-F8F0CE283779}" destId="{F6845BAA-49DE-477E-9E50-3691D941D787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4E5E80-5A70-4A7B-9D08-966B5B24EE44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7DD769-04EA-4E27-8C18-9CF42C989B9F}">
      <dgm:prSet phldrT="[Text]" phldr="0"/>
      <dgm:spPr/>
      <dgm:t>
        <a:bodyPr/>
        <a:lstStyle/>
        <a:p>
          <a:endParaRPr lang="en-IN" dirty="0"/>
        </a:p>
      </dgm:t>
    </dgm:pt>
    <dgm:pt modelId="{305075B1-9762-41DC-98E2-6AFFF07F3D0C}" type="parTrans" cxnId="{5D373A77-47D1-4BEE-AB12-E04CD0A21E43}">
      <dgm:prSet/>
      <dgm:spPr/>
      <dgm:t>
        <a:bodyPr/>
        <a:lstStyle/>
        <a:p>
          <a:endParaRPr lang="en-IN"/>
        </a:p>
      </dgm:t>
    </dgm:pt>
    <dgm:pt modelId="{8269D786-CA22-4FD2-8E65-90B04DD7059D}" type="sibTrans" cxnId="{5D373A77-47D1-4BEE-AB12-E04CD0A21E43}">
      <dgm:prSet/>
      <dgm:spPr/>
      <dgm:t>
        <a:bodyPr/>
        <a:lstStyle/>
        <a:p>
          <a:endParaRPr lang="en-IN"/>
        </a:p>
      </dgm:t>
    </dgm:pt>
    <dgm:pt modelId="{A0918EAC-D7C9-4FAB-B0CB-B9F7ADE6F237}">
      <dgm:prSet phldrT="[Text]" custT="1"/>
      <dgm:spPr/>
      <dgm:t>
        <a:bodyPr/>
        <a:lstStyle/>
        <a:p>
          <a:r>
            <a:rPr lang="en-IN" sz="2000" dirty="0"/>
            <a:t>After Confirming from BIS,PMG will communicate to Zones</a:t>
          </a:r>
        </a:p>
      </dgm:t>
    </dgm:pt>
    <dgm:pt modelId="{07826A4C-57AC-4555-8551-620B6D2AE3CE}" type="parTrans" cxnId="{ABA37967-B2E9-4C69-9AE8-7F40DC82A26D}">
      <dgm:prSet/>
      <dgm:spPr/>
      <dgm:t>
        <a:bodyPr/>
        <a:lstStyle/>
        <a:p>
          <a:endParaRPr lang="en-IN"/>
        </a:p>
      </dgm:t>
    </dgm:pt>
    <dgm:pt modelId="{5171D376-066A-469B-A7EA-EE597A1B2200}" type="sibTrans" cxnId="{ABA37967-B2E9-4C69-9AE8-7F40DC82A26D}">
      <dgm:prSet/>
      <dgm:spPr/>
      <dgm:t>
        <a:bodyPr/>
        <a:lstStyle/>
        <a:p>
          <a:endParaRPr lang="en-IN"/>
        </a:p>
      </dgm:t>
    </dgm:pt>
    <dgm:pt modelId="{69B0D75B-15E3-4328-95FE-C05DB338C2BE}" type="pres">
      <dgm:prSet presAssocID="{EA4E5E80-5A70-4A7B-9D08-966B5B24EE44}" presName="Name0" presStyleCnt="0">
        <dgm:presLayoutVars>
          <dgm:dir/>
          <dgm:animLvl val="lvl"/>
          <dgm:resizeHandles val="exact"/>
        </dgm:presLayoutVars>
      </dgm:prSet>
      <dgm:spPr/>
    </dgm:pt>
    <dgm:pt modelId="{6678A7DA-1203-45F8-AA59-E5EA45653C8F}" type="pres">
      <dgm:prSet presAssocID="{F57DD769-04EA-4E27-8C18-9CF42C989B9F}" presName="linNode" presStyleCnt="0"/>
      <dgm:spPr/>
    </dgm:pt>
    <dgm:pt modelId="{189FA43D-C922-4606-9E40-82744D78C168}" type="pres">
      <dgm:prSet presAssocID="{F57DD769-04EA-4E27-8C18-9CF42C989B9F}" presName="parTx" presStyleLbl="revTx" presStyleIdx="0" presStyleCnt="1">
        <dgm:presLayoutVars>
          <dgm:chMax val="1"/>
          <dgm:bulletEnabled val="1"/>
        </dgm:presLayoutVars>
      </dgm:prSet>
      <dgm:spPr/>
    </dgm:pt>
    <dgm:pt modelId="{B7945013-0B13-4759-BBF8-7AB4EA865ADA}" type="pres">
      <dgm:prSet presAssocID="{F57DD769-04EA-4E27-8C18-9CF42C989B9F}" presName="bracket" presStyleLbl="parChTrans1D1" presStyleIdx="0" presStyleCnt="1"/>
      <dgm:spPr/>
    </dgm:pt>
    <dgm:pt modelId="{8734EFD5-19AC-473E-AB3B-C8352F3D6D77}" type="pres">
      <dgm:prSet presAssocID="{F57DD769-04EA-4E27-8C18-9CF42C989B9F}" presName="spH" presStyleCnt="0"/>
      <dgm:spPr/>
    </dgm:pt>
    <dgm:pt modelId="{B49A13DB-2EDE-4B32-ADEB-887ACA6499FD}" type="pres">
      <dgm:prSet presAssocID="{F57DD769-04EA-4E27-8C18-9CF42C989B9F}" presName="desTx" presStyleLbl="node1" presStyleIdx="0" presStyleCnt="1" custLinFactX="37839" custLinFactNeighborX="100000" custLinFactNeighborY="675">
        <dgm:presLayoutVars>
          <dgm:bulletEnabled val="1"/>
        </dgm:presLayoutVars>
      </dgm:prSet>
      <dgm:spPr/>
    </dgm:pt>
  </dgm:ptLst>
  <dgm:cxnLst>
    <dgm:cxn modelId="{80E4835E-2BF2-4E0E-8E88-ACC351A41AC9}" type="presOf" srcId="{EA4E5E80-5A70-4A7B-9D08-966B5B24EE44}" destId="{69B0D75B-15E3-4328-95FE-C05DB338C2BE}" srcOrd="0" destOrd="0" presId="urn:diagrams.loki3.com/BracketList"/>
    <dgm:cxn modelId="{ABA37967-B2E9-4C69-9AE8-7F40DC82A26D}" srcId="{F57DD769-04EA-4E27-8C18-9CF42C989B9F}" destId="{A0918EAC-D7C9-4FAB-B0CB-B9F7ADE6F237}" srcOrd="0" destOrd="0" parTransId="{07826A4C-57AC-4555-8551-620B6D2AE3CE}" sibTransId="{5171D376-066A-469B-A7EA-EE597A1B2200}"/>
    <dgm:cxn modelId="{5D373A77-47D1-4BEE-AB12-E04CD0A21E43}" srcId="{EA4E5E80-5A70-4A7B-9D08-966B5B24EE44}" destId="{F57DD769-04EA-4E27-8C18-9CF42C989B9F}" srcOrd="0" destOrd="0" parTransId="{305075B1-9762-41DC-98E2-6AFFF07F3D0C}" sibTransId="{8269D786-CA22-4FD2-8E65-90B04DD7059D}"/>
    <dgm:cxn modelId="{C996E157-8590-4BEF-B260-C91DAC3FABFB}" type="presOf" srcId="{A0918EAC-D7C9-4FAB-B0CB-B9F7ADE6F237}" destId="{B49A13DB-2EDE-4B32-ADEB-887ACA6499FD}" srcOrd="0" destOrd="0" presId="urn:diagrams.loki3.com/BracketList"/>
    <dgm:cxn modelId="{33471BD8-5C43-4F0A-903E-20BF06FC1790}" type="presOf" srcId="{F57DD769-04EA-4E27-8C18-9CF42C989B9F}" destId="{189FA43D-C922-4606-9E40-82744D78C168}" srcOrd="0" destOrd="0" presId="urn:diagrams.loki3.com/BracketList"/>
    <dgm:cxn modelId="{57C20431-F6C1-4981-B11D-CD96F9C13FE6}" type="presParOf" srcId="{69B0D75B-15E3-4328-95FE-C05DB338C2BE}" destId="{6678A7DA-1203-45F8-AA59-E5EA45653C8F}" srcOrd="0" destOrd="0" presId="urn:diagrams.loki3.com/BracketList"/>
    <dgm:cxn modelId="{EBCDFD61-322B-4DC3-B84C-609C6CC1A46D}" type="presParOf" srcId="{6678A7DA-1203-45F8-AA59-E5EA45653C8F}" destId="{189FA43D-C922-4606-9E40-82744D78C168}" srcOrd="0" destOrd="0" presId="urn:diagrams.loki3.com/BracketList"/>
    <dgm:cxn modelId="{40B25F62-8EF1-42CE-A146-5E66A3B77C76}" type="presParOf" srcId="{6678A7DA-1203-45F8-AA59-E5EA45653C8F}" destId="{B7945013-0B13-4759-BBF8-7AB4EA865ADA}" srcOrd="1" destOrd="0" presId="urn:diagrams.loki3.com/BracketList"/>
    <dgm:cxn modelId="{46BD56FE-9011-4A4A-AD55-CEAB29B41F79}" type="presParOf" srcId="{6678A7DA-1203-45F8-AA59-E5EA45653C8F}" destId="{8734EFD5-19AC-473E-AB3B-C8352F3D6D77}" srcOrd="2" destOrd="0" presId="urn:diagrams.loki3.com/BracketList"/>
    <dgm:cxn modelId="{7762E080-6F33-4EB0-8ED6-BCDC19FA74EC}" type="presParOf" srcId="{6678A7DA-1203-45F8-AA59-E5EA45653C8F}" destId="{B49A13DB-2EDE-4B32-ADEB-887ACA6499FD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22F292-B38F-416E-B60E-90748FB8AD9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0530110F-CDBA-4877-9B81-E9D0EB3DC3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Eliminates the Shortfall grades Customer wise eligibility manual calculations and  approvals at Zonal Level.</a:t>
          </a:r>
        </a:p>
      </dgm:t>
    </dgm:pt>
    <dgm:pt modelId="{7435E9EB-035B-4284-B822-6C20C4FF267C}" type="parTrans" cxnId="{A4919B9B-9957-4D10-84CC-F312EB8D9EBC}">
      <dgm:prSet/>
      <dgm:spPr/>
      <dgm:t>
        <a:bodyPr/>
        <a:lstStyle/>
        <a:p>
          <a:endParaRPr lang="en-US"/>
        </a:p>
      </dgm:t>
    </dgm:pt>
    <dgm:pt modelId="{AD1C05BA-2310-4519-9AE9-BD69318CC5C3}" type="sibTrans" cxnId="{A4919B9B-9957-4D10-84CC-F312EB8D9EBC}">
      <dgm:prSet/>
      <dgm:spPr/>
      <dgm:t>
        <a:bodyPr/>
        <a:lstStyle/>
        <a:p>
          <a:endParaRPr lang="en-US"/>
        </a:p>
      </dgm:t>
    </dgm:pt>
    <dgm:pt modelId="{1EF2DDC5-1496-4A1F-8166-9F6462FE26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Eliminates the Discount processing approvals at Zonal Level for standard variants.</a:t>
          </a:r>
        </a:p>
      </dgm:t>
    </dgm:pt>
    <dgm:pt modelId="{2A40EB7A-BA60-45B3-BC76-54B9A237B4F4}" type="parTrans" cxnId="{3E701B55-9C40-41B4-9AC1-B39CB2DE8995}">
      <dgm:prSet/>
      <dgm:spPr/>
      <dgm:t>
        <a:bodyPr/>
        <a:lstStyle/>
        <a:p>
          <a:endParaRPr lang="en-US"/>
        </a:p>
      </dgm:t>
    </dgm:pt>
    <dgm:pt modelId="{7CD7615F-0F41-4EB8-8DEE-7261671480F4}" type="sibTrans" cxnId="{3E701B55-9C40-41B4-9AC1-B39CB2DE8995}">
      <dgm:prSet/>
      <dgm:spPr/>
      <dgm:t>
        <a:bodyPr/>
        <a:lstStyle/>
        <a:p>
          <a:endParaRPr lang="en-US"/>
        </a:p>
      </dgm:t>
    </dgm:pt>
    <dgm:pt modelId="{90F4EA68-2DFA-49EF-87FA-329D17EC0EF5}" type="pres">
      <dgm:prSet presAssocID="{A722F292-B38F-416E-B60E-90748FB8AD98}" presName="root" presStyleCnt="0">
        <dgm:presLayoutVars>
          <dgm:dir/>
          <dgm:resizeHandles val="exact"/>
        </dgm:presLayoutVars>
      </dgm:prSet>
      <dgm:spPr/>
    </dgm:pt>
    <dgm:pt modelId="{F50E9F9D-4A30-4696-8761-806775D66D64}" type="pres">
      <dgm:prSet presAssocID="{0530110F-CDBA-4877-9B81-E9D0EB3DC390}" presName="compNode" presStyleCnt="0"/>
      <dgm:spPr/>
    </dgm:pt>
    <dgm:pt modelId="{AEEFEF9E-4057-4C4E-B75C-1FCC1E7E538C}" type="pres">
      <dgm:prSet presAssocID="{0530110F-CDBA-4877-9B81-E9D0EB3DC390}" presName="bgRect" presStyleLbl="bgShp" presStyleIdx="0" presStyleCnt="2"/>
      <dgm:spPr/>
    </dgm:pt>
    <dgm:pt modelId="{C454C28D-A17D-458F-BC05-B56C43E23661}" type="pres">
      <dgm:prSet presAssocID="{0530110F-CDBA-4877-9B81-E9D0EB3DC39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14FA0B5-D574-49BD-94AA-ACFBECECC8FE}" type="pres">
      <dgm:prSet presAssocID="{0530110F-CDBA-4877-9B81-E9D0EB3DC390}" presName="spaceRect" presStyleCnt="0"/>
      <dgm:spPr/>
    </dgm:pt>
    <dgm:pt modelId="{A6CE030F-2A79-4713-9706-212E46403DB2}" type="pres">
      <dgm:prSet presAssocID="{0530110F-CDBA-4877-9B81-E9D0EB3DC390}" presName="parTx" presStyleLbl="revTx" presStyleIdx="0" presStyleCnt="2">
        <dgm:presLayoutVars>
          <dgm:chMax val="0"/>
          <dgm:chPref val="0"/>
        </dgm:presLayoutVars>
      </dgm:prSet>
      <dgm:spPr/>
    </dgm:pt>
    <dgm:pt modelId="{97FE2982-BC35-4994-A932-5BA89746C460}" type="pres">
      <dgm:prSet presAssocID="{AD1C05BA-2310-4519-9AE9-BD69318CC5C3}" presName="sibTrans" presStyleCnt="0"/>
      <dgm:spPr/>
    </dgm:pt>
    <dgm:pt modelId="{592258B4-83EB-4F26-91E1-009285859D29}" type="pres">
      <dgm:prSet presAssocID="{1EF2DDC5-1496-4A1F-8166-9F6462FE267D}" presName="compNode" presStyleCnt="0"/>
      <dgm:spPr/>
    </dgm:pt>
    <dgm:pt modelId="{AA6EF610-24C8-4466-92C8-650BBB8063F5}" type="pres">
      <dgm:prSet presAssocID="{1EF2DDC5-1496-4A1F-8166-9F6462FE267D}" presName="bgRect" presStyleLbl="bgShp" presStyleIdx="1" presStyleCnt="2"/>
      <dgm:spPr/>
    </dgm:pt>
    <dgm:pt modelId="{EBE469CA-F9AC-4888-9E16-A46C5316FFF0}" type="pres">
      <dgm:prSet presAssocID="{1EF2DDC5-1496-4A1F-8166-9F6462FE267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936EB286-8B77-4022-A95C-C0B4DBE17AF2}" type="pres">
      <dgm:prSet presAssocID="{1EF2DDC5-1496-4A1F-8166-9F6462FE267D}" presName="spaceRect" presStyleCnt="0"/>
      <dgm:spPr/>
    </dgm:pt>
    <dgm:pt modelId="{CE284360-ADBD-40B3-8CDD-7B4583D63F85}" type="pres">
      <dgm:prSet presAssocID="{1EF2DDC5-1496-4A1F-8166-9F6462FE267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E701B55-9C40-41B4-9AC1-B39CB2DE8995}" srcId="{A722F292-B38F-416E-B60E-90748FB8AD98}" destId="{1EF2DDC5-1496-4A1F-8166-9F6462FE267D}" srcOrd="1" destOrd="0" parTransId="{2A40EB7A-BA60-45B3-BC76-54B9A237B4F4}" sibTransId="{7CD7615F-0F41-4EB8-8DEE-7261671480F4}"/>
    <dgm:cxn modelId="{78CF257D-633B-48B9-BB62-3B4122FEEE62}" type="presOf" srcId="{0530110F-CDBA-4877-9B81-E9D0EB3DC390}" destId="{A6CE030F-2A79-4713-9706-212E46403DB2}" srcOrd="0" destOrd="0" presId="urn:microsoft.com/office/officeart/2018/2/layout/IconVerticalSolidList"/>
    <dgm:cxn modelId="{A4919B9B-9957-4D10-84CC-F312EB8D9EBC}" srcId="{A722F292-B38F-416E-B60E-90748FB8AD98}" destId="{0530110F-CDBA-4877-9B81-E9D0EB3DC390}" srcOrd="0" destOrd="0" parTransId="{7435E9EB-035B-4284-B822-6C20C4FF267C}" sibTransId="{AD1C05BA-2310-4519-9AE9-BD69318CC5C3}"/>
    <dgm:cxn modelId="{A43E69B4-5FEC-4F77-B2F4-7213A9EE1C7A}" type="presOf" srcId="{A722F292-B38F-416E-B60E-90748FB8AD98}" destId="{90F4EA68-2DFA-49EF-87FA-329D17EC0EF5}" srcOrd="0" destOrd="0" presId="urn:microsoft.com/office/officeart/2018/2/layout/IconVerticalSolidList"/>
    <dgm:cxn modelId="{674EF4B9-75C2-4EA3-A690-A3E73CB51003}" type="presOf" srcId="{1EF2DDC5-1496-4A1F-8166-9F6462FE267D}" destId="{CE284360-ADBD-40B3-8CDD-7B4583D63F85}" srcOrd="0" destOrd="0" presId="urn:microsoft.com/office/officeart/2018/2/layout/IconVerticalSolidList"/>
    <dgm:cxn modelId="{F9CCBC6A-106B-4A51-803D-79C217281739}" type="presParOf" srcId="{90F4EA68-2DFA-49EF-87FA-329D17EC0EF5}" destId="{F50E9F9D-4A30-4696-8761-806775D66D64}" srcOrd="0" destOrd="0" presId="urn:microsoft.com/office/officeart/2018/2/layout/IconVerticalSolidList"/>
    <dgm:cxn modelId="{5220D4D0-B1F4-4CDD-849E-CF94D445EA6A}" type="presParOf" srcId="{F50E9F9D-4A30-4696-8761-806775D66D64}" destId="{AEEFEF9E-4057-4C4E-B75C-1FCC1E7E538C}" srcOrd="0" destOrd="0" presId="urn:microsoft.com/office/officeart/2018/2/layout/IconVerticalSolidList"/>
    <dgm:cxn modelId="{D7217924-94CC-4082-9635-1A1A5CDF03EB}" type="presParOf" srcId="{F50E9F9D-4A30-4696-8761-806775D66D64}" destId="{C454C28D-A17D-458F-BC05-B56C43E23661}" srcOrd="1" destOrd="0" presId="urn:microsoft.com/office/officeart/2018/2/layout/IconVerticalSolidList"/>
    <dgm:cxn modelId="{5557A445-90C0-4B50-8DFE-E1AC4AB6F056}" type="presParOf" srcId="{F50E9F9D-4A30-4696-8761-806775D66D64}" destId="{A14FA0B5-D574-49BD-94AA-ACFBECECC8FE}" srcOrd="2" destOrd="0" presId="urn:microsoft.com/office/officeart/2018/2/layout/IconVerticalSolidList"/>
    <dgm:cxn modelId="{8CAF2A43-5B46-4112-8793-010FCC9A996A}" type="presParOf" srcId="{F50E9F9D-4A30-4696-8761-806775D66D64}" destId="{A6CE030F-2A79-4713-9706-212E46403DB2}" srcOrd="3" destOrd="0" presId="urn:microsoft.com/office/officeart/2018/2/layout/IconVerticalSolidList"/>
    <dgm:cxn modelId="{65BE040F-106E-4C64-A989-14DF9658CE22}" type="presParOf" srcId="{90F4EA68-2DFA-49EF-87FA-329D17EC0EF5}" destId="{97FE2982-BC35-4994-A932-5BA89746C460}" srcOrd="1" destOrd="0" presId="urn:microsoft.com/office/officeart/2018/2/layout/IconVerticalSolidList"/>
    <dgm:cxn modelId="{9F273E2C-0886-4089-B310-B1D56C063CE0}" type="presParOf" srcId="{90F4EA68-2DFA-49EF-87FA-329D17EC0EF5}" destId="{592258B4-83EB-4F26-91E1-009285859D29}" srcOrd="2" destOrd="0" presId="urn:microsoft.com/office/officeart/2018/2/layout/IconVerticalSolidList"/>
    <dgm:cxn modelId="{2FBE5274-76C1-4AB8-BD2B-7E403BEC9049}" type="presParOf" srcId="{592258B4-83EB-4F26-91E1-009285859D29}" destId="{AA6EF610-24C8-4466-92C8-650BBB8063F5}" srcOrd="0" destOrd="0" presId="urn:microsoft.com/office/officeart/2018/2/layout/IconVerticalSolidList"/>
    <dgm:cxn modelId="{AF742FC6-CC99-40FF-9D65-B3252A8DC69D}" type="presParOf" srcId="{592258B4-83EB-4F26-91E1-009285859D29}" destId="{EBE469CA-F9AC-4888-9E16-A46C5316FFF0}" srcOrd="1" destOrd="0" presId="urn:microsoft.com/office/officeart/2018/2/layout/IconVerticalSolidList"/>
    <dgm:cxn modelId="{C41D70E5-CC9B-42C0-BFBF-2B1AB20A0ED3}" type="presParOf" srcId="{592258B4-83EB-4F26-91E1-009285859D29}" destId="{936EB286-8B77-4022-A95C-C0B4DBE17AF2}" srcOrd="2" destOrd="0" presId="urn:microsoft.com/office/officeart/2018/2/layout/IconVerticalSolidList"/>
    <dgm:cxn modelId="{0D45DD8D-15C4-41C2-9C9E-90F87422F25F}" type="presParOf" srcId="{592258B4-83EB-4F26-91E1-009285859D29}" destId="{CE284360-ADBD-40B3-8CDD-7B4583D63F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F9CE079-7F50-47F7-8FFC-346A03078D6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0D7248-3435-4A59-A5A4-79BE707038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One Process. Full Compliance..</a:t>
          </a:r>
        </a:p>
      </dgm:t>
    </dgm:pt>
    <dgm:pt modelId="{8A499E3F-A8F8-4EE9-86FC-AED985A51989}" type="parTrans" cxnId="{E74DF13A-36AF-4439-B7DF-54BF9DC55C82}">
      <dgm:prSet/>
      <dgm:spPr/>
      <dgm:t>
        <a:bodyPr/>
        <a:lstStyle/>
        <a:p>
          <a:endParaRPr lang="en-US"/>
        </a:p>
      </dgm:t>
    </dgm:pt>
    <dgm:pt modelId="{4418D504-E99C-4562-BCBB-7F196BB49DC1}" type="sibTrans" cxnId="{E74DF13A-36AF-4439-B7DF-54BF9DC55C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4F80A5-49C2-4A4E-BE60-F68F425B89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Contact CPC for queries</a:t>
          </a:r>
        </a:p>
      </dgm:t>
    </dgm:pt>
    <dgm:pt modelId="{D16483A0-7714-4FD6-A7CF-A434F1E5B1E5}" type="parTrans" cxnId="{CFC948CF-C0C3-49C1-B46E-72E5B4BEE24D}">
      <dgm:prSet/>
      <dgm:spPr/>
      <dgm:t>
        <a:bodyPr/>
        <a:lstStyle/>
        <a:p>
          <a:endParaRPr lang="en-US"/>
        </a:p>
      </dgm:t>
    </dgm:pt>
    <dgm:pt modelId="{C27BC29A-7FFF-40BF-B50B-C0A604520949}" type="sibTrans" cxnId="{CFC948CF-C0C3-49C1-B46E-72E5B4BEE24D}">
      <dgm:prSet/>
      <dgm:spPr/>
      <dgm:t>
        <a:bodyPr/>
        <a:lstStyle/>
        <a:p>
          <a:endParaRPr lang="en-US"/>
        </a:p>
      </dgm:t>
    </dgm:pt>
    <dgm:pt modelId="{05AEDD36-481A-4B30-8865-B6586728D204}" type="pres">
      <dgm:prSet presAssocID="{8F9CE079-7F50-47F7-8FFC-346A03078D6F}" presName="root" presStyleCnt="0">
        <dgm:presLayoutVars>
          <dgm:dir/>
          <dgm:resizeHandles val="exact"/>
        </dgm:presLayoutVars>
      </dgm:prSet>
      <dgm:spPr/>
    </dgm:pt>
    <dgm:pt modelId="{0B6BA655-97AC-4223-9559-0467CD7560D0}" type="pres">
      <dgm:prSet presAssocID="{8F9CE079-7F50-47F7-8FFC-346A03078D6F}" presName="container" presStyleCnt="0">
        <dgm:presLayoutVars>
          <dgm:dir/>
          <dgm:resizeHandles val="exact"/>
        </dgm:presLayoutVars>
      </dgm:prSet>
      <dgm:spPr/>
    </dgm:pt>
    <dgm:pt modelId="{3295A5B5-7E2B-4E4F-8B23-054B901882FE}" type="pres">
      <dgm:prSet presAssocID="{AF0D7248-3435-4A59-A5A4-79BE707038B1}" presName="compNode" presStyleCnt="0"/>
      <dgm:spPr/>
    </dgm:pt>
    <dgm:pt modelId="{878D6DA2-7562-4351-927E-C5C98B1389D9}" type="pres">
      <dgm:prSet presAssocID="{AF0D7248-3435-4A59-A5A4-79BE707038B1}" presName="iconBgRect" presStyleLbl="bgShp" presStyleIdx="0" presStyleCnt="2"/>
      <dgm:spPr/>
    </dgm:pt>
    <dgm:pt modelId="{C19ABBC7-EC99-46B1-8C62-60D3741ED5C1}" type="pres">
      <dgm:prSet presAssocID="{AF0D7248-3435-4A59-A5A4-79BE707038B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451A4D3-00EF-4BC6-B2BA-1011755B4222}" type="pres">
      <dgm:prSet presAssocID="{AF0D7248-3435-4A59-A5A4-79BE707038B1}" presName="spaceRect" presStyleCnt="0"/>
      <dgm:spPr/>
    </dgm:pt>
    <dgm:pt modelId="{A7EEDBE9-2FF5-4380-A84E-4B14C4365BA5}" type="pres">
      <dgm:prSet presAssocID="{AF0D7248-3435-4A59-A5A4-79BE707038B1}" presName="textRect" presStyleLbl="revTx" presStyleIdx="0" presStyleCnt="2">
        <dgm:presLayoutVars>
          <dgm:chMax val="1"/>
          <dgm:chPref val="1"/>
        </dgm:presLayoutVars>
      </dgm:prSet>
      <dgm:spPr/>
    </dgm:pt>
    <dgm:pt modelId="{E71D5955-8A0D-460E-9FEB-95AF23A7AC36}" type="pres">
      <dgm:prSet presAssocID="{4418D504-E99C-4562-BCBB-7F196BB49DC1}" presName="sibTrans" presStyleLbl="sibTrans2D1" presStyleIdx="0" presStyleCnt="0"/>
      <dgm:spPr/>
    </dgm:pt>
    <dgm:pt modelId="{F0A90B51-5529-4E3C-9DB0-200A9B9529DE}" type="pres">
      <dgm:prSet presAssocID="{A74F80A5-49C2-4A4E-BE60-F68F425B892C}" presName="compNode" presStyleCnt="0"/>
      <dgm:spPr/>
    </dgm:pt>
    <dgm:pt modelId="{AF496043-8926-43FE-9F72-198250EB3906}" type="pres">
      <dgm:prSet presAssocID="{A74F80A5-49C2-4A4E-BE60-F68F425B892C}" presName="iconBgRect" presStyleLbl="bgShp" presStyleIdx="1" presStyleCnt="2"/>
      <dgm:spPr/>
    </dgm:pt>
    <dgm:pt modelId="{823E09E1-F6E6-4B49-9868-746A0CCA7C34}" type="pres">
      <dgm:prSet presAssocID="{A74F80A5-49C2-4A4E-BE60-F68F425B892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F1547789-5FC7-42EB-9E7E-CF719B269B4B}" type="pres">
      <dgm:prSet presAssocID="{A74F80A5-49C2-4A4E-BE60-F68F425B892C}" presName="spaceRect" presStyleCnt="0"/>
      <dgm:spPr/>
    </dgm:pt>
    <dgm:pt modelId="{FBD44766-D69D-4A5F-8D02-56A11D4A99E8}" type="pres">
      <dgm:prSet presAssocID="{A74F80A5-49C2-4A4E-BE60-F68F425B892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74DF13A-36AF-4439-B7DF-54BF9DC55C82}" srcId="{8F9CE079-7F50-47F7-8FFC-346A03078D6F}" destId="{AF0D7248-3435-4A59-A5A4-79BE707038B1}" srcOrd="0" destOrd="0" parTransId="{8A499E3F-A8F8-4EE9-86FC-AED985A51989}" sibTransId="{4418D504-E99C-4562-BCBB-7F196BB49DC1}"/>
    <dgm:cxn modelId="{F6A36C96-C76B-4375-9CAF-03DC043CEF9A}" type="presOf" srcId="{4418D504-E99C-4562-BCBB-7F196BB49DC1}" destId="{E71D5955-8A0D-460E-9FEB-95AF23A7AC36}" srcOrd="0" destOrd="0" presId="urn:microsoft.com/office/officeart/2018/2/layout/IconCircleList"/>
    <dgm:cxn modelId="{127D9F9F-5ABA-493E-9AF3-23008CC8D8EA}" type="presOf" srcId="{AF0D7248-3435-4A59-A5A4-79BE707038B1}" destId="{A7EEDBE9-2FF5-4380-A84E-4B14C4365BA5}" srcOrd="0" destOrd="0" presId="urn:microsoft.com/office/officeart/2018/2/layout/IconCircleList"/>
    <dgm:cxn modelId="{CFC948CF-C0C3-49C1-B46E-72E5B4BEE24D}" srcId="{8F9CE079-7F50-47F7-8FFC-346A03078D6F}" destId="{A74F80A5-49C2-4A4E-BE60-F68F425B892C}" srcOrd="1" destOrd="0" parTransId="{D16483A0-7714-4FD6-A7CF-A434F1E5B1E5}" sibTransId="{C27BC29A-7FFF-40BF-B50B-C0A604520949}"/>
    <dgm:cxn modelId="{7DA919F4-9108-4E78-B84E-7C3A0BE84872}" type="presOf" srcId="{A74F80A5-49C2-4A4E-BE60-F68F425B892C}" destId="{FBD44766-D69D-4A5F-8D02-56A11D4A99E8}" srcOrd="0" destOrd="0" presId="urn:microsoft.com/office/officeart/2018/2/layout/IconCircleList"/>
    <dgm:cxn modelId="{4C7838FD-AFC1-423A-BD7C-2C2CFB23156D}" type="presOf" srcId="{8F9CE079-7F50-47F7-8FFC-346A03078D6F}" destId="{05AEDD36-481A-4B30-8865-B6586728D204}" srcOrd="0" destOrd="0" presId="urn:microsoft.com/office/officeart/2018/2/layout/IconCircleList"/>
    <dgm:cxn modelId="{E3BE2BF1-2460-4536-9154-8AA778C37231}" type="presParOf" srcId="{05AEDD36-481A-4B30-8865-B6586728D204}" destId="{0B6BA655-97AC-4223-9559-0467CD7560D0}" srcOrd="0" destOrd="0" presId="urn:microsoft.com/office/officeart/2018/2/layout/IconCircleList"/>
    <dgm:cxn modelId="{B6F87554-D56A-416D-A51A-51E79B803F00}" type="presParOf" srcId="{0B6BA655-97AC-4223-9559-0467CD7560D0}" destId="{3295A5B5-7E2B-4E4F-8B23-054B901882FE}" srcOrd="0" destOrd="0" presId="urn:microsoft.com/office/officeart/2018/2/layout/IconCircleList"/>
    <dgm:cxn modelId="{842CE20C-873A-4A95-B6DC-37913D16DC23}" type="presParOf" srcId="{3295A5B5-7E2B-4E4F-8B23-054B901882FE}" destId="{878D6DA2-7562-4351-927E-C5C98B1389D9}" srcOrd="0" destOrd="0" presId="urn:microsoft.com/office/officeart/2018/2/layout/IconCircleList"/>
    <dgm:cxn modelId="{4C08EB64-49BC-446E-9D71-9E01063CCA10}" type="presParOf" srcId="{3295A5B5-7E2B-4E4F-8B23-054B901882FE}" destId="{C19ABBC7-EC99-46B1-8C62-60D3741ED5C1}" srcOrd="1" destOrd="0" presId="urn:microsoft.com/office/officeart/2018/2/layout/IconCircleList"/>
    <dgm:cxn modelId="{804A4878-AA4A-4BCE-BD50-7CC17BECA8EC}" type="presParOf" srcId="{3295A5B5-7E2B-4E4F-8B23-054B901882FE}" destId="{1451A4D3-00EF-4BC6-B2BA-1011755B4222}" srcOrd="2" destOrd="0" presId="urn:microsoft.com/office/officeart/2018/2/layout/IconCircleList"/>
    <dgm:cxn modelId="{A7CDCA0A-BD37-433E-8824-570683F46933}" type="presParOf" srcId="{3295A5B5-7E2B-4E4F-8B23-054B901882FE}" destId="{A7EEDBE9-2FF5-4380-A84E-4B14C4365BA5}" srcOrd="3" destOrd="0" presId="urn:microsoft.com/office/officeart/2018/2/layout/IconCircleList"/>
    <dgm:cxn modelId="{6DD87CB1-13B2-467A-8BFF-1DE77CAF452A}" type="presParOf" srcId="{0B6BA655-97AC-4223-9559-0467CD7560D0}" destId="{E71D5955-8A0D-460E-9FEB-95AF23A7AC36}" srcOrd="1" destOrd="0" presId="urn:microsoft.com/office/officeart/2018/2/layout/IconCircleList"/>
    <dgm:cxn modelId="{8D46EDAC-1C98-4D5A-B595-4D17A6486C74}" type="presParOf" srcId="{0B6BA655-97AC-4223-9559-0467CD7560D0}" destId="{F0A90B51-5529-4E3C-9DB0-200A9B9529DE}" srcOrd="2" destOrd="0" presId="urn:microsoft.com/office/officeart/2018/2/layout/IconCircleList"/>
    <dgm:cxn modelId="{F9C204FD-E61E-467E-98D6-B324A9A4C3D2}" type="presParOf" srcId="{F0A90B51-5529-4E3C-9DB0-200A9B9529DE}" destId="{AF496043-8926-43FE-9F72-198250EB3906}" srcOrd="0" destOrd="0" presId="urn:microsoft.com/office/officeart/2018/2/layout/IconCircleList"/>
    <dgm:cxn modelId="{45BB1A2E-F551-4EBC-BF65-AEA519456F83}" type="presParOf" srcId="{F0A90B51-5529-4E3C-9DB0-200A9B9529DE}" destId="{823E09E1-F6E6-4B49-9868-746A0CCA7C34}" srcOrd="1" destOrd="0" presId="urn:microsoft.com/office/officeart/2018/2/layout/IconCircleList"/>
    <dgm:cxn modelId="{3FE1259E-CAFE-4429-B1FA-AED54572F50E}" type="presParOf" srcId="{F0A90B51-5529-4E3C-9DB0-200A9B9529DE}" destId="{F1547789-5FC7-42EB-9E7E-CF719B269B4B}" srcOrd="2" destOrd="0" presId="urn:microsoft.com/office/officeart/2018/2/layout/IconCircleList"/>
    <dgm:cxn modelId="{463FE4B6-6FAB-4F3D-A6B9-0E98D53A6BE0}" type="presParOf" srcId="{F0A90B51-5529-4E3C-9DB0-200A9B9529DE}" destId="{FBD44766-D69D-4A5F-8D02-56A11D4A99E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FA43D-C922-4606-9E40-82744D78C168}">
      <dsp:nvSpPr>
        <dsp:cNvPr id="0" name=""/>
        <dsp:cNvSpPr/>
      </dsp:nvSpPr>
      <dsp:spPr>
        <a:xfrm>
          <a:off x="0" y="14334"/>
          <a:ext cx="1524000" cy="811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104140" rIns="291592" bIns="104140" numCol="1" spcCol="1270" anchor="ctr" anchorCtr="0">
          <a:noAutofit/>
        </a:bodyPr>
        <a:lstStyle/>
        <a:p>
          <a:pPr marL="0" lvl="0" indent="0" algn="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100" kern="1200" dirty="0"/>
        </a:p>
      </dsp:txBody>
      <dsp:txXfrm>
        <a:off x="0" y="14334"/>
        <a:ext cx="1524000" cy="811800"/>
      </dsp:txXfrm>
    </dsp:sp>
    <dsp:sp modelId="{B7945013-0B13-4759-BBF8-7AB4EA865ADA}">
      <dsp:nvSpPr>
        <dsp:cNvPr id="0" name=""/>
        <dsp:cNvSpPr/>
      </dsp:nvSpPr>
      <dsp:spPr>
        <a:xfrm>
          <a:off x="1523999" y="14334"/>
          <a:ext cx="304800" cy="81180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9A13DB-2EDE-4B32-ADEB-887ACA6499FD}">
      <dsp:nvSpPr>
        <dsp:cNvPr id="0" name=""/>
        <dsp:cNvSpPr/>
      </dsp:nvSpPr>
      <dsp:spPr>
        <a:xfrm>
          <a:off x="1871395" y="59527"/>
          <a:ext cx="4145280" cy="811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CGM (CO PMG) Approval</a:t>
          </a:r>
        </a:p>
      </dsp:txBody>
      <dsp:txXfrm>
        <a:off x="1871395" y="59527"/>
        <a:ext cx="4145280" cy="811800"/>
      </dsp:txXfrm>
    </dsp:sp>
    <dsp:sp modelId="{5C2C8D1A-BF5D-416B-9443-5DE4F86764EF}">
      <dsp:nvSpPr>
        <dsp:cNvPr id="0" name=""/>
        <dsp:cNvSpPr/>
      </dsp:nvSpPr>
      <dsp:spPr>
        <a:xfrm>
          <a:off x="0" y="973735"/>
          <a:ext cx="1524000" cy="811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104140" rIns="291592" bIns="104140" numCol="1" spcCol="1270" anchor="ctr" anchorCtr="0">
          <a:noAutofit/>
        </a:bodyPr>
        <a:lstStyle/>
        <a:p>
          <a:pPr marL="0" lvl="0" indent="0" algn="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100" kern="1200" dirty="0"/>
        </a:p>
      </dsp:txBody>
      <dsp:txXfrm>
        <a:off x="0" y="973735"/>
        <a:ext cx="1524000" cy="811800"/>
      </dsp:txXfrm>
    </dsp:sp>
    <dsp:sp modelId="{511EF05A-D3C4-4AB6-8E25-A8971DF2A0EF}">
      <dsp:nvSpPr>
        <dsp:cNvPr id="0" name=""/>
        <dsp:cNvSpPr/>
      </dsp:nvSpPr>
      <dsp:spPr>
        <a:xfrm>
          <a:off x="1523999" y="973735"/>
          <a:ext cx="304800" cy="81180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45BAA-49DE-477E-9E50-3691D941D787}">
      <dsp:nvSpPr>
        <dsp:cNvPr id="0" name=""/>
        <dsp:cNvSpPr/>
      </dsp:nvSpPr>
      <dsp:spPr>
        <a:xfrm>
          <a:off x="1871395" y="964659"/>
          <a:ext cx="4145280" cy="811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Send Approval to CPC Head for Discount disbursal Approval</a:t>
          </a:r>
        </a:p>
      </dsp:txBody>
      <dsp:txXfrm>
        <a:off x="1871395" y="964659"/>
        <a:ext cx="4145280" cy="8118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FA43D-C922-4606-9E40-82744D78C168}">
      <dsp:nvSpPr>
        <dsp:cNvPr id="0" name=""/>
        <dsp:cNvSpPr/>
      </dsp:nvSpPr>
      <dsp:spPr>
        <a:xfrm>
          <a:off x="0" y="9033"/>
          <a:ext cx="1945366" cy="83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8704" tIns="106680" rIns="298704" bIns="106680" numCol="1" spcCol="1270" anchor="ctr" anchorCtr="0">
          <a:noAutofit/>
        </a:bodyPr>
        <a:lstStyle/>
        <a:p>
          <a:pPr marL="0" lvl="0" indent="0" algn="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200" kern="1200" dirty="0"/>
        </a:p>
      </dsp:txBody>
      <dsp:txXfrm>
        <a:off x="0" y="9033"/>
        <a:ext cx="1945366" cy="831600"/>
      </dsp:txXfrm>
    </dsp:sp>
    <dsp:sp modelId="{B7945013-0B13-4759-BBF8-7AB4EA865ADA}">
      <dsp:nvSpPr>
        <dsp:cNvPr id="0" name=""/>
        <dsp:cNvSpPr/>
      </dsp:nvSpPr>
      <dsp:spPr>
        <a:xfrm>
          <a:off x="1933425" y="70148"/>
          <a:ext cx="389073" cy="83160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9A13DB-2EDE-4B32-ADEB-887ACA6499FD}">
      <dsp:nvSpPr>
        <dsp:cNvPr id="0" name=""/>
        <dsp:cNvSpPr/>
      </dsp:nvSpPr>
      <dsp:spPr>
        <a:xfrm>
          <a:off x="2490069" y="45973"/>
          <a:ext cx="5291396" cy="83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ZOIC Approval</a:t>
          </a:r>
        </a:p>
      </dsp:txBody>
      <dsp:txXfrm>
        <a:off x="2490069" y="45973"/>
        <a:ext cx="5291396" cy="831600"/>
      </dsp:txXfrm>
    </dsp:sp>
    <dsp:sp modelId="{5C2C8D1A-BF5D-416B-9443-5DE4F86764EF}">
      <dsp:nvSpPr>
        <dsp:cNvPr id="0" name=""/>
        <dsp:cNvSpPr/>
      </dsp:nvSpPr>
      <dsp:spPr>
        <a:xfrm>
          <a:off x="0" y="991834"/>
          <a:ext cx="1945366" cy="83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8704" tIns="106680" rIns="298704" bIns="106680" numCol="1" spcCol="1270" anchor="ctr" anchorCtr="0">
          <a:noAutofit/>
        </a:bodyPr>
        <a:lstStyle/>
        <a:p>
          <a:pPr marL="0" lvl="0" indent="0" algn="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200" kern="1200" dirty="0"/>
        </a:p>
      </dsp:txBody>
      <dsp:txXfrm>
        <a:off x="0" y="991834"/>
        <a:ext cx="1945366" cy="831600"/>
      </dsp:txXfrm>
    </dsp:sp>
    <dsp:sp modelId="{511EF05A-D3C4-4AB6-8E25-A8971DF2A0EF}">
      <dsp:nvSpPr>
        <dsp:cNvPr id="0" name=""/>
        <dsp:cNvSpPr/>
      </dsp:nvSpPr>
      <dsp:spPr>
        <a:xfrm>
          <a:off x="1972617" y="1000867"/>
          <a:ext cx="389073" cy="83160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45BAA-49DE-477E-9E50-3691D941D787}">
      <dsp:nvSpPr>
        <dsp:cNvPr id="0" name=""/>
        <dsp:cNvSpPr/>
      </dsp:nvSpPr>
      <dsp:spPr>
        <a:xfrm>
          <a:off x="2490069" y="1000867"/>
          <a:ext cx="5291396" cy="83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Send Approval to CPC Head for Discount disbursal Approval</a:t>
          </a:r>
        </a:p>
      </dsp:txBody>
      <dsp:txXfrm>
        <a:off x="2490069" y="1000867"/>
        <a:ext cx="5291396" cy="8316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FA43D-C922-4606-9E40-82744D78C168}">
      <dsp:nvSpPr>
        <dsp:cNvPr id="0" name=""/>
        <dsp:cNvSpPr/>
      </dsp:nvSpPr>
      <dsp:spPr>
        <a:xfrm>
          <a:off x="3763" y="6275"/>
          <a:ext cx="1925231" cy="9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264" tIns="119380" rIns="334264" bIns="119380" numCol="1" spcCol="1270" anchor="ctr" anchorCtr="0">
          <a:noAutofit/>
        </a:bodyPr>
        <a:lstStyle/>
        <a:p>
          <a:pPr marL="0" lvl="0" indent="0" algn="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700" kern="1200" dirty="0"/>
        </a:p>
      </dsp:txBody>
      <dsp:txXfrm>
        <a:off x="3763" y="6275"/>
        <a:ext cx="1925231" cy="930600"/>
      </dsp:txXfrm>
    </dsp:sp>
    <dsp:sp modelId="{B7945013-0B13-4759-BBF8-7AB4EA865ADA}">
      <dsp:nvSpPr>
        <dsp:cNvPr id="0" name=""/>
        <dsp:cNvSpPr/>
      </dsp:nvSpPr>
      <dsp:spPr>
        <a:xfrm>
          <a:off x="1928995" y="6275"/>
          <a:ext cx="385046" cy="930600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9A13DB-2EDE-4B32-ADEB-887ACA6499FD}">
      <dsp:nvSpPr>
        <dsp:cNvPr id="0" name=""/>
        <dsp:cNvSpPr/>
      </dsp:nvSpPr>
      <dsp:spPr>
        <a:xfrm>
          <a:off x="2471824" y="12551"/>
          <a:ext cx="5236630" cy="93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After Confirming from BIS,PMG will communicate to Zones</a:t>
          </a:r>
        </a:p>
      </dsp:txBody>
      <dsp:txXfrm>
        <a:off x="2471824" y="12551"/>
        <a:ext cx="5236630" cy="9306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FEF9E-4057-4C4E-B75C-1FCC1E7E538C}">
      <dsp:nvSpPr>
        <dsp:cNvPr id="0" name=""/>
        <dsp:cNvSpPr/>
      </dsp:nvSpPr>
      <dsp:spPr>
        <a:xfrm>
          <a:off x="0" y="681330"/>
          <a:ext cx="8195871" cy="1257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4C28D-A17D-458F-BC05-B56C43E23661}">
      <dsp:nvSpPr>
        <dsp:cNvPr id="0" name=""/>
        <dsp:cNvSpPr/>
      </dsp:nvSpPr>
      <dsp:spPr>
        <a:xfrm>
          <a:off x="380497" y="964345"/>
          <a:ext cx="691812" cy="691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E030F-2A79-4713-9706-212E46403DB2}">
      <dsp:nvSpPr>
        <dsp:cNvPr id="0" name=""/>
        <dsp:cNvSpPr/>
      </dsp:nvSpPr>
      <dsp:spPr>
        <a:xfrm>
          <a:off x="1452806" y="681330"/>
          <a:ext cx="6743064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Eliminates the Shortfall grades Customer wise eligibility manual calculations and  approvals at Zonal Level.</a:t>
          </a:r>
        </a:p>
      </dsp:txBody>
      <dsp:txXfrm>
        <a:off x="1452806" y="681330"/>
        <a:ext cx="6743064" cy="1257841"/>
      </dsp:txXfrm>
    </dsp:sp>
    <dsp:sp modelId="{AA6EF610-24C8-4466-92C8-650BBB8063F5}">
      <dsp:nvSpPr>
        <dsp:cNvPr id="0" name=""/>
        <dsp:cNvSpPr/>
      </dsp:nvSpPr>
      <dsp:spPr>
        <a:xfrm>
          <a:off x="0" y="2253632"/>
          <a:ext cx="8195871" cy="1257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469CA-F9AC-4888-9E16-A46C5316FFF0}">
      <dsp:nvSpPr>
        <dsp:cNvPr id="0" name=""/>
        <dsp:cNvSpPr/>
      </dsp:nvSpPr>
      <dsp:spPr>
        <a:xfrm>
          <a:off x="380497" y="2536647"/>
          <a:ext cx="691812" cy="691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84360-ADBD-40B3-8CDD-7B4583D63F85}">
      <dsp:nvSpPr>
        <dsp:cNvPr id="0" name=""/>
        <dsp:cNvSpPr/>
      </dsp:nvSpPr>
      <dsp:spPr>
        <a:xfrm>
          <a:off x="1452806" y="2253632"/>
          <a:ext cx="6743064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Eliminates the Discount processing approvals at Zonal Level for standard variants.</a:t>
          </a:r>
        </a:p>
      </dsp:txBody>
      <dsp:txXfrm>
        <a:off x="1452806" y="2253632"/>
        <a:ext cx="6743064" cy="12578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D6DA2-7562-4351-927E-C5C98B1389D9}">
      <dsp:nvSpPr>
        <dsp:cNvPr id="0" name=""/>
        <dsp:cNvSpPr/>
      </dsp:nvSpPr>
      <dsp:spPr>
        <a:xfrm>
          <a:off x="145153" y="1672834"/>
          <a:ext cx="1005669" cy="10056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ABBC7-EC99-46B1-8C62-60D3741ED5C1}">
      <dsp:nvSpPr>
        <dsp:cNvPr id="0" name=""/>
        <dsp:cNvSpPr/>
      </dsp:nvSpPr>
      <dsp:spPr>
        <a:xfrm>
          <a:off x="356344" y="1884024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EDBE9-2FF5-4380-A84E-4B14C4365BA5}">
      <dsp:nvSpPr>
        <dsp:cNvPr id="0" name=""/>
        <dsp:cNvSpPr/>
      </dsp:nvSpPr>
      <dsp:spPr>
        <a:xfrm>
          <a:off x="1366323" y="167283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One Process. Full Compliance..</a:t>
          </a:r>
        </a:p>
      </dsp:txBody>
      <dsp:txXfrm>
        <a:off x="1366323" y="1672834"/>
        <a:ext cx="2370505" cy="1005669"/>
      </dsp:txXfrm>
    </dsp:sp>
    <dsp:sp modelId="{AF496043-8926-43FE-9F72-198250EB3906}">
      <dsp:nvSpPr>
        <dsp:cNvPr id="0" name=""/>
        <dsp:cNvSpPr/>
      </dsp:nvSpPr>
      <dsp:spPr>
        <a:xfrm>
          <a:off x="4149871" y="1672834"/>
          <a:ext cx="1005669" cy="10056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E09E1-F6E6-4B49-9868-746A0CCA7C34}">
      <dsp:nvSpPr>
        <dsp:cNvPr id="0" name=""/>
        <dsp:cNvSpPr/>
      </dsp:nvSpPr>
      <dsp:spPr>
        <a:xfrm>
          <a:off x="4361061" y="1884024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44766-D69D-4A5F-8D02-56A11D4A99E8}">
      <dsp:nvSpPr>
        <dsp:cNvPr id="0" name=""/>
        <dsp:cNvSpPr/>
      </dsp:nvSpPr>
      <dsp:spPr>
        <a:xfrm>
          <a:off x="5371040" y="167283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Contact CPC for queries</a:t>
          </a:r>
        </a:p>
      </dsp:txBody>
      <dsp:txXfrm>
        <a:off x="5371040" y="1672834"/>
        <a:ext cx="2370505" cy="100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7EF1B-B731-4D17-B540-E38CB94966E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778BB-45E3-4028-B11B-4070BBF3B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64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78BB-45E3-4028-B11B-4070BBF3B0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562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78BB-45E3-4028-B11B-4070BBF3B02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203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78BB-45E3-4028-B11B-4070BBF3B02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466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A0426-50B9-4BA5-F6AB-4A220001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BB84C-EBDE-6805-107C-76A0F9D2E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06FD4-9436-E9BE-3CFC-56FFE247B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8F0E-16E1-53A0-83CB-5F7860998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78BB-45E3-4028-B11B-4070BBF3B02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955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EB74A-FF25-2D8F-F266-BD226C6A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58AC4-76BE-310A-CA04-B064F2B54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0FBDE-E115-3E27-919A-E0F2B1734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26253-22AE-3E27-D2C2-B8A00A3511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78BB-45E3-4028-B11B-4070BBF3B02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249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0EF06-3C3C-179B-529B-4AD2EE9A6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8DA20-F391-544E-E070-3E5BDAD1C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51B12-A3CB-7858-D895-FECAE2038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7F03E-AAEC-67AC-840B-D022F5150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78BB-45E3-4028-B11B-4070BBF3B02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65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4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2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1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5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0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9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3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7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84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1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90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rgbClr val="FFFFFF"/>
                </a:solidFill>
              </a:rPr>
              <a:t>Post Sale Discount (PSD)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1977" y="435765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Centralized Mechanism via CPC - Mktg &amp; F&amp;A</a:t>
            </a:r>
          </a:p>
          <a:p>
            <a:pPr algn="l"/>
            <a:r>
              <a:rPr lang="en-US" dirty="0"/>
              <a:t>Effective: FY:2026-27 | Applicable to All Zones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6D0AA-F453-EFC2-3DC3-68D16080401A}"/>
              </a:ext>
            </a:extLst>
          </p:cNvPr>
          <p:cNvSpPr/>
          <p:nvPr/>
        </p:nvSpPr>
        <p:spPr>
          <a:xfrm>
            <a:off x="0" y="6139076"/>
            <a:ext cx="21749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spc="50" dirty="0">
                <a:ln w="0"/>
                <a:solidFill>
                  <a:schemeClr val="bg1"/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  <a:t>Y.AJAYAKANTH</a:t>
            </a:r>
          </a:p>
          <a:p>
            <a:pPr algn="ctr"/>
            <a:r>
              <a:rPr lang="en-US" sz="1600" b="1" spc="50" dirty="0">
                <a:ln w="0"/>
                <a:solidFill>
                  <a:schemeClr val="bg1"/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  <a:t>SM(MKTG-PC-CPC)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068"/>
            <a:ext cx="7886700" cy="1325563"/>
          </a:xfrm>
        </p:spPr>
        <p:txBody>
          <a:bodyPr/>
          <a:lstStyle/>
          <a:p>
            <a:r>
              <a:rPr dirty="0"/>
              <a:t>Why Centralized PSD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2" y="2821021"/>
            <a:ext cx="7225555" cy="4195481"/>
          </a:xfrm>
        </p:spPr>
        <p:txBody>
          <a:bodyPr/>
          <a:lstStyle/>
          <a:p>
            <a:r>
              <a:rPr dirty="0"/>
              <a:t>🎯 Standardization – One uniform process</a:t>
            </a:r>
          </a:p>
          <a:p>
            <a:r>
              <a:rPr dirty="0"/>
              <a:t>⏱️ TAT Bound </a:t>
            </a:r>
            <a:endParaRPr lang="en-US" dirty="0"/>
          </a:p>
          <a:p>
            <a:r>
              <a:rPr dirty="0"/>
              <a:t>📊 Audit Compliance – Full audit trail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D9149-CBE1-424C-786A-20C9192B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8" t="-1" r="8995" b="28739"/>
          <a:stretch>
            <a:fillRect/>
          </a:stretch>
        </p:blipFill>
        <p:spPr>
          <a:xfrm>
            <a:off x="7587737" y="57844"/>
            <a:ext cx="1794803" cy="6716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288156"/>
            <a:ext cx="7886700" cy="1325563"/>
          </a:xfrm>
        </p:spPr>
        <p:txBody>
          <a:bodyPr/>
          <a:lstStyle/>
          <a:p>
            <a:r>
              <a:rPr dirty="0"/>
              <a:t>2 Modes of PSD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962" y="1825625"/>
            <a:ext cx="3886200" cy="4351338"/>
          </a:xfrm>
        </p:spPr>
        <p:txBody>
          <a:bodyPr/>
          <a:lstStyle/>
          <a:p>
            <a:pPr marL="0" indent="0">
              <a:buNone/>
            </a:pPr>
            <a:r>
              <a:rPr u="sng" dirty="0"/>
              <a:t>Standard Process</a:t>
            </a:r>
            <a:r>
              <a:rPr lang="en-US" u="sng" dirty="0"/>
              <a:t>:</a:t>
            </a:r>
            <a:endParaRPr u="sng" dirty="0"/>
          </a:p>
          <a:p>
            <a:r>
              <a:rPr dirty="0"/>
              <a:t>Via SAP Variant</a:t>
            </a:r>
          </a:p>
          <a:p>
            <a:r>
              <a:rPr dirty="0"/>
              <a:t>System-driven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918" y="1825625"/>
            <a:ext cx="3886200" cy="4351338"/>
          </a:xfrm>
        </p:spPr>
        <p:txBody>
          <a:bodyPr/>
          <a:lstStyle/>
          <a:p>
            <a:pPr marL="0" indent="0">
              <a:buNone/>
            </a:pPr>
            <a:r>
              <a:rPr u="sng" dirty="0"/>
              <a:t>Manual Process</a:t>
            </a:r>
            <a:r>
              <a:rPr lang="en-US" u="sng" dirty="0"/>
              <a:t>:</a:t>
            </a:r>
            <a:endParaRPr u="sng" dirty="0"/>
          </a:p>
          <a:p>
            <a:r>
              <a:rPr dirty="0"/>
              <a:t>Exception only</a:t>
            </a:r>
          </a:p>
          <a:p>
            <a:r>
              <a:rPr dirty="0"/>
              <a:t>Requires approval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CE250C-3684-2C33-5A5D-4DBC781C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8" t="-1" r="8995" b="28739"/>
          <a:stretch>
            <a:fillRect/>
          </a:stretch>
        </p:blipFill>
        <p:spPr>
          <a:xfrm>
            <a:off x="7587737" y="57844"/>
            <a:ext cx="1794803" cy="671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9991" y="0"/>
            <a:ext cx="1974009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BDDEA-6EA2-F617-478F-63F13E792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778" y="609597"/>
            <a:ext cx="7327517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Post-Sale Discount Workflow in SAP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80C47-F432-AB94-3A6D-978FB355F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" y="2423160"/>
            <a:ext cx="5702637" cy="411479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L1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Zonal PC Marketing Executive  (Verify)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L2</a:t>
            </a:r>
            <a:r>
              <a:rPr lang="en-US" sz="2000" dirty="0">
                <a:sym typeface="Wingdings" panose="05000000000000000000" pitchFamily="2" charset="2"/>
              </a:rPr>
              <a:t> </a:t>
            </a:r>
            <a:r>
              <a:rPr lang="en-US" sz="2000" dirty="0"/>
              <a:t>Zonal PC Head 	             (Verify &amp;Forward)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L3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en-US" sz="2000" dirty="0"/>
              <a:t>CPC Marketing	                    (Execution)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L4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en-US" sz="2000" dirty="0"/>
              <a:t>CPC Finance                    (Financial Vetting)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L5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en-US" sz="2000" dirty="0"/>
              <a:t>CPC Head	              (Final Approval)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L6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en-US" sz="2000" dirty="0"/>
              <a:t>CPC Finance         (Discount disbursement)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7872" y="2022496"/>
            <a:ext cx="284627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20B5E1A0-ED7D-4149-7B20-1D0F58E87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68784" y="2550035"/>
            <a:ext cx="2246964" cy="2246964"/>
          </a:xfrm>
          <a:prstGeom prst="rect">
            <a:avLst/>
          </a:prstGeom>
        </p:spPr>
      </p:pic>
      <p:sp>
        <p:nvSpPr>
          <p:cNvPr id="42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7091" y="5952857"/>
            <a:ext cx="1025718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61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507027"/>
            <a:ext cx="9518826" cy="914400"/>
          </a:xfrm>
        </p:spPr>
        <p:txBody>
          <a:bodyPr/>
          <a:lstStyle/>
          <a:p>
            <a:r>
              <a:rPr dirty="0"/>
              <a:t>Standard PSD - Corporate to CPC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14149"/>
            <a:ext cx="2286000" cy="9144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Corporate PMG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64779" y="1714149"/>
            <a:ext cx="2286000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   </a:t>
            </a:r>
            <a:r>
              <a:rPr b="1" dirty="0">
                <a:solidFill>
                  <a:schemeClr val="tx1"/>
                </a:solidFill>
              </a:rPr>
              <a:t>Zonal PC Mktg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2358" y="1714149"/>
            <a:ext cx="2286000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         </a:t>
            </a:r>
            <a:r>
              <a:rPr b="1" dirty="0">
                <a:solidFill>
                  <a:schemeClr val="tx1"/>
                </a:solidFill>
              </a:rPr>
              <a:t>CPC-Mktg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C7582F-0AA6-953E-77EA-20B88759FF8B}"/>
              </a:ext>
            </a:extLst>
          </p:cNvPr>
          <p:cNvGrpSpPr/>
          <p:nvPr/>
        </p:nvGrpSpPr>
        <p:grpSpPr>
          <a:xfrm>
            <a:off x="3231533" y="3079389"/>
            <a:ext cx="2858746" cy="683517"/>
            <a:chOff x="0" y="0"/>
            <a:chExt cx="2593708" cy="74934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964ED7-657D-39E4-EB03-BCEE080BA6BE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6705B85-3317-DFA8-7A35-3C6A38F72DCD}"/>
                </a:ext>
              </a:extLst>
            </p:cNvPr>
            <p:cNvSpPr txBox="1"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Verification by Executive in SAP </a:t>
              </a:r>
              <a:endParaRPr lang="en-IN" sz="1800" kern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B6DAE7-C055-725B-F238-93F279A2E4CB}"/>
              </a:ext>
            </a:extLst>
          </p:cNvPr>
          <p:cNvGrpSpPr/>
          <p:nvPr/>
        </p:nvGrpSpPr>
        <p:grpSpPr>
          <a:xfrm>
            <a:off x="3124750" y="3723790"/>
            <a:ext cx="3093262" cy="1104352"/>
            <a:chOff x="279046" y="729135"/>
            <a:chExt cx="2096288" cy="80703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9FC023C-6773-1751-CAF7-F932AFC652B7}"/>
                </a:ext>
              </a:extLst>
            </p:cNvPr>
            <p:cNvSpPr/>
            <p:nvPr/>
          </p:nvSpPr>
          <p:spPr>
            <a:xfrm>
              <a:off x="353769" y="786829"/>
              <a:ext cx="1935000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C218DE-5EBF-B9DD-7A21-33FAFC310593}"/>
                </a:ext>
              </a:extLst>
            </p:cNvPr>
            <p:cNvSpPr txBox="1"/>
            <p:nvPr/>
          </p:nvSpPr>
          <p:spPr>
            <a:xfrm>
              <a:off x="279046" y="729135"/>
              <a:ext cx="2096288" cy="8070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Verify &amp; Forward by PC Head in SAP</a:t>
              </a:r>
              <a:endParaRPr lang="en-IN" sz="16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0EDAEC-F81B-AECE-A557-704EB457CB69}"/>
              </a:ext>
            </a:extLst>
          </p:cNvPr>
          <p:cNvGrpSpPr/>
          <p:nvPr/>
        </p:nvGrpSpPr>
        <p:grpSpPr>
          <a:xfrm>
            <a:off x="6351494" y="3062179"/>
            <a:ext cx="2593708" cy="757194"/>
            <a:chOff x="0" y="0"/>
            <a:chExt cx="2593708" cy="75719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C276466-9148-CD1C-1220-6EB746F37212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BD47AA-5D9A-A3A2-2A37-612D50C379A9}"/>
                </a:ext>
              </a:extLst>
            </p:cNvPr>
            <p:cNvSpPr txBox="1"/>
            <p:nvPr/>
          </p:nvSpPr>
          <p:spPr>
            <a:xfrm>
              <a:off x="0" y="7851"/>
              <a:ext cx="2593708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/>
                <a:t>Verify &amp; Creation of  Rebate orders</a:t>
              </a:r>
              <a:endParaRPr lang="en-IN" sz="1800" kern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1ABB349-F309-7986-6F84-E3F341FD2E82}"/>
              </a:ext>
            </a:extLst>
          </p:cNvPr>
          <p:cNvGrpSpPr/>
          <p:nvPr/>
        </p:nvGrpSpPr>
        <p:grpSpPr>
          <a:xfrm>
            <a:off x="6187470" y="3827224"/>
            <a:ext cx="2916858" cy="612997"/>
            <a:chOff x="234978" y="755706"/>
            <a:chExt cx="2172581" cy="78046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B5CDBD8-1ABE-1EE1-FBDF-0E1CC00D1EB4}"/>
                </a:ext>
              </a:extLst>
            </p:cNvPr>
            <p:cNvSpPr/>
            <p:nvPr/>
          </p:nvSpPr>
          <p:spPr>
            <a:xfrm>
              <a:off x="353769" y="786829"/>
              <a:ext cx="1935000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75F9BE5-05AE-AA3A-E39B-7C3440C92310}"/>
                </a:ext>
              </a:extLst>
            </p:cNvPr>
            <p:cNvSpPr txBox="1"/>
            <p:nvPr/>
          </p:nvSpPr>
          <p:spPr>
            <a:xfrm>
              <a:off x="234978" y="755706"/>
              <a:ext cx="2172581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/>
                <a:t>Forward to CPC F&amp;A</a:t>
              </a:r>
              <a:endParaRPr lang="en-IN" sz="1800" kern="1200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693048E-2DA6-B8E4-012B-CDD5D5F106F7}"/>
              </a:ext>
            </a:extLst>
          </p:cNvPr>
          <p:cNvSpPr txBox="1"/>
          <p:nvPr/>
        </p:nvSpPr>
        <p:spPr>
          <a:xfrm>
            <a:off x="585216" y="5843016"/>
            <a:ext cx="337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Incase of Discrepancy?</a:t>
            </a:r>
            <a:endParaRPr lang="en-IN" b="1" dirty="0"/>
          </a:p>
        </p:txBody>
      </p:sp>
      <p:pic>
        <p:nvPicPr>
          <p:cNvPr id="31" name="Graphic 30" descr="Thought with solid fill">
            <a:extLst>
              <a:ext uri="{FF2B5EF4-FFF2-40B4-BE49-F238E27FC236}">
                <a16:creationId xmlns:a16="http://schemas.microsoft.com/office/drawing/2014/main" id="{10DC4511-F036-D406-BC85-D7E321133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1604" y="5863090"/>
            <a:ext cx="475488" cy="475488"/>
          </a:xfrm>
          <a:prstGeom prst="rect">
            <a:avLst/>
          </a:prstGeom>
        </p:spPr>
      </p:pic>
      <p:sp>
        <p:nvSpPr>
          <p:cNvPr id="34" name="Arrow: Curved Left 33">
            <a:extLst>
              <a:ext uri="{FF2B5EF4-FFF2-40B4-BE49-F238E27FC236}">
                <a16:creationId xmlns:a16="http://schemas.microsoft.com/office/drawing/2014/main" id="{438D5BDF-46AB-C279-1B75-901546ADDC05}"/>
              </a:ext>
            </a:extLst>
          </p:cNvPr>
          <p:cNvSpPr/>
          <p:nvPr/>
        </p:nvSpPr>
        <p:spPr>
          <a:xfrm rot="5400000">
            <a:off x="7072087" y="4979062"/>
            <a:ext cx="1572768" cy="179977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0E3EBF-2219-4E14-34F9-218AA29BC65B}"/>
              </a:ext>
            </a:extLst>
          </p:cNvPr>
          <p:cNvGrpSpPr/>
          <p:nvPr/>
        </p:nvGrpSpPr>
        <p:grpSpPr>
          <a:xfrm>
            <a:off x="245054" y="3079388"/>
            <a:ext cx="2858746" cy="683517"/>
            <a:chOff x="0" y="0"/>
            <a:chExt cx="2593708" cy="749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300D0C-E40B-2387-7E9C-9584B505455B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721CBF-3D1C-71B8-98BF-C8948708F578}"/>
                </a:ext>
              </a:extLst>
            </p:cNvPr>
            <p:cNvSpPr txBox="1"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/>
              <a:r>
                <a:rPr lang="en-US" dirty="0"/>
                <a:t>Creation of PSD Variants                   along with BIS</a:t>
              </a:r>
              <a:endParaRPr lang="en-IN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FCE1F0-ECAE-6B5F-31F0-1745C3CFB029}"/>
              </a:ext>
            </a:extLst>
          </p:cNvPr>
          <p:cNvGrpSpPr/>
          <p:nvPr/>
        </p:nvGrpSpPr>
        <p:grpSpPr>
          <a:xfrm>
            <a:off x="239070" y="3811522"/>
            <a:ext cx="2858746" cy="683517"/>
            <a:chOff x="0" y="0"/>
            <a:chExt cx="2593708" cy="74934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35DA79E-820D-31B2-C791-210ED15893F3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ADE49E-E9CC-7B97-B5B8-D29454122AC0}"/>
                </a:ext>
              </a:extLst>
            </p:cNvPr>
            <p:cNvSpPr txBox="1"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/>
              <a:r>
                <a:rPr lang="en-US" dirty="0"/>
                <a:t>Communication to Zones &amp; CPC</a:t>
              </a:r>
              <a:endParaRPr lang="en-IN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F5DA95C-4277-01D5-1E86-684E92F4B7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78" t="-1" r="8995" b="28739"/>
          <a:stretch>
            <a:fillRect/>
          </a:stretch>
        </p:blipFill>
        <p:spPr>
          <a:xfrm>
            <a:off x="7587737" y="57844"/>
            <a:ext cx="1794803" cy="6716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07407E-6 L -0.25 4.07407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3B29-4B7C-8254-C4BD-AE68FB85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5AE69E2-FC38-0AB2-C755-07E1E64F60D9}"/>
              </a:ext>
            </a:extLst>
          </p:cNvPr>
          <p:cNvSpPr/>
          <p:nvPr/>
        </p:nvSpPr>
        <p:spPr>
          <a:xfrm>
            <a:off x="41861" y="1868746"/>
            <a:ext cx="1353312" cy="9144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Corporate </a:t>
            </a:r>
            <a:r>
              <a:rPr lang="en-US" b="1" dirty="0">
                <a:solidFill>
                  <a:schemeClr val="tx1"/>
                </a:solidFill>
              </a:rPr>
              <a:t>      </a:t>
            </a:r>
            <a:r>
              <a:rPr b="1" dirty="0">
                <a:solidFill>
                  <a:schemeClr val="tx1"/>
                </a:solidFill>
              </a:rPr>
              <a:t>PMG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33F648-81E5-C07F-D2C2-ECC399AEC092}"/>
              </a:ext>
            </a:extLst>
          </p:cNvPr>
          <p:cNvSpPr/>
          <p:nvPr/>
        </p:nvSpPr>
        <p:spPr>
          <a:xfrm>
            <a:off x="1482179" y="1892916"/>
            <a:ext cx="1353312" cy="91440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Zonal PC </a:t>
            </a:r>
            <a:r>
              <a:rPr lang="en-US" b="1" dirty="0">
                <a:solidFill>
                  <a:schemeClr val="tx1"/>
                </a:solidFill>
              </a:rPr>
              <a:t>                </a:t>
            </a:r>
            <a:r>
              <a:rPr b="1" dirty="0">
                <a:solidFill>
                  <a:schemeClr val="tx1"/>
                </a:solidFill>
              </a:rPr>
              <a:t>Mktg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1CBCB9-9504-D373-8ED8-2FE2478DAF84}"/>
              </a:ext>
            </a:extLst>
          </p:cNvPr>
          <p:cNvSpPr/>
          <p:nvPr/>
        </p:nvSpPr>
        <p:spPr>
          <a:xfrm>
            <a:off x="2953047" y="1909984"/>
            <a:ext cx="1387316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CPC-Mktg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4AA45CF-F22D-8C95-CBAC-160A5716D2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4268578"/>
              </p:ext>
            </p:extLst>
          </p:nvPr>
        </p:nvGraphicFramePr>
        <p:xfrm>
          <a:off x="1824270" y="5431223"/>
          <a:ext cx="1582303" cy="1669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B41C03BA-45BA-9E61-F5C5-F652BB56B5E8}"/>
              </a:ext>
            </a:extLst>
          </p:cNvPr>
          <p:cNvGrpSpPr/>
          <p:nvPr/>
        </p:nvGrpSpPr>
        <p:grpSpPr>
          <a:xfrm>
            <a:off x="1498176" y="2911163"/>
            <a:ext cx="1333711" cy="923352"/>
            <a:chOff x="-10161" y="0"/>
            <a:chExt cx="2603869" cy="7790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861C76-B359-F0E3-93D3-8DE08599B01F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601777-3812-7BA7-7889-FAB1F8864F97}"/>
                </a:ext>
              </a:extLst>
            </p:cNvPr>
            <p:cNvSpPr txBox="1"/>
            <p:nvPr/>
          </p:nvSpPr>
          <p:spPr>
            <a:xfrm>
              <a:off x="-10161" y="29734"/>
              <a:ext cx="2593708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Verification by Executive in SAP </a:t>
              </a:r>
              <a:endParaRPr lang="en-IN" sz="16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28CF63-7BCF-4790-70AF-4972CB928FE7}"/>
              </a:ext>
            </a:extLst>
          </p:cNvPr>
          <p:cNvGrpSpPr/>
          <p:nvPr/>
        </p:nvGrpSpPr>
        <p:grpSpPr>
          <a:xfrm>
            <a:off x="1498176" y="3934468"/>
            <a:ext cx="1351826" cy="883860"/>
            <a:chOff x="499576" y="-26460"/>
            <a:chExt cx="1056243" cy="149088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9C924B-36EE-910A-DC90-881C80529F97}"/>
                </a:ext>
              </a:extLst>
            </p:cNvPr>
            <p:cNvSpPr/>
            <p:nvPr/>
          </p:nvSpPr>
          <p:spPr>
            <a:xfrm>
              <a:off x="499576" y="-26460"/>
              <a:ext cx="1038022" cy="149088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93A1B3-CAA4-5893-574A-7828F37FB821}"/>
                </a:ext>
              </a:extLst>
            </p:cNvPr>
            <p:cNvSpPr txBox="1"/>
            <p:nvPr/>
          </p:nvSpPr>
          <p:spPr>
            <a:xfrm>
              <a:off x="520978" y="324865"/>
              <a:ext cx="1034841" cy="788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Verify &amp; Forward by PC Head in SAP</a:t>
              </a:r>
              <a:endParaRPr lang="en-IN" sz="16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0CC6B1-2445-51EB-7769-ABE39A96D133}"/>
              </a:ext>
            </a:extLst>
          </p:cNvPr>
          <p:cNvGrpSpPr/>
          <p:nvPr/>
        </p:nvGrpSpPr>
        <p:grpSpPr>
          <a:xfrm>
            <a:off x="2923364" y="2922184"/>
            <a:ext cx="1413127" cy="895193"/>
            <a:chOff x="0" y="-2018"/>
            <a:chExt cx="2593708" cy="75136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74E7884-5B40-B124-4F77-63EC47BC20B3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1263A31-B78C-D37B-481C-D9F681F02514}"/>
                </a:ext>
              </a:extLst>
            </p:cNvPr>
            <p:cNvSpPr txBox="1"/>
            <p:nvPr/>
          </p:nvSpPr>
          <p:spPr>
            <a:xfrm>
              <a:off x="62615" y="-2018"/>
              <a:ext cx="2403486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/>
                <a:t>Verify &amp; Creation of  Rebate orders</a:t>
              </a:r>
              <a:endParaRPr lang="en-IN" sz="1600" kern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65D0DE-5C38-C396-A210-53293D66C27E}"/>
              </a:ext>
            </a:extLst>
          </p:cNvPr>
          <p:cNvGrpSpPr/>
          <p:nvPr/>
        </p:nvGrpSpPr>
        <p:grpSpPr>
          <a:xfrm>
            <a:off x="2865532" y="3950273"/>
            <a:ext cx="1457322" cy="846578"/>
            <a:chOff x="248722" y="786829"/>
            <a:chExt cx="2074703" cy="74934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4C7558E-E5AC-1E24-39D1-A2D50C9A55B5}"/>
                </a:ext>
              </a:extLst>
            </p:cNvPr>
            <p:cNvSpPr/>
            <p:nvPr/>
          </p:nvSpPr>
          <p:spPr>
            <a:xfrm>
              <a:off x="353769" y="786829"/>
              <a:ext cx="1935000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C919E0-ED75-A207-CD0C-8FF194D1E8F8}"/>
                </a:ext>
              </a:extLst>
            </p:cNvPr>
            <p:cNvSpPr txBox="1"/>
            <p:nvPr/>
          </p:nvSpPr>
          <p:spPr>
            <a:xfrm>
              <a:off x="248722" y="822004"/>
              <a:ext cx="2074703" cy="6630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Forward to CPC F&amp;A for vetting</a:t>
              </a:r>
              <a:endParaRPr lang="en-IN" sz="1600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FB76BA8-F198-A6C5-19A6-61DE8E368C7F}"/>
              </a:ext>
            </a:extLst>
          </p:cNvPr>
          <p:cNvGrpSpPr/>
          <p:nvPr/>
        </p:nvGrpSpPr>
        <p:grpSpPr>
          <a:xfrm>
            <a:off x="5963595" y="2890820"/>
            <a:ext cx="1517972" cy="1592859"/>
            <a:chOff x="291166" y="786829"/>
            <a:chExt cx="1997603" cy="749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DA84E2-28A7-C14E-60E5-9B4416990AA6}"/>
                </a:ext>
              </a:extLst>
            </p:cNvPr>
            <p:cNvSpPr/>
            <p:nvPr/>
          </p:nvSpPr>
          <p:spPr>
            <a:xfrm>
              <a:off x="353769" y="786829"/>
              <a:ext cx="1935000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61AC14-C585-5D0A-1C57-767FAB14C400}"/>
                </a:ext>
              </a:extLst>
            </p:cNvPr>
            <p:cNvSpPr txBox="1"/>
            <p:nvPr/>
          </p:nvSpPr>
          <p:spPr>
            <a:xfrm>
              <a:off x="291166" y="804058"/>
              <a:ext cx="1938318" cy="689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Approval of Discounts &amp; forward to CPC F&amp;A for disbursement</a:t>
              </a:r>
              <a:endParaRPr lang="en-IN" sz="1600" kern="1200" dirty="0"/>
            </a:p>
          </p:txBody>
        </p:sp>
      </p:grp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FDAB874D-0B4D-9F78-2C1F-11A380D503C6}"/>
              </a:ext>
            </a:extLst>
          </p:cNvPr>
          <p:cNvSpPr/>
          <p:nvPr/>
        </p:nvSpPr>
        <p:spPr>
          <a:xfrm>
            <a:off x="4490140" y="1909984"/>
            <a:ext cx="1393931" cy="88359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CPC-</a:t>
            </a:r>
            <a:r>
              <a:rPr lang="en-US" b="1" dirty="0">
                <a:solidFill>
                  <a:schemeClr val="tx1"/>
                </a:solidFill>
              </a:rPr>
              <a:t> F&amp;A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0BE5DC3C-4416-B8B6-DEEF-60278041B7A6}"/>
              </a:ext>
            </a:extLst>
          </p:cNvPr>
          <p:cNvSpPr/>
          <p:nvPr/>
        </p:nvSpPr>
        <p:spPr>
          <a:xfrm>
            <a:off x="7587736" y="1879182"/>
            <a:ext cx="1436271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CPC- F&amp;A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3576E94-6F3F-ED34-D8A6-AEBF68047547}"/>
              </a:ext>
            </a:extLst>
          </p:cNvPr>
          <p:cNvGrpSpPr/>
          <p:nvPr/>
        </p:nvGrpSpPr>
        <p:grpSpPr>
          <a:xfrm>
            <a:off x="4442844" y="2890820"/>
            <a:ext cx="1461379" cy="1030733"/>
            <a:chOff x="0" y="0"/>
            <a:chExt cx="2593708" cy="77869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B3AB3A7-265B-2AF2-AFD4-D6CB42B08780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54CB26-D8C9-76D4-A4C7-1C95B9D398B9}"/>
                </a:ext>
              </a:extLst>
            </p:cNvPr>
            <p:cNvSpPr txBox="1"/>
            <p:nvPr/>
          </p:nvSpPr>
          <p:spPr>
            <a:xfrm>
              <a:off x="106467" y="15704"/>
              <a:ext cx="2289779" cy="7629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/>
                <a:t>Vetting in SAP</a:t>
              </a:r>
              <a:endParaRPr lang="en-IN" sz="1600" kern="12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3E6678E-12E6-09CC-2FA7-9DE31CA18713}"/>
              </a:ext>
            </a:extLst>
          </p:cNvPr>
          <p:cNvGrpSpPr/>
          <p:nvPr/>
        </p:nvGrpSpPr>
        <p:grpSpPr>
          <a:xfrm>
            <a:off x="7592822" y="2907406"/>
            <a:ext cx="1484436" cy="1292948"/>
            <a:chOff x="-7239" y="0"/>
            <a:chExt cx="2600947" cy="76504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5C53569-1A96-7385-13C5-D3D535B16957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69381FC-6AA4-7D06-19D6-21F1CDCFA0F5}"/>
                </a:ext>
              </a:extLst>
            </p:cNvPr>
            <p:cNvSpPr txBox="1"/>
            <p:nvPr/>
          </p:nvSpPr>
          <p:spPr>
            <a:xfrm>
              <a:off x="-7239" y="15704"/>
              <a:ext cx="2403486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Process Rebate Orders &amp; Generate Credit Notes</a:t>
              </a:r>
              <a:endParaRPr lang="en-IN" sz="1600" kern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BB8EDB4-A4C7-BBFD-09B3-65339F45E6F8}"/>
              </a:ext>
            </a:extLst>
          </p:cNvPr>
          <p:cNvGrpSpPr/>
          <p:nvPr/>
        </p:nvGrpSpPr>
        <p:grpSpPr>
          <a:xfrm>
            <a:off x="7578592" y="4235864"/>
            <a:ext cx="1521227" cy="715043"/>
            <a:chOff x="-85145" y="0"/>
            <a:chExt cx="2678853" cy="78850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581AAA9-B717-4660-FE86-3C208C6A9E1E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CB8CF2A-E0B4-F57D-39F6-CE52463C0A58}"/>
                </a:ext>
              </a:extLst>
            </p:cNvPr>
            <p:cNvSpPr txBox="1"/>
            <p:nvPr/>
          </p:nvSpPr>
          <p:spPr>
            <a:xfrm>
              <a:off x="-85145" y="39158"/>
              <a:ext cx="2403486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/>
                <a:t> Customer G/L account</a:t>
              </a:r>
              <a:endParaRPr lang="en-IN" sz="1600" kern="1200" dirty="0"/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A52577B-B0E5-3FC5-9F0E-41CB5193562E}"/>
              </a:ext>
            </a:extLst>
          </p:cNvPr>
          <p:cNvCxnSpPr>
            <a:cxnSpLocks/>
          </p:cNvCxnSpPr>
          <p:nvPr/>
        </p:nvCxnSpPr>
        <p:spPr>
          <a:xfrm flipH="1">
            <a:off x="2858380" y="1366664"/>
            <a:ext cx="44195" cy="5477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891BD55-6144-7F15-4E97-FF1AC8571A6C}"/>
              </a:ext>
            </a:extLst>
          </p:cNvPr>
          <p:cNvCxnSpPr/>
          <p:nvPr/>
        </p:nvCxnSpPr>
        <p:spPr>
          <a:xfrm flipH="1">
            <a:off x="0" y="1380924"/>
            <a:ext cx="37008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140B191-C22D-6004-918A-C9992FB951C7}"/>
              </a:ext>
            </a:extLst>
          </p:cNvPr>
          <p:cNvCxnSpPr>
            <a:cxnSpLocks/>
          </p:cNvCxnSpPr>
          <p:nvPr/>
        </p:nvCxnSpPr>
        <p:spPr>
          <a:xfrm>
            <a:off x="3700853" y="1380924"/>
            <a:ext cx="5443147" cy="15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487F73E-734F-6729-1067-20AA17086543}"/>
              </a:ext>
            </a:extLst>
          </p:cNvPr>
          <p:cNvSpPr txBox="1"/>
          <p:nvPr/>
        </p:nvSpPr>
        <p:spPr>
          <a:xfrm>
            <a:off x="1101221" y="1326406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Part-1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C23EA5-DA2C-490F-BCD5-EC053062539C}"/>
              </a:ext>
            </a:extLst>
          </p:cNvPr>
          <p:cNvSpPr txBox="1"/>
          <p:nvPr/>
        </p:nvSpPr>
        <p:spPr>
          <a:xfrm>
            <a:off x="5822260" y="1412612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Part-2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EB7009-DCAE-8F52-B345-4E542A05A6E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878" t="-1" r="8995" b="28739"/>
          <a:stretch>
            <a:fillRect/>
          </a:stretch>
        </p:blipFill>
        <p:spPr>
          <a:xfrm>
            <a:off x="7587737" y="57844"/>
            <a:ext cx="1794803" cy="671639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FE43F678-0115-EDD1-7E9C-D369854FEF2C}"/>
              </a:ext>
            </a:extLst>
          </p:cNvPr>
          <p:cNvSpPr txBox="1">
            <a:spLocks/>
          </p:cNvSpPr>
          <p:nvPr/>
        </p:nvSpPr>
        <p:spPr>
          <a:xfrm>
            <a:off x="585216" y="507027"/>
            <a:ext cx="9518826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04D50E7-F180-F75F-DC3C-408B37004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41" y="514640"/>
            <a:ext cx="10168128" cy="914400"/>
          </a:xfrm>
        </p:spPr>
        <p:txBody>
          <a:bodyPr>
            <a:normAutofit/>
          </a:bodyPr>
          <a:lstStyle/>
          <a:p>
            <a:r>
              <a:rPr lang="en-US" sz="3600" dirty="0"/>
              <a:t>Standard PSD - PMG to Customer through CPC</a:t>
            </a:r>
            <a:endParaRPr sz="3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80D87A-29A1-DD9B-4396-3B6360762B6B}"/>
              </a:ext>
            </a:extLst>
          </p:cNvPr>
          <p:cNvGrpSpPr/>
          <p:nvPr/>
        </p:nvGrpSpPr>
        <p:grpSpPr>
          <a:xfrm>
            <a:off x="15228" y="2911163"/>
            <a:ext cx="1399084" cy="923352"/>
            <a:chOff x="-10161" y="0"/>
            <a:chExt cx="2603869" cy="74934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EB7829-6406-2D27-F2B7-DFBEB30C7842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31FA20-DCFA-67C8-F158-78EF7299D362}"/>
                </a:ext>
              </a:extLst>
            </p:cNvPr>
            <p:cNvSpPr txBox="1"/>
            <p:nvPr/>
          </p:nvSpPr>
          <p:spPr>
            <a:xfrm>
              <a:off x="-10161" y="29735"/>
              <a:ext cx="2593707" cy="719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/>
              <a:r>
                <a:rPr lang="en-US" sz="1600" dirty="0"/>
                <a:t>Creation of PSD Variants along with BIS</a:t>
              </a:r>
              <a:endParaRPr lang="en-IN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8AC46B-405E-32AF-BDFE-69A03F452463}"/>
              </a:ext>
            </a:extLst>
          </p:cNvPr>
          <p:cNvGrpSpPr/>
          <p:nvPr/>
        </p:nvGrpSpPr>
        <p:grpSpPr>
          <a:xfrm>
            <a:off x="15228" y="3916211"/>
            <a:ext cx="1399084" cy="950997"/>
            <a:chOff x="-10161" y="0"/>
            <a:chExt cx="2603869" cy="779077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E967EE5-D8D9-3579-F9A8-0CAE184D8D98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792692-D850-0B10-B4C6-172D63CB4BC5}"/>
                </a:ext>
              </a:extLst>
            </p:cNvPr>
            <p:cNvSpPr txBox="1"/>
            <p:nvPr/>
          </p:nvSpPr>
          <p:spPr>
            <a:xfrm>
              <a:off x="-10161" y="29734"/>
              <a:ext cx="2593708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/>
              <a:r>
                <a:rPr lang="en-US" sz="1600" dirty="0"/>
                <a:t>Communication to Zones &amp; CPC</a:t>
              </a:r>
              <a:endParaRPr lang="en-IN" sz="1600" dirty="0"/>
            </a:p>
          </p:txBody>
        </p:sp>
      </p:grpSp>
      <p:sp>
        <p:nvSpPr>
          <p:cNvPr id="54" name="Rounded Rectangle 4">
            <a:extLst>
              <a:ext uri="{FF2B5EF4-FFF2-40B4-BE49-F238E27FC236}">
                <a16:creationId xmlns:a16="http://schemas.microsoft.com/office/drawing/2014/main" id="{F7E540B1-1DE6-BDBE-3E42-16A5D18DF5BD}"/>
              </a:ext>
            </a:extLst>
          </p:cNvPr>
          <p:cNvSpPr/>
          <p:nvPr/>
        </p:nvSpPr>
        <p:spPr>
          <a:xfrm>
            <a:off x="5996599" y="1909984"/>
            <a:ext cx="1436270" cy="89270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CPC-</a:t>
            </a:r>
            <a:r>
              <a:rPr lang="en-US" b="1" dirty="0">
                <a:solidFill>
                  <a:schemeClr val="tx1"/>
                </a:solidFill>
              </a:rPr>
              <a:t> Head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56" name="Rounded Rectangle 4">
            <a:extLst>
              <a:ext uri="{FF2B5EF4-FFF2-40B4-BE49-F238E27FC236}">
                <a16:creationId xmlns:a16="http://schemas.microsoft.com/office/drawing/2014/main" id="{661BF256-7AE2-49B7-13E4-D2DF826615FC}"/>
              </a:ext>
            </a:extLst>
          </p:cNvPr>
          <p:cNvSpPr/>
          <p:nvPr/>
        </p:nvSpPr>
        <p:spPr>
          <a:xfrm>
            <a:off x="4407047" y="5581993"/>
            <a:ext cx="1436271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Zonal F&amp;A</a:t>
            </a:r>
            <a:endParaRPr b="1" dirty="0">
              <a:solidFill>
                <a:schemeClr val="tx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1AB38D8-83E1-B5AC-1866-F4E4A3092E76}"/>
              </a:ext>
            </a:extLst>
          </p:cNvPr>
          <p:cNvGrpSpPr/>
          <p:nvPr/>
        </p:nvGrpSpPr>
        <p:grpSpPr>
          <a:xfrm>
            <a:off x="6047665" y="5588976"/>
            <a:ext cx="2174660" cy="896567"/>
            <a:chOff x="-7239" y="0"/>
            <a:chExt cx="2600947" cy="76504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27B433-7A2D-4710-AB5A-BB42D6DB1E9E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B77EB35-AC15-B0A8-F76E-6974DCB78A60}"/>
                </a:ext>
              </a:extLst>
            </p:cNvPr>
            <p:cNvSpPr txBox="1"/>
            <p:nvPr/>
          </p:nvSpPr>
          <p:spPr>
            <a:xfrm>
              <a:off x="-7239" y="15704"/>
              <a:ext cx="2403486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/>
                <a:t>Transfer to CS a/c based on Renunciation Letters </a:t>
              </a:r>
              <a:endParaRPr lang="en-IN" sz="1600" kern="1200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34CCBF3-8B66-1DAE-7DFF-41BA0AA04A31}"/>
              </a:ext>
            </a:extLst>
          </p:cNvPr>
          <p:cNvCxnSpPr/>
          <p:nvPr/>
        </p:nvCxnSpPr>
        <p:spPr>
          <a:xfrm>
            <a:off x="2867767" y="5111496"/>
            <a:ext cx="62762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2370E1B-F7FB-0510-D85A-0045B694845C}"/>
              </a:ext>
            </a:extLst>
          </p:cNvPr>
          <p:cNvSpPr txBox="1"/>
          <p:nvPr/>
        </p:nvSpPr>
        <p:spPr>
          <a:xfrm>
            <a:off x="5427980" y="5158458"/>
            <a:ext cx="830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Part-3</a:t>
            </a:r>
            <a:endParaRPr lang="en-IN" sz="1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09BE2E-7732-1832-10DF-908559EBAF74}"/>
              </a:ext>
            </a:extLst>
          </p:cNvPr>
          <p:cNvSpPr txBox="1"/>
          <p:nvPr/>
        </p:nvSpPr>
        <p:spPr>
          <a:xfrm>
            <a:off x="1433857" y="350217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E3D804-5EFC-E878-3348-912F9F9A8460}"/>
              </a:ext>
            </a:extLst>
          </p:cNvPr>
          <p:cNvSpPr txBox="1"/>
          <p:nvPr/>
        </p:nvSpPr>
        <p:spPr>
          <a:xfrm>
            <a:off x="1433857" y="4537484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3B2149-D8EF-99B6-F641-50EC7798DD78}"/>
              </a:ext>
            </a:extLst>
          </p:cNvPr>
          <p:cNvSpPr txBox="1"/>
          <p:nvPr/>
        </p:nvSpPr>
        <p:spPr>
          <a:xfrm>
            <a:off x="2857532" y="3519516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A3C3781-4F93-0570-1AAE-489B7D93CA5E}"/>
              </a:ext>
            </a:extLst>
          </p:cNvPr>
          <p:cNvSpPr txBox="1"/>
          <p:nvPr/>
        </p:nvSpPr>
        <p:spPr>
          <a:xfrm>
            <a:off x="5942806" y="4183570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L5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FEDC32-09F7-BF6B-3A23-E5B8FCCE5FE0}"/>
              </a:ext>
            </a:extLst>
          </p:cNvPr>
          <p:cNvSpPr txBox="1"/>
          <p:nvPr/>
        </p:nvSpPr>
        <p:spPr>
          <a:xfrm>
            <a:off x="4369435" y="3596445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L4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8CCE4B-3BF1-B92C-215F-19B30916D212}"/>
              </a:ext>
            </a:extLst>
          </p:cNvPr>
          <p:cNvSpPr txBox="1"/>
          <p:nvPr/>
        </p:nvSpPr>
        <p:spPr>
          <a:xfrm>
            <a:off x="7516585" y="3886817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L6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2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549" y="127133"/>
            <a:ext cx="8430690" cy="1400530"/>
          </a:xfrm>
        </p:spPr>
        <p:txBody>
          <a:bodyPr/>
          <a:lstStyle/>
          <a:p>
            <a:pPr algn="ctr"/>
            <a:r>
              <a:rPr dirty="0"/>
              <a:t>Manual PSD - Case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74352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1.Mapping issue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538728" y="174352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2.Modification in Customer Master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578990" y="1743520"/>
            <a:ext cx="1842633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3.Sales Return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22D06-E4C6-BB51-8460-6759BE5D2D18}"/>
              </a:ext>
            </a:extLst>
          </p:cNvPr>
          <p:cNvSpPr txBox="1"/>
          <p:nvPr/>
        </p:nvSpPr>
        <p:spPr>
          <a:xfrm>
            <a:off x="2624328" y="1030259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Due to Zonal requirements </a:t>
            </a:r>
            <a:endParaRPr lang="en-IN" sz="24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3FB1022A-2E60-BA3A-01A2-D25848D61D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063316"/>
              </p:ext>
            </p:extLst>
          </p:nvPr>
        </p:nvGraphicFramePr>
        <p:xfrm>
          <a:off x="463452" y="3009875"/>
          <a:ext cx="6096000" cy="1799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1942FE4-BB54-52DD-C016-0808A69A3BDC}"/>
              </a:ext>
            </a:extLst>
          </p:cNvPr>
          <p:cNvSpPr txBox="1"/>
          <p:nvPr/>
        </p:nvSpPr>
        <p:spPr>
          <a:xfrm>
            <a:off x="484708" y="3195374"/>
            <a:ext cx="212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 PC MKTG.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D1B24-2CF9-EFE6-3409-B09855851C43}"/>
              </a:ext>
            </a:extLst>
          </p:cNvPr>
          <p:cNvSpPr txBox="1"/>
          <p:nvPr/>
        </p:nvSpPr>
        <p:spPr>
          <a:xfrm>
            <a:off x="484707" y="4148853"/>
            <a:ext cx="212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 PC Head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4F74FB-E8B4-8C0C-1EA2-D3A4FD2812E9}"/>
              </a:ext>
            </a:extLst>
          </p:cNvPr>
          <p:cNvSpPr/>
          <p:nvPr/>
        </p:nvSpPr>
        <p:spPr>
          <a:xfrm>
            <a:off x="2365248" y="4907660"/>
            <a:ext cx="4145280" cy="831600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  <a:p>
            <a:r>
              <a:rPr lang="en-US" dirty="0"/>
              <a:t>Follow Part-2 Standard PSD Process</a:t>
            </a:r>
            <a:endParaRPr lang="en-IN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3A6FE45-CB66-1189-39D8-361B80D1D35A}"/>
              </a:ext>
            </a:extLst>
          </p:cNvPr>
          <p:cNvSpPr/>
          <p:nvPr/>
        </p:nvSpPr>
        <p:spPr>
          <a:xfrm>
            <a:off x="1896927" y="4953525"/>
            <a:ext cx="389073" cy="831600"/>
          </a:xfrm>
          <a:prstGeom prst="leftBrace">
            <a:avLst>
              <a:gd name="adj1" fmla="val 35000"/>
              <a:gd name="adj2" fmla="val 50000"/>
            </a:avLst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64AC0-08AC-15B2-9737-D059860CE30C}"/>
              </a:ext>
            </a:extLst>
          </p:cNvPr>
          <p:cNvSpPr txBox="1"/>
          <p:nvPr/>
        </p:nvSpPr>
        <p:spPr>
          <a:xfrm>
            <a:off x="500549" y="4907660"/>
            <a:ext cx="1590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CPC MKTG.</a:t>
            </a:r>
          </a:p>
          <a:p>
            <a:r>
              <a:rPr lang="en-US" dirty="0"/>
              <a:t>CPC F&amp;A</a:t>
            </a:r>
          </a:p>
          <a:p>
            <a:r>
              <a:rPr lang="en-US" dirty="0"/>
              <a:t>Zonal F&amp;A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05916-4EF5-A4CA-96FD-5E656B04386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878" t="-1" r="8995" b="28739"/>
          <a:stretch>
            <a:fillRect/>
          </a:stretch>
        </p:blipFill>
        <p:spPr>
          <a:xfrm>
            <a:off x="7587737" y="57844"/>
            <a:ext cx="1794803" cy="6716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65223-E9BE-EBB1-638A-2909FD82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7CE4-3166-B887-4802-4ADE73A50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93740"/>
            <a:ext cx="8430690" cy="1400530"/>
          </a:xfrm>
        </p:spPr>
        <p:txBody>
          <a:bodyPr/>
          <a:lstStyle/>
          <a:p>
            <a:pPr algn="ctr"/>
            <a:r>
              <a:rPr dirty="0"/>
              <a:t>Manual PSD - Case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A0BA8-7A08-CBE5-FEFC-35FEED297652}"/>
              </a:ext>
            </a:extLst>
          </p:cNvPr>
          <p:cNvSpPr txBox="1"/>
          <p:nvPr/>
        </p:nvSpPr>
        <p:spPr>
          <a:xfrm>
            <a:off x="3200400" y="1011974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 Possible by </a:t>
            </a:r>
            <a:r>
              <a:rPr lang="en-IN" sz="2400" dirty="0"/>
              <a:t>BIS</a:t>
            </a:r>
          </a:p>
          <a:p>
            <a:endParaRPr lang="en-IN" sz="24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4528DB7-8288-94C9-BEAE-9E66E8E10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2655346"/>
              </p:ext>
            </p:extLst>
          </p:nvPr>
        </p:nvGraphicFramePr>
        <p:xfrm>
          <a:off x="484710" y="3078776"/>
          <a:ext cx="7781466" cy="1832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67FC139-DB82-B461-58D8-5AF4E6F95B57}"/>
              </a:ext>
            </a:extLst>
          </p:cNvPr>
          <p:cNvSpPr txBox="1"/>
          <p:nvPr/>
        </p:nvSpPr>
        <p:spPr>
          <a:xfrm>
            <a:off x="621870" y="3338415"/>
            <a:ext cx="212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 PC MKTG.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9AB3DB-2438-61F9-C6AB-63E1D974DD7A}"/>
              </a:ext>
            </a:extLst>
          </p:cNvPr>
          <p:cNvSpPr txBox="1"/>
          <p:nvPr/>
        </p:nvSpPr>
        <p:spPr>
          <a:xfrm>
            <a:off x="630950" y="4332363"/>
            <a:ext cx="212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 PC Head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ADA898-EC31-C3E8-372D-54533C3A36D3}"/>
              </a:ext>
            </a:extLst>
          </p:cNvPr>
          <p:cNvSpPr/>
          <p:nvPr/>
        </p:nvSpPr>
        <p:spPr>
          <a:xfrm>
            <a:off x="2999231" y="5259945"/>
            <a:ext cx="5193933" cy="811800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  <a:p>
            <a:r>
              <a:rPr lang="en-US" dirty="0"/>
              <a:t>Follow Part-2 Standard PSD Process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A9AC8F-E7BD-FE41-BDBC-A70D803E5C72}"/>
              </a:ext>
            </a:extLst>
          </p:cNvPr>
          <p:cNvSpPr txBox="1"/>
          <p:nvPr/>
        </p:nvSpPr>
        <p:spPr>
          <a:xfrm>
            <a:off x="759094" y="5204180"/>
            <a:ext cx="1590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CPC MKTG.</a:t>
            </a:r>
          </a:p>
          <a:p>
            <a:r>
              <a:rPr lang="en-US" dirty="0"/>
              <a:t>CPC F&amp;A</a:t>
            </a:r>
          </a:p>
          <a:p>
            <a:r>
              <a:rPr lang="en-US" dirty="0"/>
              <a:t>Zonal F&amp;A </a:t>
            </a:r>
            <a:endParaRPr lang="en-IN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83DC303-D626-DA64-7ACA-3415DD8D7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5449192"/>
              </p:ext>
            </p:extLst>
          </p:nvPr>
        </p:nvGraphicFramePr>
        <p:xfrm>
          <a:off x="484710" y="2079859"/>
          <a:ext cx="7708455" cy="943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DFA231C-B71D-2A8D-0964-E04A58E3966F}"/>
              </a:ext>
            </a:extLst>
          </p:cNvPr>
          <p:cNvSpPr txBox="1"/>
          <p:nvPr/>
        </p:nvSpPr>
        <p:spPr>
          <a:xfrm>
            <a:off x="484709" y="2394959"/>
            <a:ext cx="212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CO. PC  MKTG.</a:t>
            </a:r>
            <a:endParaRPr lang="en-IN" dirty="0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4CED354A-BBF6-3357-02E4-D93787D7BD86}"/>
              </a:ext>
            </a:extLst>
          </p:cNvPr>
          <p:cNvSpPr/>
          <p:nvPr/>
        </p:nvSpPr>
        <p:spPr>
          <a:xfrm>
            <a:off x="2480083" y="5232395"/>
            <a:ext cx="389073" cy="831600"/>
          </a:xfrm>
          <a:prstGeom prst="leftBrace">
            <a:avLst>
              <a:gd name="adj1" fmla="val 35000"/>
              <a:gd name="adj2" fmla="val 50000"/>
            </a:avLst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297AF5-0A9E-5F35-41C8-09ACC12C77B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878" t="-1" r="8995" b="28739"/>
          <a:stretch>
            <a:fillRect/>
          </a:stretch>
        </p:blipFill>
        <p:spPr>
          <a:xfrm>
            <a:off x="7587737" y="57844"/>
            <a:ext cx="1794803" cy="67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25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696290" cy="57639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Existing Responsibility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224" y="1433699"/>
            <a:ext cx="3886200" cy="39036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/>
              <a:t>PMG – Circulars, Creation of Variants along with BIS and Communication to Zones</a:t>
            </a:r>
          </a:p>
          <a:p>
            <a:pPr marL="0"/>
            <a:endParaRPr lang="en-US" sz="1800" dirty="0"/>
          </a:p>
          <a:p>
            <a:r>
              <a:rPr lang="en-US" sz="1800" dirty="0"/>
              <a:t>BIS-Creation of variants and Testing in Quality server before it’s release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700" dirty="0"/>
              <a:t>Zone- CIS loading , waiver mapping , </a:t>
            </a:r>
            <a:r>
              <a:rPr lang="en-US" sz="1800" dirty="0"/>
              <a:t>Discount Renunciation letters  Handling</a:t>
            </a: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05DC7-AD4A-D8FC-ADFE-8224CD76DC6B}"/>
              </a:ext>
            </a:extLst>
          </p:cNvPr>
          <p:cNvSpPr txBox="1"/>
          <p:nvPr/>
        </p:nvSpPr>
        <p:spPr>
          <a:xfrm>
            <a:off x="6430617" y="5794513"/>
            <a:ext cx="2099022" cy="334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Along with these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9D602-2A5B-06E7-0488-003B6030CC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8" t="-1" r="8995" b="28739"/>
          <a:stretch>
            <a:fillRect/>
          </a:stretch>
        </p:blipFill>
        <p:spPr>
          <a:xfrm>
            <a:off x="7587737" y="57844"/>
            <a:ext cx="1794803" cy="6716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767722"/>
            <a:ext cx="2266158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8036272-B3C3-5A74-5C88-B723ADB7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8199"/>
            <a:ext cx="3143250" cy="5338763"/>
          </a:xfrm>
        </p:spPr>
        <p:txBody>
          <a:bodyPr>
            <a:normAutofit/>
          </a:bodyPr>
          <a:lstStyle/>
          <a:p>
            <a:r>
              <a:rPr lang="en-US" sz="4100" dirty="0"/>
              <a:t>Additional Responsibility Matrix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889187-984E-B23C-D13C-D5F2B5B1C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749" y="787327"/>
            <a:ext cx="4538601" cy="5338763"/>
          </a:xfrm>
        </p:spPr>
        <p:txBody>
          <a:bodyPr anchor="ctr">
            <a:normAutofit/>
          </a:bodyPr>
          <a:lstStyle/>
          <a:p>
            <a:r>
              <a:rPr lang="en-US" sz="1600" b="1" dirty="0"/>
              <a:t>BIS</a:t>
            </a:r>
            <a:r>
              <a:rPr lang="en-US" sz="1600" dirty="0"/>
              <a:t>-Auto-capture of Shortfall waiver after mapping shortfall grades, Access of T-codes for Discount Processing to CPC MKTG. &amp; CPC F&amp;A , Provision for Verification in SAP by Zonal PC executive &amp; PC /Head.</a:t>
            </a:r>
          </a:p>
          <a:p>
            <a:r>
              <a:rPr lang="en-US" sz="1600" b="1" dirty="0"/>
              <a:t>PMG </a:t>
            </a:r>
            <a:r>
              <a:rPr lang="en-US" sz="1600" dirty="0"/>
              <a:t>–Shortfall grades declaration &amp; mapping</a:t>
            </a:r>
          </a:p>
          <a:p>
            <a:r>
              <a:rPr lang="en-US" sz="1600" b="1" dirty="0"/>
              <a:t>Zonal PC Mktg. </a:t>
            </a:r>
            <a:r>
              <a:rPr lang="en-US" sz="1600" dirty="0"/>
              <a:t>– Verification in SAP by PC executive, Verification in SAP by PC Head, Upload Sales Return details &amp; customer waivers details in SAP and etc..</a:t>
            </a:r>
          </a:p>
          <a:p>
            <a:r>
              <a:rPr lang="en-US" sz="1600" b="1" dirty="0"/>
              <a:t>CPC MKTG. </a:t>
            </a:r>
            <a:r>
              <a:rPr lang="en-US" sz="1600" dirty="0"/>
              <a:t>– Verify, Create Rebate orders &amp; Forward to CPC F&amp;A for vetting and Taking Approval from CPC Head for further processing at CPC F&amp;A</a:t>
            </a:r>
          </a:p>
          <a:p>
            <a:r>
              <a:rPr lang="en-US" sz="1600" b="1" dirty="0"/>
              <a:t>CPC F&amp;A –</a:t>
            </a:r>
            <a:r>
              <a:rPr lang="en-US" sz="1600" dirty="0"/>
              <a:t>Vet Discounts, Processing Rebate Orders &amp; Record in Customer G/L account, Generating Credit Notes , download &amp;dispatch to respective customers</a:t>
            </a:r>
          </a:p>
          <a:p>
            <a:r>
              <a:rPr lang="en-US" sz="1600" b="1" dirty="0"/>
              <a:t>Zonal F&amp;A–</a:t>
            </a:r>
            <a:r>
              <a:rPr lang="en-US" sz="1600" dirty="0"/>
              <a:t>Transfer to CS account based on  Renunciation letters </a:t>
            </a:r>
          </a:p>
          <a:p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92961D-0F87-534E-34E8-3D5360B1F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78" t="-1" r="8995" b="28739"/>
          <a:stretch>
            <a:fillRect/>
          </a:stretch>
        </p:blipFill>
        <p:spPr>
          <a:xfrm>
            <a:off x="7587737" y="57844"/>
            <a:ext cx="1794803" cy="67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45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F2F2-BA73-2707-3ACD-217E0180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9CC9-2BBA-4503-B708-0D04F4DE2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266" y="630936"/>
            <a:ext cx="8531274" cy="936102"/>
          </a:xfrm>
        </p:spPr>
        <p:txBody>
          <a:bodyPr/>
          <a:lstStyle/>
          <a:p>
            <a:r>
              <a:rPr lang="en-US" sz="3600" dirty="0"/>
              <a:t>The following are to be provided to CPC </a:t>
            </a:r>
            <a:endParaRPr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C9C22-2873-8ECA-9D2D-5777E54FDE88}"/>
              </a:ext>
            </a:extLst>
          </p:cNvPr>
          <p:cNvSpPr txBox="1"/>
          <p:nvPr/>
        </p:nvSpPr>
        <p:spPr>
          <a:xfrm>
            <a:off x="767307" y="2425107"/>
            <a:ext cx="42394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PMG-Pricing/Sales group:</a:t>
            </a:r>
          </a:p>
          <a:p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 of approved PSD Circulars/GAIL Waivers for CIS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PSD Variant or any discount related Communications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Group/MLE and Shortfall grades related 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77A6A-2375-3999-5E26-896A1316FB17}"/>
              </a:ext>
            </a:extLst>
          </p:cNvPr>
          <p:cNvSpPr txBox="1"/>
          <p:nvPr/>
        </p:nvSpPr>
        <p:spPr>
          <a:xfrm>
            <a:off x="5372935" y="2425107"/>
            <a:ext cx="32888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Zonal Office:</a:t>
            </a:r>
          </a:p>
          <a:p>
            <a:endParaRPr lang="en-US" u="sng" dirty="0"/>
          </a:p>
          <a:p>
            <a:r>
              <a:rPr lang="en-US" dirty="0"/>
              <a:t> *In case of CIS, Customer waiver letters.</a:t>
            </a:r>
          </a:p>
          <a:p>
            <a:r>
              <a:rPr lang="en-US" dirty="0"/>
              <a:t>*Details of Sales Return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F111D3-5DB3-ADA0-AA09-E5AA583B02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8" t="-1" r="8995" b="28739"/>
          <a:stretch>
            <a:fillRect/>
          </a:stretch>
        </p:blipFill>
        <p:spPr>
          <a:xfrm>
            <a:off x="7587737" y="57844"/>
            <a:ext cx="1794803" cy="67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4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3AB84A-BEDA-BAD4-1F33-4E6858571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60B60-73A4-3F7E-F568-7A9580B72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501" y="2064105"/>
            <a:ext cx="6760761" cy="18528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CIS Processing Framework</a:t>
            </a:r>
            <a:br>
              <a:rPr lang="en-US" sz="4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4374554"/>
            <a:ext cx="9144005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4374554"/>
            <a:ext cx="3038508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9143988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4380927"/>
            <a:ext cx="9144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A545F8-8179-4BD1-A330-AF6DAAF281F0}"/>
              </a:ext>
            </a:extLst>
          </p:cNvPr>
          <p:cNvSpPr txBox="1"/>
          <p:nvPr/>
        </p:nvSpPr>
        <p:spPr>
          <a:xfrm>
            <a:off x="2897648" y="3362928"/>
            <a:ext cx="3200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L1-L6 End-to-End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0965DE-1EEE-32CC-7213-9966F9494FF9}"/>
              </a:ext>
            </a:extLst>
          </p:cNvPr>
          <p:cNvSpPr/>
          <p:nvPr/>
        </p:nvSpPr>
        <p:spPr>
          <a:xfrm>
            <a:off x="7294654" y="6352282"/>
            <a:ext cx="217497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  <a:t>Y.AJAYAKANTH</a:t>
            </a:r>
          </a:p>
          <a:p>
            <a:pPr algn="ctr"/>
            <a:r>
              <a:rPr lang="en-US" sz="1200" b="1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  <a:t>SM(MKTG-PC-CPC)</a:t>
            </a:r>
          </a:p>
        </p:txBody>
      </p:sp>
    </p:spTree>
    <p:extLst>
      <p:ext uri="{BB962C8B-B14F-4D97-AF65-F5344CB8AC3E}">
        <p14:creationId xmlns:p14="http://schemas.microsoft.com/office/powerpoint/2010/main" val="3461921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3" y="0"/>
            <a:ext cx="914399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1755648" y="342369"/>
            <a:ext cx="5623559" cy="903324"/>
          </a:xfrm>
          <a:prstGeom prst="rect">
            <a:avLst/>
          </a:prstGeom>
          <a:noFill/>
        </p:spPr>
        <p:txBody>
          <a:bodyPr wrap="square" lIns="27432" tIns="20574" rIns="27432" bIns="20574" anchor="t">
            <a:spAutoFit/>
          </a:bodyPr>
          <a:lstStyle/>
          <a:p>
            <a:r>
              <a:rPr sz="2800" b="1" dirty="0">
                <a:solidFill>
                  <a:schemeClr val="bg1"/>
                </a:solidFill>
                <a:latin typeface="Aptos"/>
              </a:rPr>
              <a:t>The Discount </a:t>
            </a:r>
            <a:r>
              <a:rPr lang="en-IN" sz="2800" b="1" dirty="0">
                <a:solidFill>
                  <a:schemeClr val="bg1"/>
                </a:solidFill>
                <a:latin typeface="Aptos"/>
              </a:rPr>
              <a:t>Operating Model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:
</a:t>
            </a:r>
            <a:r>
              <a:rPr lang="en-US" sz="2800" b="1" dirty="0">
                <a:solidFill>
                  <a:schemeClr val="bg1"/>
                </a:solidFill>
                <a:latin typeface="Aptos"/>
              </a:rPr>
              <a:t>         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A Six-Level </a:t>
            </a:r>
            <a:r>
              <a:rPr lang="en-US" sz="2800" b="1" dirty="0">
                <a:solidFill>
                  <a:schemeClr val="bg1"/>
                </a:solidFill>
                <a:latin typeface="Aptos"/>
              </a:rPr>
              <a:t>Workflow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71451" y="2228850"/>
            <a:ext cx="1392173" cy="2228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253747" y="2345653"/>
            <a:ext cx="1227581" cy="34932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2000" b="1" dirty="0">
                <a:solidFill>
                  <a:srgbClr val="219AC4"/>
                </a:solidFill>
                <a:latin typeface="Aptos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882" y="2873714"/>
            <a:ext cx="1337309" cy="380104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Zonal PC Marketing Executive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3408426"/>
            <a:ext cx="1186434" cy="0"/>
          </a:xfrm>
          <a:prstGeom prst="line">
            <a:avLst/>
          </a:prstGeom>
          <a:ln w="38100">
            <a:solidFill>
              <a:srgbClr val="219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3747" y="3721352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Verify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63624" y="3291840"/>
            <a:ext cx="54865" cy="0"/>
          </a:xfrm>
          <a:prstGeom prst="line">
            <a:avLst/>
          </a:prstGeom>
          <a:ln w="2159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618489" y="2228850"/>
            <a:ext cx="1392173" cy="2228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1700785" y="2345653"/>
            <a:ext cx="1227581" cy="34932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2000" b="1" dirty="0">
                <a:solidFill>
                  <a:srgbClr val="449D69"/>
                </a:solidFill>
                <a:latin typeface="Aptos"/>
              </a:rP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5" y="2966973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Zonal PC Head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21359" y="3408426"/>
            <a:ext cx="1186433" cy="0"/>
          </a:xfrm>
          <a:prstGeom prst="line">
            <a:avLst/>
          </a:prstGeom>
          <a:ln w="38100">
            <a:solidFill>
              <a:srgbClr val="449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80211" y="3688532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1100" dirty="0">
                <a:solidFill>
                  <a:srgbClr val="141414"/>
                </a:solidFill>
                <a:latin typeface="Aptos"/>
              </a:rPr>
              <a:t>Forward</a:t>
            </a:r>
            <a:endParaRPr sz="1100" dirty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010662" y="3291840"/>
            <a:ext cx="54865" cy="0"/>
          </a:xfrm>
          <a:prstGeom prst="line">
            <a:avLst/>
          </a:prstGeom>
          <a:ln w="2159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65527" y="2228850"/>
            <a:ext cx="1392173" cy="2228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3147823" y="2345653"/>
            <a:ext cx="1227581" cy="34932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2000" b="1" dirty="0">
                <a:solidFill>
                  <a:srgbClr val="EE601D"/>
                </a:solidFill>
                <a:latin typeface="Aptos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7823" y="2966973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CPC Marketing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68396" y="3408426"/>
            <a:ext cx="1186434" cy="0"/>
          </a:xfrm>
          <a:prstGeom prst="line">
            <a:avLst/>
          </a:prstGeom>
          <a:ln w="38100">
            <a:solidFill>
              <a:srgbClr val="EE60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47823" y="3721352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Execution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57700" y="3291840"/>
            <a:ext cx="54864" cy="0"/>
          </a:xfrm>
          <a:prstGeom prst="line">
            <a:avLst/>
          </a:prstGeom>
          <a:ln w="2159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12565" y="2228850"/>
            <a:ext cx="1392173" cy="2228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4594861" y="2345653"/>
            <a:ext cx="1227581" cy="34932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2000" b="1" dirty="0">
                <a:solidFill>
                  <a:srgbClr val="7B5BA4"/>
                </a:solidFill>
                <a:latin typeface="Aptos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4861" y="2966973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CPC Finance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15435" y="3408426"/>
            <a:ext cx="1186433" cy="0"/>
          </a:xfrm>
          <a:prstGeom prst="line">
            <a:avLst/>
          </a:prstGeom>
          <a:ln w="38100">
            <a:solidFill>
              <a:srgbClr val="7B5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94861" y="3721352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Financial Vetting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04738" y="3291840"/>
            <a:ext cx="54865" cy="0"/>
          </a:xfrm>
          <a:prstGeom prst="line">
            <a:avLst/>
          </a:prstGeom>
          <a:ln w="2159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59603" y="2228850"/>
            <a:ext cx="1392173" cy="2228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TextBox 28"/>
          <p:cNvSpPr txBox="1"/>
          <p:nvPr/>
        </p:nvSpPr>
        <p:spPr>
          <a:xfrm>
            <a:off x="6041898" y="2345653"/>
            <a:ext cx="1227581" cy="34932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2000" b="1" dirty="0">
                <a:solidFill>
                  <a:srgbClr val="C24141"/>
                </a:solidFill>
                <a:latin typeface="Aptos"/>
              </a:rPr>
              <a:t>L5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41898" y="2966973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CPC Head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62473" y="3408426"/>
            <a:ext cx="1186433" cy="0"/>
          </a:xfrm>
          <a:prstGeom prst="line">
            <a:avLst/>
          </a:prstGeom>
          <a:ln w="38100">
            <a:solidFill>
              <a:srgbClr val="C2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41898" y="3721352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Final Approval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51775" y="3291840"/>
            <a:ext cx="54864" cy="0"/>
          </a:xfrm>
          <a:prstGeom prst="line">
            <a:avLst/>
          </a:prstGeom>
          <a:ln w="2159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06640" y="2228850"/>
            <a:ext cx="1392173" cy="2228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TextBox 34"/>
          <p:cNvSpPr txBox="1"/>
          <p:nvPr/>
        </p:nvSpPr>
        <p:spPr>
          <a:xfrm>
            <a:off x="7488936" y="2345653"/>
            <a:ext cx="1227581" cy="34932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2000" b="1" dirty="0">
                <a:solidFill>
                  <a:srgbClr val="278553"/>
                </a:solidFill>
                <a:latin typeface="Aptos"/>
              </a:rPr>
              <a:t>L6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8936" y="2966973"/>
            <a:ext cx="1227581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CPC Finance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09511" y="3408426"/>
            <a:ext cx="1186433" cy="0"/>
          </a:xfrm>
          <a:prstGeom prst="line">
            <a:avLst/>
          </a:prstGeom>
          <a:ln w="3810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488936" y="3636714"/>
            <a:ext cx="1227581" cy="380104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Discount Disbursement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7" y="5170075"/>
            <a:ext cx="8195310" cy="5623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TextBox 39"/>
          <p:cNvSpPr txBox="1"/>
          <p:nvPr/>
        </p:nvSpPr>
        <p:spPr>
          <a:xfrm>
            <a:off x="675511" y="5323065"/>
            <a:ext cx="77838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1100" b="1" dirty="0">
                <a:solidFill>
                  <a:srgbClr val="141414"/>
                </a:solidFill>
                <a:latin typeface="Aptos"/>
              </a:rPr>
              <a:t>W</a:t>
            </a:r>
            <a:r>
              <a:rPr sz="1100" b="1" dirty="0">
                <a:solidFill>
                  <a:srgbClr val="141414"/>
                </a:solidFill>
                <a:latin typeface="Aptos"/>
              </a:rPr>
              <a:t>orkflow mapping: L1/L2 verification → L3 execution → L4 financial vetting → L5 final approval → L6 discount disbursement.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2999232" y="413889"/>
            <a:ext cx="8229600" cy="472437"/>
          </a:xfrm>
          <a:prstGeom prst="rect">
            <a:avLst/>
          </a:prstGeom>
          <a:noFill/>
        </p:spPr>
        <p:txBody>
          <a:bodyPr wrap="square" lIns="27432" tIns="20574" rIns="27432" bIns="20574" anchor="t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Aptos"/>
              </a:rPr>
              <a:t>Verification by L1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1645920"/>
            <a:ext cx="185166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3223260" y="1705100"/>
            <a:ext cx="171450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T-code YRVG004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80510" y="2002536"/>
            <a:ext cx="0" cy="192024"/>
          </a:xfrm>
          <a:prstGeom prst="line">
            <a:avLst/>
          </a:prstGeom>
          <a:ln w="2159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54680" y="2208275"/>
            <a:ext cx="185166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3223260" y="2267455"/>
            <a:ext cx="171450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Run CIS Scheme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80510" y="2564893"/>
            <a:ext cx="0" cy="192023"/>
          </a:xfrm>
          <a:prstGeom prst="line">
            <a:avLst/>
          </a:prstGeom>
          <a:ln w="2159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80" y="2770632"/>
            <a:ext cx="185166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3223260" y="2829812"/>
            <a:ext cx="171450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Enter Month &amp; Sales Office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0510" y="3127248"/>
            <a:ext cx="0" cy="192024"/>
          </a:xfrm>
          <a:prstGeom prst="line">
            <a:avLst/>
          </a:prstGeom>
          <a:ln w="2159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54680" y="3332988"/>
            <a:ext cx="185166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3223260" y="3332988"/>
            <a:ext cx="1714500" cy="380104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Verify Discount +</a:t>
            </a:r>
            <a:r>
              <a:rPr lang="en-US" sz="1100" dirty="0">
                <a:solidFill>
                  <a:srgbClr val="141414"/>
                </a:solidFill>
                <a:latin typeface="Aptos"/>
              </a:rPr>
              <a:t> </a:t>
            </a:r>
          </a:p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 Waiver Details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0510" y="3689604"/>
            <a:ext cx="0" cy="192024"/>
          </a:xfrm>
          <a:prstGeom prst="line">
            <a:avLst/>
          </a:prstGeom>
          <a:ln w="2159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54680" y="3895343"/>
            <a:ext cx="185166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3223260" y="3954523"/>
            <a:ext cx="171450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Execute Program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9340" y="3840479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ectangle 18"/>
          <p:cNvSpPr/>
          <p:nvPr/>
        </p:nvSpPr>
        <p:spPr>
          <a:xfrm>
            <a:off x="5246370" y="3913450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cxnSp>
        <p:nvCxnSpPr>
          <p:cNvPr id="20" name="Connector 19"/>
          <p:cNvCxnSpPr/>
          <p:nvPr/>
        </p:nvCxnSpPr>
        <p:spPr>
          <a:xfrm>
            <a:off x="5431536" y="3936492"/>
            <a:ext cx="740664" cy="0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3154680"/>
            <a:ext cx="2194560" cy="1543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6412230" y="3418261"/>
            <a:ext cx="377190" cy="330090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875">
                <a:solidFill>
                  <a:srgbClr val="141414"/>
                </a:solidFill>
                <a:latin typeface="Aptos"/>
              </a:rPr>
              <a:t>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2903" y="3761663"/>
            <a:ext cx="1714500" cy="22621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200" b="1" dirty="0">
                <a:solidFill>
                  <a:srgbClr val="141414"/>
                </a:solidFill>
                <a:latin typeface="Aptos"/>
              </a:rPr>
              <a:t>Email Trigger to L2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9934" y="3987878"/>
            <a:ext cx="1714500" cy="422423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825" dirty="0">
                <a:solidFill>
                  <a:srgbClr val="141414"/>
                </a:solidFill>
                <a:latin typeface="Aptos"/>
              </a:rPr>
              <a:t>The system automatically
notifies the Approver,
eliminating manual follow-ups.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40330" y="1680210"/>
            <a:ext cx="0" cy="2743200"/>
          </a:xfrm>
          <a:prstGeom prst="line">
            <a:avLst/>
          </a:prstGeom>
          <a:ln w="38100">
            <a:solidFill>
              <a:srgbClr val="449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F374362-0C6B-E933-4C33-8263DAC8F004}"/>
              </a:ext>
            </a:extLst>
          </p:cNvPr>
          <p:cNvSpPr/>
          <p:nvPr/>
        </p:nvSpPr>
        <p:spPr>
          <a:xfrm>
            <a:off x="4080510" y="4497462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92837D-482B-14F6-6AED-13DB4E8F822D}"/>
              </a:ext>
            </a:extLst>
          </p:cNvPr>
          <p:cNvSpPr/>
          <p:nvPr/>
        </p:nvSpPr>
        <p:spPr>
          <a:xfrm>
            <a:off x="4153479" y="4447535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Rounded Rectangle 20">
            <a:extLst>
              <a:ext uri="{FF2B5EF4-FFF2-40B4-BE49-F238E27FC236}">
                <a16:creationId xmlns:a16="http://schemas.microsoft.com/office/drawing/2014/main" id="{08BF601D-358B-DD1D-539A-D9893A0002E9}"/>
              </a:ext>
            </a:extLst>
          </p:cNvPr>
          <p:cNvSpPr/>
          <p:nvPr/>
        </p:nvSpPr>
        <p:spPr>
          <a:xfrm>
            <a:off x="3363850" y="4697730"/>
            <a:ext cx="1628774" cy="6594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49F06A-52E8-65E0-67C7-AE678BEAEC96}"/>
              </a:ext>
            </a:extLst>
          </p:cNvPr>
          <p:cNvSpPr txBox="1"/>
          <p:nvPr/>
        </p:nvSpPr>
        <p:spPr>
          <a:xfrm>
            <a:off x="3319271" y="4822016"/>
            <a:ext cx="1714500" cy="410882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141414"/>
                </a:solidFill>
                <a:latin typeface="Aptos"/>
              </a:rPr>
              <a:t>Comments/Remarks Entry</a:t>
            </a:r>
            <a:endParaRPr sz="1200" b="1" dirty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274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2425605" y="444320"/>
            <a:ext cx="8229600" cy="472437"/>
          </a:xfrm>
          <a:prstGeom prst="rect">
            <a:avLst/>
          </a:prstGeom>
          <a:noFill/>
        </p:spPr>
        <p:txBody>
          <a:bodyPr wrap="square" lIns="27432" tIns="20574" rIns="27432" bIns="20574" anchor="t">
            <a:sp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ptos"/>
              </a:rPr>
              <a:t>Verify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and </a:t>
            </a:r>
            <a:r>
              <a:rPr lang="en-US" sz="2800" b="1" dirty="0">
                <a:solidFill>
                  <a:schemeClr val="bg1"/>
                </a:solidFill>
                <a:latin typeface="Aptos"/>
              </a:rPr>
              <a:t>Forward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by L2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13570" y="1757812"/>
            <a:ext cx="1586008" cy="4222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1664208" y="1858843"/>
            <a:ext cx="120015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Open YRVG004_A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3634" y="2769564"/>
            <a:ext cx="1403604" cy="5266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1691640" y="2900436"/>
            <a:ext cx="120015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Review Discounts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227707" y="2180040"/>
            <a:ext cx="0" cy="589524"/>
          </a:xfrm>
          <a:prstGeom prst="line">
            <a:avLst/>
          </a:prstGeom>
          <a:ln w="19050">
            <a:solidFill>
              <a:srgbClr val="696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4377687" y="3103245"/>
            <a:ext cx="1165860" cy="651510"/>
          </a:xfrm>
          <a:prstGeom prst="diamond">
            <a:avLst/>
          </a:prstGeom>
          <a:solidFill>
            <a:srgbClr val="FFFFFF"/>
          </a:solidFill>
          <a:ln>
            <a:solidFill>
              <a:srgbClr val="696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4516154" y="3332856"/>
            <a:ext cx="7543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Correct?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0382" y="3275656"/>
            <a:ext cx="1165855" cy="4596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1810327" y="3414074"/>
            <a:ext cx="9258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NO / Reject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38" y="3147822"/>
            <a:ext cx="1325879" cy="6087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6886573" y="3380316"/>
            <a:ext cx="99441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YES / Approve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7058" y="4678707"/>
            <a:ext cx="1440180" cy="3771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1629918" y="4756989"/>
            <a:ext cx="12687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Email Trigger to L1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38" y="4251960"/>
            <a:ext cx="1440180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6777987" y="4407152"/>
            <a:ext cx="12687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Email Trigger to L3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5550408" y="3449574"/>
            <a:ext cx="1170430" cy="5715"/>
          </a:xfrm>
          <a:prstGeom prst="line">
            <a:avLst/>
          </a:prstGeom>
          <a:ln w="2286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</p:cNvCxnSpPr>
          <p:nvPr/>
        </p:nvCxnSpPr>
        <p:spPr>
          <a:xfrm>
            <a:off x="2306574" y="3754755"/>
            <a:ext cx="0" cy="923952"/>
          </a:xfrm>
          <a:prstGeom prst="line">
            <a:avLst/>
          </a:prstGeom>
          <a:ln w="19050">
            <a:solidFill>
              <a:srgbClr val="DC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>
            <a:off x="7383778" y="3756591"/>
            <a:ext cx="0" cy="495369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E0FE0362-950B-2016-E2A0-42701F0247F3}"/>
              </a:ext>
            </a:extLst>
          </p:cNvPr>
          <p:cNvSpPr/>
          <p:nvPr/>
        </p:nvSpPr>
        <p:spPr>
          <a:xfrm>
            <a:off x="5613363" y="2591601"/>
            <a:ext cx="809244" cy="447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1B3EBF-30FC-46F8-7706-E948A8C339B2}"/>
              </a:ext>
            </a:extLst>
          </p:cNvPr>
          <p:cNvSpPr txBox="1"/>
          <p:nvPr/>
        </p:nvSpPr>
        <p:spPr>
          <a:xfrm>
            <a:off x="5613363" y="2631931"/>
            <a:ext cx="829817" cy="318549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900" b="1" dirty="0">
                <a:solidFill>
                  <a:srgbClr val="141414"/>
                </a:solidFill>
                <a:latin typeface="Aptos"/>
              </a:rPr>
              <a:t>Comments/ Remarks Entry</a:t>
            </a:r>
            <a:endParaRPr sz="9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C31F1272-BEEF-FDA5-C25B-9C688C6F4ACC}"/>
              </a:ext>
            </a:extLst>
          </p:cNvPr>
          <p:cNvSpPr/>
          <p:nvPr/>
        </p:nvSpPr>
        <p:spPr>
          <a:xfrm>
            <a:off x="898398" y="3998560"/>
            <a:ext cx="809244" cy="447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6DDC50-BC7A-0B59-F297-1C9CA2A9FE88}"/>
              </a:ext>
            </a:extLst>
          </p:cNvPr>
          <p:cNvSpPr txBox="1"/>
          <p:nvPr/>
        </p:nvSpPr>
        <p:spPr>
          <a:xfrm>
            <a:off x="877825" y="4037832"/>
            <a:ext cx="829817" cy="318549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900" b="1" dirty="0">
                <a:solidFill>
                  <a:srgbClr val="141414"/>
                </a:solidFill>
                <a:latin typeface="Aptos"/>
              </a:rPr>
              <a:t>Comments/ Remarks Entry</a:t>
            </a:r>
            <a:endParaRPr sz="9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09476A-1A71-76CC-5D82-6A5DC19D49BC}"/>
              </a:ext>
            </a:extLst>
          </p:cNvPr>
          <p:cNvSpPr/>
          <p:nvPr/>
        </p:nvSpPr>
        <p:spPr>
          <a:xfrm>
            <a:off x="5984241" y="3229571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628DEF-7F3E-35E1-10A2-3913B0875DF1}"/>
              </a:ext>
            </a:extLst>
          </p:cNvPr>
          <p:cNvSpPr/>
          <p:nvPr/>
        </p:nvSpPr>
        <p:spPr>
          <a:xfrm>
            <a:off x="1920055" y="4193689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ECF044-5C8D-2F5E-4C19-BE467801D48B}"/>
              </a:ext>
            </a:extLst>
          </p:cNvPr>
          <p:cNvSpPr/>
          <p:nvPr/>
        </p:nvSpPr>
        <p:spPr>
          <a:xfrm>
            <a:off x="6057211" y="3156220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6CCD2B-BFD3-E971-7D87-32A289D426D2}"/>
              </a:ext>
            </a:extLst>
          </p:cNvPr>
          <p:cNvSpPr/>
          <p:nvPr/>
        </p:nvSpPr>
        <p:spPr>
          <a:xfrm>
            <a:off x="1993025" y="4130067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cxnSp>
        <p:nvCxnSpPr>
          <p:cNvPr id="27" name="Connector 19">
            <a:extLst>
              <a:ext uri="{FF2B5EF4-FFF2-40B4-BE49-F238E27FC236}">
                <a16:creationId xmlns:a16="http://schemas.microsoft.com/office/drawing/2014/main" id="{4882BD89-333A-637C-E8E0-9DE0F05B80A7}"/>
              </a:ext>
            </a:extLst>
          </p:cNvPr>
          <p:cNvCxnSpPr>
            <a:cxnSpLocks/>
          </p:cNvCxnSpPr>
          <p:nvPr/>
        </p:nvCxnSpPr>
        <p:spPr>
          <a:xfrm>
            <a:off x="2926237" y="3414074"/>
            <a:ext cx="1417643" cy="19879"/>
          </a:xfrm>
          <a:prstGeom prst="line">
            <a:avLst/>
          </a:prstGeom>
          <a:ln w="2286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4E72-994F-6E3B-C54F-3C05D3F1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2DF0F1-4382-A8E8-55FA-E7D8D54FB9CF}"/>
              </a:ext>
            </a:extLst>
          </p:cNvPr>
          <p:cNvSpPr/>
          <p:nvPr/>
        </p:nvSpPr>
        <p:spPr>
          <a:xfrm>
            <a:off x="0" y="-16274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28494-3AD4-88DF-04E1-3D9F21D7441D}"/>
              </a:ext>
            </a:extLst>
          </p:cNvPr>
          <p:cNvSpPr txBox="1"/>
          <p:nvPr/>
        </p:nvSpPr>
        <p:spPr>
          <a:xfrm>
            <a:off x="3297552" y="504494"/>
            <a:ext cx="8229600" cy="472437"/>
          </a:xfrm>
          <a:prstGeom prst="rect">
            <a:avLst/>
          </a:prstGeom>
          <a:noFill/>
        </p:spPr>
        <p:txBody>
          <a:bodyPr wrap="square" lIns="27432" tIns="20574" rIns="27432" bIns="20574" anchor="t">
            <a:sp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ptos"/>
              </a:rPr>
              <a:t>Execution 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by L</a:t>
            </a:r>
            <a:r>
              <a:rPr lang="en-US" sz="2800" b="1" dirty="0">
                <a:solidFill>
                  <a:schemeClr val="bg1"/>
                </a:solidFill>
                <a:latin typeface="Aptos"/>
              </a:rPr>
              <a:t>3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247AC4B-001F-D8B6-532D-FDDD76433C86}"/>
              </a:ext>
            </a:extLst>
          </p:cNvPr>
          <p:cNvSpPr/>
          <p:nvPr/>
        </p:nvSpPr>
        <p:spPr>
          <a:xfrm>
            <a:off x="1513570" y="1757812"/>
            <a:ext cx="1586008" cy="4222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0BB6E-8D49-1D8B-A02F-E7EF5224E506}"/>
              </a:ext>
            </a:extLst>
          </p:cNvPr>
          <p:cNvSpPr txBox="1"/>
          <p:nvPr/>
        </p:nvSpPr>
        <p:spPr>
          <a:xfrm>
            <a:off x="1664208" y="1858843"/>
            <a:ext cx="120015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Open YRVG004_</a:t>
            </a:r>
            <a:r>
              <a:rPr lang="en-US" sz="1100" dirty="0">
                <a:solidFill>
                  <a:srgbClr val="141414"/>
                </a:solidFill>
                <a:latin typeface="Aptos"/>
              </a:rPr>
              <a:t>E</a:t>
            </a:r>
            <a:endParaRPr sz="1100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617DF2-CF78-19E5-2C6F-F0A6116F9CAA}"/>
              </a:ext>
            </a:extLst>
          </p:cNvPr>
          <p:cNvSpPr/>
          <p:nvPr/>
        </p:nvSpPr>
        <p:spPr>
          <a:xfrm>
            <a:off x="1643634" y="2769564"/>
            <a:ext cx="1403604" cy="5266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96357-EC5F-B3D9-D36C-9807E641360B}"/>
              </a:ext>
            </a:extLst>
          </p:cNvPr>
          <p:cNvSpPr txBox="1"/>
          <p:nvPr/>
        </p:nvSpPr>
        <p:spPr>
          <a:xfrm>
            <a:off x="1691640" y="2900436"/>
            <a:ext cx="120015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Review Discounts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E98D9BD-C719-ADEC-F787-680766A88996}"/>
              </a:ext>
            </a:extLst>
          </p:cNvPr>
          <p:cNvCxnSpPr>
            <a:cxnSpLocks/>
          </p:cNvCxnSpPr>
          <p:nvPr/>
        </p:nvCxnSpPr>
        <p:spPr>
          <a:xfrm>
            <a:off x="2227707" y="2180040"/>
            <a:ext cx="0" cy="589524"/>
          </a:xfrm>
          <a:prstGeom prst="line">
            <a:avLst/>
          </a:prstGeom>
          <a:ln w="19050">
            <a:solidFill>
              <a:srgbClr val="696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F2DA2656-83E3-CF88-9E24-2B185DB4F3B1}"/>
              </a:ext>
            </a:extLst>
          </p:cNvPr>
          <p:cNvSpPr/>
          <p:nvPr/>
        </p:nvSpPr>
        <p:spPr>
          <a:xfrm>
            <a:off x="4377687" y="3103245"/>
            <a:ext cx="1165860" cy="651510"/>
          </a:xfrm>
          <a:prstGeom prst="diamond">
            <a:avLst/>
          </a:prstGeom>
          <a:solidFill>
            <a:srgbClr val="FFFFFF"/>
          </a:solidFill>
          <a:ln>
            <a:solidFill>
              <a:srgbClr val="696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2D634-70E8-D7E9-C3D8-BEA0BB770D90}"/>
              </a:ext>
            </a:extLst>
          </p:cNvPr>
          <p:cNvSpPr txBox="1"/>
          <p:nvPr/>
        </p:nvSpPr>
        <p:spPr>
          <a:xfrm>
            <a:off x="4516154" y="3332856"/>
            <a:ext cx="7543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Correct?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B58AB5-63E0-A2FD-80D1-56AA313AF81D}"/>
              </a:ext>
            </a:extLst>
          </p:cNvPr>
          <p:cNvSpPr/>
          <p:nvPr/>
        </p:nvSpPr>
        <p:spPr>
          <a:xfrm>
            <a:off x="1760382" y="3275656"/>
            <a:ext cx="1165855" cy="4596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11D37-C772-5D96-F98B-D8BA50EE6884}"/>
              </a:ext>
            </a:extLst>
          </p:cNvPr>
          <p:cNvSpPr txBox="1"/>
          <p:nvPr/>
        </p:nvSpPr>
        <p:spPr>
          <a:xfrm>
            <a:off x="1810327" y="3414074"/>
            <a:ext cx="9258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NO / Reject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A80B872-E58F-FF86-DC76-2489C8F59610}"/>
              </a:ext>
            </a:extLst>
          </p:cNvPr>
          <p:cNvSpPr/>
          <p:nvPr/>
        </p:nvSpPr>
        <p:spPr>
          <a:xfrm>
            <a:off x="6720838" y="3147822"/>
            <a:ext cx="1325879" cy="6087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05472C-094D-B12C-3E30-28660A8B554C}"/>
              </a:ext>
            </a:extLst>
          </p:cNvPr>
          <p:cNvSpPr txBox="1"/>
          <p:nvPr/>
        </p:nvSpPr>
        <p:spPr>
          <a:xfrm>
            <a:off x="6886573" y="3380316"/>
            <a:ext cx="99441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YES / Approve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ED8F556-D50F-4CC1-5F60-5F87E494CD6E}"/>
              </a:ext>
            </a:extLst>
          </p:cNvPr>
          <p:cNvSpPr/>
          <p:nvPr/>
        </p:nvSpPr>
        <p:spPr>
          <a:xfrm>
            <a:off x="1607058" y="4678707"/>
            <a:ext cx="1440180" cy="3771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6504FE-14B7-3CC1-9248-1BFF31A257E3}"/>
              </a:ext>
            </a:extLst>
          </p:cNvPr>
          <p:cNvSpPr txBox="1"/>
          <p:nvPr/>
        </p:nvSpPr>
        <p:spPr>
          <a:xfrm>
            <a:off x="1629918" y="4756989"/>
            <a:ext cx="12687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Email Trigger to L1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E4CF3BF-F872-91E9-09BE-5EA728FE3C04}"/>
              </a:ext>
            </a:extLst>
          </p:cNvPr>
          <p:cNvSpPr/>
          <p:nvPr/>
        </p:nvSpPr>
        <p:spPr>
          <a:xfrm>
            <a:off x="6720838" y="4251960"/>
            <a:ext cx="1440180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0C48F6-CFB6-6FD5-61BC-2F122C77E107}"/>
              </a:ext>
            </a:extLst>
          </p:cNvPr>
          <p:cNvSpPr txBox="1"/>
          <p:nvPr/>
        </p:nvSpPr>
        <p:spPr>
          <a:xfrm>
            <a:off x="6777987" y="4407152"/>
            <a:ext cx="12687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Email Trigger to L</a:t>
            </a:r>
            <a:r>
              <a:rPr lang="en-US" sz="1100" dirty="0">
                <a:solidFill>
                  <a:srgbClr val="141414"/>
                </a:solidFill>
                <a:latin typeface="Aptos"/>
              </a:rPr>
              <a:t>4</a:t>
            </a:r>
            <a:endParaRPr sz="1100" dirty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19898361-2624-01F9-797A-9B4585285F6D}"/>
              </a:ext>
            </a:extLst>
          </p:cNvPr>
          <p:cNvCxnSpPr>
            <a:cxnSpLocks/>
          </p:cNvCxnSpPr>
          <p:nvPr/>
        </p:nvCxnSpPr>
        <p:spPr>
          <a:xfrm>
            <a:off x="5550408" y="3449574"/>
            <a:ext cx="1170430" cy="5715"/>
          </a:xfrm>
          <a:prstGeom prst="line">
            <a:avLst/>
          </a:prstGeom>
          <a:ln w="2286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DC9B04FD-C5DA-F2AE-CFBD-1D585F58F4CA}"/>
              </a:ext>
            </a:extLst>
          </p:cNvPr>
          <p:cNvCxnSpPr>
            <a:cxnSpLocks/>
          </p:cNvCxnSpPr>
          <p:nvPr/>
        </p:nvCxnSpPr>
        <p:spPr>
          <a:xfrm>
            <a:off x="2306574" y="3754755"/>
            <a:ext cx="0" cy="923952"/>
          </a:xfrm>
          <a:prstGeom prst="line">
            <a:avLst/>
          </a:prstGeom>
          <a:ln w="19050">
            <a:solidFill>
              <a:srgbClr val="DC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12133576-BAAA-B91B-4350-65F2C939EC18}"/>
              </a:ext>
            </a:extLst>
          </p:cNvPr>
          <p:cNvCxnSpPr>
            <a:cxnSpLocks/>
          </p:cNvCxnSpPr>
          <p:nvPr/>
        </p:nvCxnSpPr>
        <p:spPr>
          <a:xfrm>
            <a:off x="7383778" y="3756591"/>
            <a:ext cx="0" cy="495369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47A765EB-DAA1-A07B-E147-C1E8FD02625D}"/>
              </a:ext>
            </a:extLst>
          </p:cNvPr>
          <p:cNvSpPr/>
          <p:nvPr/>
        </p:nvSpPr>
        <p:spPr>
          <a:xfrm>
            <a:off x="5613363" y="2591601"/>
            <a:ext cx="809244" cy="447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9BE4FF-C8C3-69F9-D571-7E9824072C24}"/>
              </a:ext>
            </a:extLst>
          </p:cNvPr>
          <p:cNvSpPr txBox="1"/>
          <p:nvPr/>
        </p:nvSpPr>
        <p:spPr>
          <a:xfrm>
            <a:off x="5613363" y="2631931"/>
            <a:ext cx="829817" cy="318549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900" b="1" dirty="0">
                <a:solidFill>
                  <a:srgbClr val="141414"/>
                </a:solidFill>
                <a:latin typeface="Aptos"/>
              </a:rPr>
              <a:t>Comments/ Remarks Entry</a:t>
            </a:r>
            <a:endParaRPr sz="9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76586DA9-BA20-E48A-0381-1AA19BE80B6C}"/>
              </a:ext>
            </a:extLst>
          </p:cNvPr>
          <p:cNvSpPr/>
          <p:nvPr/>
        </p:nvSpPr>
        <p:spPr>
          <a:xfrm>
            <a:off x="898398" y="3998560"/>
            <a:ext cx="809244" cy="447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29A246-A700-7DDC-5E47-1D8BB9BD8BAA}"/>
              </a:ext>
            </a:extLst>
          </p:cNvPr>
          <p:cNvSpPr txBox="1"/>
          <p:nvPr/>
        </p:nvSpPr>
        <p:spPr>
          <a:xfrm>
            <a:off x="877825" y="4037832"/>
            <a:ext cx="829817" cy="318549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900" b="1" dirty="0">
                <a:solidFill>
                  <a:srgbClr val="141414"/>
                </a:solidFill>
                <a:latin typeface="Aptos"/>
              </a:rPr>
              <a:t>Comments/ Remarks Entry</a:t>
            </a:r>
            <a:endParaRPr sz="9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8502ED-95A8-A2A9-6A84-AA5FAF2529D2}"/>
              </a:ext>
            </a:extLst>
          </p:cNvPr>
          <p:cNvSpPr/>
          <p:nvPr/>
        </p:nvSpPr>
        <p:spPr>
          <a:xfrm>
            <a:off x="5984241" y="3229571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AA7837-4835-941F-487D-3CF32064208F}"/>
              </a:ext>
            </a:extLst>
          </p:cNvPr>
          <p:cNvSpPr/>
          <p:nvPr/>
        </p:nvSpPr>
        <p:spPr>
          <a:xfrm>
            <a:off x="1920055" y="4193689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548855-186A-5365-060A-31620DEA5B28}"/>
              </a:ext>
            </a:extLst>
          </p:cNvPr>
          <p:cNvSpPr/>
          <p:nvPr/>
        </p:nvSpPr>
        <p:spPr>
          <a:xfrm>
            <a:off x="6057211" y="3156220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204451-6C2D-446C-3F46-9770C1F6E436}"/>
              </a:ext>
            </a:extLst>
          </p:cNvPr>
          <p:cNvSpPr/>
          <p:nvPr/>
        </p:nvSpPr>
        <p:spPr>
          <a:xfrm>
            <a:off x="1993025" y="4130067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cxnSp>
        <p:nvCxnSpPr>
          <p:cNvPr id="27" name="Connector 19">
            <a:extLst>
              <a:ext uri="{FF2B5EF4-FFF2-40B4-BE49-F238E27FC236}">
                <a16:creationId xmlns:a16="http://schemas.microsoft.com/office/drawing/2014/main" id="{C00D07B0-016F-71D8-8BB1-9A86A5F83A44}"/>
              </a:ext>
            </a:extLst>
          </p:cNvPr>
          <p:cNvCxnSpPr>
            <a:cxnSpLocks/>
          </p:cNvCxnSpPr>
          <p:nvPr/>
        </p:nvCxnSpPr>
        <p:spPr>
          <a:xfrm>
            <a:off x="2926237" y="3414074"/>
            <a:ext cx="1417643" cy="19879"/>
          </a:xfrm>
          <a:prstGeom prst="line">
            <a:avLst/>
          </a:prstGeom>
          <a:ln w="2286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088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74118-FA72-BD80-F48B-36687D784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F92114-6540-4403-A10A-24B95FFC2F8A}"/>
              </a:ext>
            </a:extLst>
          </p:cNvPr>
          <p:cNvSpPr/>
          <p:nvPr/>
        </p:nvSpPr>
        <p:spPr>
          <a:xfrm>
            <a:off x="0" y="-16274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71D83-7FB6-7F88-CE92-F40C24A2DA27}"/>
              </a:ext>
            </a:extLst>
          </p:cNvPr>
          <p:cNvSpPr txBox="1"/>
          <p:nvPr/>
        </p:nvSpPr>
        <p:spPr>
          <a:xfrm>
            <a:off x="2612552" y="523778"/>
            <a:ext cx="3918896" cy="472437"/>
          </a:xfrm>
          <a:prstGeom prst="rect">
            <a:avLst/>
          </a:prstGeom>
          <a:noFill/>
        </p:spPr>
        <p:txBody>
          <a:bodyPr wrap="square" lIns="27432" tIns="20574" rIns="27432" bIns="20574" anchor="t">
            <a:sp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ptos"/>
              </a:rPr>
              <a:t>Financial Vetting 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by L</a:t>
            </a:r>
            <a:r>
              <a:rPr lang="en-US" sz="2800" b="1" dirty="0">
                <a:solidFill>
                  <a:schemeClr val="bg1"/>
                </a:solidFill>
                <a:latin typeface="Aptos"/>
              </a:rPr>
              <a:t>4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53ADBC-B2E4-EE6C-660C-EDCBD2111DA7}"/>
              </a:ext>
            </a:extLst>
          </p:cNvPr>
          <p:cNvSpPr/>
          <p:nvPr/>
        </p:nvSpPr>
        <p:spPr>
          <a:xfrm>
            <a:off x="1513570" y="1757812"/>
            <a:ext cx="1586008" cy="4222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676E7-DEC9-4213-DB22-1915F75BFB61}"/>
              </a:ext>
            </a:extLst>
          </p:cNvPr>
          <p:cNvSpPr txBox="1"/>
          <p:nvPr/>
        </p:nvSpPr>
        <p:spPr>
          <a:xfrm>
            <a:off x="1664208" y="1774205"/>
            <a:ext cx="1200150" cy="380104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1100" dirty="0">
                <a:solidFill>
                  <a:srgbClr val="141414"/>
                </a:solidFill>
              </a:rPr>
              <a:t>T-Code is to be developed by BIS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0B1838-7C8E-905B-FAC2-5485AC9760DA}"/>
              </a:ext>
            </a:extLst>
          </p:cNvPr>
          <p:cNvSpPr/>
          <p:nvPr/>
        </p:nvSpPr>
        <p:spPr>
          <a:xfrm>
            <a:off x="1643634" y="2769564"/>
            <a:ext cx="1403604" cy="5266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85B40-E253-E062-D2A6-0C64270C6F8B}"/>
              </a:ext>
            </a:extLst>
          </p:cNvPr>
          <p:cNvSpPr txBox="1"/>
          <p:nvPr/>
        </p:nvSpPr>
        <p:spPr>
          <a:xfrm>
            <a:off x="1691640" y="2900436"/>
            <a:ext cx="120015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Review Discounts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FF3CF95A-80D5-E65F-7445-44B032DD141A}"/>
              </a:ext>
            </a:extLst>
          </p:cNvPr>
          <p:cNvCxnSpPr>
            <a:cxnSpLocks/>
          </p:cNvCxnSpPr>
          <p:nvPr/>
        </p:nvCxnSpPr>
        <p:spPr>
          <a:xfrm>
            <a:off x="2227707" y="2180040"/>
            <a:ext cx="0" cy="589524"/>
          </a:xfrm>
          <a:prstGeom prst="line">
            <a:avLst/>
          </a:prstGeom>
          <a:ln w="19050">
            <a:solidFill>
              <a:srgbClr val="696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4E2448DE-6F92-2E6F-7BCC-D05486D19937}"/>
              </a:ext>
            </a:extLst>
          </p:cNvPr>
          <p:cNvSpPr/>
          <p:nvPr/>
        </p:nvSpPr>
        <p:spPr>
          <a:xfrm>
            <a:off x="4377687" y="3103245"/>
            <a:ext cx="1165860" cy="651510"/>
          </a:xfrm>
          <a:prstGeom prst="diamond">
            <a:avLst/>
          </a:prstGeom>
          <a:solidFill>
            <a:srgbClr val="FFFFFF"/>
          </a:solidFill>
          <a:ln>
            <a:solidFill>
              <a:srgbClr val="696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7645E-21E9-7492-A975-387409CDABEF}"/>
              </a:ext>
            </a:extLst>
          </p:cNvPr>
          <p:cNvSpPr txBox="1"/>
          <p:nvPr/>
        </p:nvSpPr>
        <p:spPr>
          <a:xfrm>
            <a:off x="4516154" y="3332856"/>
            <a:ext cx="7543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Correct?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A8A4D6A-F818-75B8-6E2D-581C410541AA}"/>
              </a:ext>
            </a:extLst>
          </p:cNvPr>
          <p:cNvSpPr/>
          <p:nvPr/>
        </p:nvSpPr>
        <p:spPr>
          <a:xfrm>
            <a:off x="1760382" y="3275656"/>
            <a:ext cx="1165855" cy="4596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634C89-69BA-2FDA-5A62-3AF12E336D4F}"/>
              </a:ext>
            </a:extLst>
          </p:cNvPr>
          <p:cNvSpPr txBox="1"/>
          <p:nvPr/>
        </p:nvSpPr>
        <p:spPr>
          <a:xfrm>
            <a:off x="1810327" y="3414074"/>
            <a:ext cx="9258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NO / Reject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8ABDA7-47D0-1D61-7C14-08BB2E54F83B}"/>
              </a:ext>
            </a:extLst>
          </p:cNvPr>
          <p:cNvSpPr/>
          <p:nvPr/>
        </p:nvSpPr>
        <p:spPr>
          <a:xfrm>
            <a:off x="6720838" y="3147822"/>
            <a:ext cx="1325879" cy="6087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4E4B44-A938-852A-729B-596E7590DF68}"/>
              </a:ext>
            </a:extLst>
          </p:cNvPr>
          <p:cNvSpPr txBox="1"/>
          <p:nvPr/>
        </p:nvSpPr>
        <p:spPr>
          <a:xfrm>
            <a:off x="6886573" y="3380316"/>
            <a:ext cx="99441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YES / Approve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F998CB7-4BD9-4869-CCD2-CFCCF400821E}"/>
              </a:ext>
            </a:extLst>
          </p:cNvPr>
          <p:cNvSpPr/>
          <p:nvPr/>
        </p:nvSpPr>
        <p:spPr>
          <a:xfrm>
            <a:off x="1607058" y="4678707"/>
            <a:ext cx="1440180" cy="3771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9EA8DA-363F-F50E-84A1-334F5EAF0709}"/>
              </a:ext>
            </a:extLst>
          </p:cNvPr>
          <p:cNvSpPr txBox="1"/>
          <p:nvPr/>
        </p:nvSpPr>
        <p:spPr>
          <a:xfrm>
            <a:off x="1629918" y="4756989"/>
            <a:ext cx="12687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Email Trigger to L1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A9D7B68-450F-919F-6B4E-616DC68A083E}"/>
              </a:ext>
            </a:extLst>
          </p:cNvPr>
          <p:cNvSpPr/>
          <p:nvPr/>
        </p:nvSpPr>
        <p:spPr>
          <a:xfrm>
            <a:off x="6720838" y="4251960"/>
            <a:ext cx="1440180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D2AC9A-A59C-5965-EF00-7EA7850F26FE}"/>
              </a:ext>
            </a:extLst>
          </p:cNvPr>
          <p:cNvSpPr txBox="1"/>
          <p:nvPr/>
        </p:nvSpPr>
        <p:spPr>
          <a:xfrm>
            <a:off x="6777987" y="4407152"/>
            <a:ext cx="12687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Email Trigger to L</a:t>
            </a:r>
            <a:r>
              <a:rPr lang="en-US" sz="1100" dirty="0">
                <a:solidFill>
                  <a:srgbClr val="141414"/>
                </a:solidFill>
                <a:latin typeface="Aptos"/>
              </a:rPr>
              <a:t>5</a:t>
            </a:r>
            <a:endParaRPr sz="1100" dirty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5E8491CC-BFCD-12B5-643E-171361004073}"/>
              </a:ext>
            </a:extLst>
          </p:cNvPr>
          <p:cNvCxnSpPr>
            <a:cxnSpLocks/>
          </p:cNvCxnSpPr>
          <p:nvPr/>
        </p:nvCxnSpPr>
        <p:spPr>
          <a:xfrm>
            <a:off x="5550408" y="3449574"/>
            <a:ext cx="1170430" cy="5715"/>
          </a:xfrm>
          <a:prstGeom prst="line">
            <a:avLst/>
          </a:prstGeom>
          <a:ln w="2286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08EB7A88-2356-3ABA-CD02-7AB663B2C6F7}"/>
              </a:ext>
            </a:extLst>
          </p:cNvPr>
          <p:cNvCxnSpPr>
            <a:cxnSpLocks/>
          </p:cNvCxnSpPr>
          <p:nvPr/>
        </p:nvCxnSpPr>
        <p:spPr>
          <a:xfrm>
            <a:off x="2306574" y="3754755"/>
            <a:ext cx="0" cy="923952"/>
          </a:xfrm>
          <a:prstGeom prst="line">
            <a:avLst/>
          </a:prstGeom>
          <a:ln w="19050">
            <a:solidFill>
              <a:srgbClr val="DC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75CA2F67-4AB3-E054-CB9B-134ED374765D}"/>
              </a:ext>
            </a:extLst>
          </p:cNvPr>
          <p:cNvCxnSpPr>
            <a:cxnSpLocks/>
          </p:cNvCxnSpPr>
          <p:nvPr/>
        </p:nvCxnSpPr>
        <p:spPr>
          <a:xfrm>
            <a:off x="7383778" y="3756591"/>
            <a:ext cx="0" cy="495369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53B48473-61B1-4F1F-0E99-A77ECBE1A501}"/>
              </a:ext>
            </a:extLst>
          </p:cNvPr>
          <p:cNvSpPr/>
          <p:nvPr/>
        </p:nvSpPr>
        <p:spPr>
          <a:xfrm>
            <a:off x="5613363" y="2591601"/>
            <a:ext cx="809244" cy="447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BE10B6-2B0A-9609-C812-27DA9DB84B31}"/>
              </a:ext>
            </a:extLst>
          </p:cNvPr>
          <p:cNvSpPr txBox="1"/>
          <p:nvPr/>
        </p:nvSpPr>
        <p:spPr>
          <a:xfrm>
            <a:off x="5613363" y="2631931"/>
            <a:ext cx="829817" cy="318549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900" b="1" dirty="0">
                <a:solidFill>
                  <a:srgbClr val="141414"/>
                </a:solidFill>
                <a:latin typeface="Aptos"/>
              </a:rPr>
              <a:t>Comments/ Remarks Entry</a:t>
            </a:r>
            <a:endParaRPr sz="9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BFA17AA9-4679-98C8-948F-707597DB220B}"/>
              </a:ext>
            </a:extLst>
          </p:cNvPr>
          <p:cNvSpPr/>
          <p:nvPr/>
        </p:nvSpPr>
        <p:spPr>
          <a:xfrm>
            <a:off x="898398" y="3998560"/>
            <a:ext cx="809244" cy="447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497C3E-4C54-75AB-341E-C1A5956BFB4E}"/>
              </a:ext>
            </a:extLst>
          </p:cNvPr>
          <p:cNvSpPr txBox="1"/>
          <p:nvPr/>
        </p:nvSpPr>
        <p:spPr>
          <a:xfrm>
            <a:off x="877825" y="4037832"/>
            <a:ext cx="829817" cy="318549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900" b="1" dirty="0">
                <a:solidFill>
                  <a:srgbClr val="141414"/>
                </a:solidFill>
                <a:latin typeface="Aptos"/>
              </a:rPr>
              <a:t>Comments/ Remarks Entry</a:t>
            </a:r>
            <a:endParaRPr sz="9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E26115-F87E-4C5D-338C-1544AA5EF461}"/>
              </a:ext>
            </a:extLst>
          </p:cNvPr>
          <p:cNvSpPr/>
          <p:nvPr/>
        </p:nvSpPr>
        <p:spPr>
          <a:xfrm>
            <a:off x="5984241" y="3229571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45F1A2-7B06-8EBC-40D2-D01258B363A4}"/>
              </a:ext>
            </a:extLst>
          </p:cNvPr>
          <p:cNvSpPr/>
          <p:nvPr/>
        </p:nvSpPr>
        <p:spPr>
          <a:xfrm>
            <a:off x="1920055" y="4193689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E6DC6F-320D-1B43-55D7-FF34F663345C}"/>
              </a:ext>
            </a:extLst>
          </p:cNvPr>
          <p:cNvSpPr/>
          <p:nvPr/>
        </p:nvSpPr>
        <p:spPr>
          <a:xfrm>
            <a:off x="6057211" y="3156220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65A042-B79A-0BF2-C7F3-7BD39AF97170}"/>
              </a:ext>
            </a:extLst>
          </p:cNvPr>
          <p:cNvSpPr/>
          <p:nvPr/>
        </p:nvSpPr>
        <p:spPr>
          <a:xfrm>
            <a:off x="1993025" y="4130067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cxnSp>
        <p:nvCxnSpPr>
          <p:cNvPr id="27" name="Connector 19">
            <a:extLst>
              <a:ext uri="{FF2B5EF4-FFF2-40B4-BE49-F238E27FC236}">
                <a16:creationId xmlns:a16="http://schemas.microsoft.com/office/drawing/2014/main" id="{30ACE85C-EC03-9EF4-8D8E-AE7FF2081961}"/>
              </a:ext>
            </a:extLst>
          </p:cNvPr>
          <p:cNvCxnSpPr>
            <a:cxnSpLocks/>
          </p:cNvCxnSpPr>
          <p:nvPr/>
        </p:nvCxnSpPr>
        <p:spPr>
          <a:xfrm>
            <a:off x="2926237" y="3414074"/>
            <a:ext cx="1417643" cy="19879"/>
          </a:xfrm>
          <a:prstGeom prst="line">
            <a:avLst/>
          </a:prstGeom>
          <a:ln w="2286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366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8C70-F8E9-85AA-08BB-ABAEAB33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806A96-8D59-BCB9-CA53-FCAA1DBC79A5}"/>
              </a:ext>
            </a:extLst>
          </p:cNvPr>
          <p:cNvSpPr/>
          <p:nvPr/>
        </p:nvSpPr>
        <p:spPr>
          <a:xfrm>
            <a:off x="0" y="-16274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3A107A-CA8A-981C-F41A-6A388FDB18CE}"/>
              </a:ext>
            </a:extLst>
          </p:cNvPr>
          <p:cNvSpPr txBox="1"/>
          <p:nvPr/>
        </p:nvSpPr>
        <p:spPr>
          <a:xfrm>
            <a:off x="3156725" y="398332"/>
            <a:ext cx="2553457" cy="472437"/>
          </a:xfrm>
          <a:prstGeom prst="rect">
            <a:avLst/>
          </a:prstGeom>
          <a:noFill/>
        </p:spPr>
        <p:txBody>
          <a:bodyPr wrap="square" lIns="27432" tIns="20574" rIns="27432" bIns="20574" anchor="t">
            <a:sp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ptos"/>
              </a:rPr>
              <a:t>Approval 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by L</a:t>
            </a:r>
            <a:r>
              <a:rPr lang="en-US" sz="2800" b="1" dirty="0">
                <a:solidFill>
                  <a:schemeClr val="bg1"/>
                </a:solidFill>
                <a:latin typeface="Aptos"/>
              </a:rPr>
              <a:t>5</a:t>
            </a:r>
            <a:endParaRPr sz="28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55CA46-57FA-FAEA-896A-91EF1DA9990E}"/>
              </a:ext>
            </a:extLst>
          </p:cNvPr>
          <p:cNvSpPr/>
          <p:nvPr/>
        </p:nvSpPr>
        <p:spPr>
          <a:xfrm>
            <a:off x="1513570" y="1757812"/>
            <a:ext cx="1586008" cy="4222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6474A-4849-DE7D-8867-2337EA7CBE95}"/>
              </a:ext>
            </a:extLst>
          </p:cNvPr>
          <p:cNvSpPr txBox="1"/>
          <p:nvPr/>
        </p:nvSpPr>
        <p:spPr>
          <a:xfrm>
            <a:off x="1664208" y="1774205"/>
            <a:ext cx="1200150" cy="380104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1100" dirty="0">
                <a:solidFill>
                  <a:srgbClr val="141414"/>
                </a:solidFill>
              </a:rPr>
              <a:t>T-Code is to be developed by BIS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263AC9-0015-9342-8D47-8DEC69FA2991}"/>
              </a:ext>
            </a:extLst>
          </p:cNvPr>
          <p:cNvSpPr/>
          <p:nvPr/>
        </p:nvSpPr>
        <p:spPr>
          <a:xfrm>
            <a:off x="1643634" y="2769564"/>
            <a:ext cx="1403604" cy="5266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ECBBF-E88C-1EFF-C8A7-42EA7746BBBC}"/>
              </a:ext>
            </a:extLst>
          </p:cNvPr>
          <p:cNvSpPr txBox="1"/>
          <p:nvPr/>
        </p:nvSpPr>
        <p:spPr>
          <a:xfrm>
            <a:off x="1691640" y="2900436"/>
            <a:ext cx="120015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Review Discounts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D21DB307-8F2C-F07C-4FB9-CF9707D9DB3B}"/>
              </a:ext>
            </a:extLst>
          </p:cNvPr>
          <p:cNvCxnSpPr>
            <a:cxnSpLocks/>
          </p:cNvCxnSpPr>
          <p:nvPr/>
        </p:nvCxnSpPr>
        <p:spPr>
          <a:xfrm>
            <a:off x="2227707" y="2180040"/>
            <a:ext cx="0" cy="589524"/>
          </a:xfrm>
          <a:prstGeom prst="line">
            <a:avLst/>
          </a:prstGeom>
          <a:ln w="19050">
            <a:solidFill>
              <a:srgbClr val="696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767F98AE-D630-F588-DDEA-0A5D490D3ECC}"/>
              </a:ext>
            </a:extLst>
          </p:cNvPr>
          <p:cNvSpPr/>
          <p:nvPr/>
        </p:nvSpPr>
        <p:spPr>
          <a:xfrm>
            <a:off x="4377687" y="3103245"/>
            <a:ext cx="1165860" cy="651510"/>
          </a:xfrm>
          <a:prstGeom prst="diamond">
            <a:avLst/>
          </a:prstGeom>
          <a:solidFill>
            <a:srgbClr val="FFFFFF"/>
          </a:solidFill>
          <a:ln>
            <a:solidFill>
              <a:srgbClr val="696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1CDE7-258B-E797-7C28-0FA91A39862F}"/>
              </a:ext>
            </a:extLst>
          </p:cNvPr>
          <p:cNvSpPr txBox="1"/>
          <p:nvPr/>
        </p:nvSpPr>
        <p:spPr>
          <a:xfrm>
            <a:off x="4516154" y="3332856"/>
            <a:ext cx="7543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Correct?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C47454-2FD3-F55E-2089-640CF34A19B4}"/>
              </a:ext>
            </a:extLst>
          </p:cNvPr>
          <p:cNvSpPr/>
          <p:nvPr/>
        </p:nvSpPr>
        <p:spPr>
          <a:xfrm>
            <a:off x="1760382" y="3275656"/>
            <a:ext cx="1165855" cy="4596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9A9DD-8AF7-1903-221A-FA5D4A302B91}"/>
              </a:ext>
            </a:extLst>
          </p:cNvPr>
          <p:cNvSpPr txBox="1"/>
          <p:nvPr/>
        </p:nvSpPr>
        <p:spPr>
          <a:xfrm>
            <a:off x="1810327" y="3414074"/>
            <a:ext cx="9258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NO / Reject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EAA2C5-56A9-2926-F6D9-BE22FFF57230}"/>
              </a:ext>
            </a:extLst>
          </p:cNvPr>
          <p:cNvSpPr/>
          <p:nvPr/>
        </p:nvSpPr>
        <p:spPr>
          <a:xfrm>
            <a:off x="6720838" y="3147822"/>
            <a:ext cx="1325879" cy="6087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52124-28AA-17FA-6064-DFAAE3FDF229}"/>
              </a:ext>
            </a:extLst>
          </p:cNvPr>
          <p:cNvSpPr txBox="1"/>
          <p:nvPr/>
        </p:nvSpPr>
        <p:spPr>
          <a:xfrm>
            <a:off x="6886573" y="3380316"/>
            <a:ext cx="99441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YES / Approve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1AD69CB-4CC2-8490-637B-9D221F71B768}"/>
              </a:ext>
            </a:extLst>
          </p:cNvPr>
          <p:cNvSpPr/>
          <p:nvPr/>
        </p:nvSpPr>
        <p:spPr>
          <a:xfrm>
            <a:off x="1607058" y="4678707"/>
            <a:ext cx="1440180" cy="3771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D415C-32C1-AFBB-E786-E573F3B7EFDC}"/>
              </a:ext>
            </a:extLst>
          </p:cNvPr>
          <p:cNvSpPr txBox="1"/>
          <p:nvPr/>
        </p:nvSpPr>
        <p:spPr>
          <a:xfrm>
            <a:off x="1629918" y="4756989"/>
            <a:ext cx="12687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Email Trigger to L1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F4C9B89-781B-CE5B-AEEF-F7E4C09CEDD2}"/>
              </a:ext>
            </a:extLst>
          </p:cNvPr>
          <p:cNvSpPr/>
          <p:nvPr/>
        </p:nvSpPr>
        <p:spPr>
          <a:xfrm>
            <a:off x="6720838" y="4251960"/>
            <a:ext cx="1440180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0DD220-AB12-6810-71F9-AB2B36670836}"/>
              </a:ext>
            </a:extLst>
          </p:cNvPr>
          <p:cNvSpPr txBox="1"/>
          <p:nvPr/>
        </p:nvSpPr>
        <p:spPr>
          <a:xfrm>
            <a:off x="6777987" y="4407152"/>
            <a:ext cx="126873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Email Trigger to L</a:t>
            </a:r>
            <a:r>
              <a:rPr lang="en-US" sz="1100" dirty="0">
                <a:solidFill>
                  <a:srgbClr val="141414"/>
                </a:solidFill>
                <a:latin typeface="Aptos"/>
              </a:rPr>
              <a:t>6</a:t>
            </a:r>
            <a:endParaRPr sz="1100" dirty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8ABDD8FD-9DD7-3DCF-F987-3D3A3063FD30}"/>
              </a:ext>
            </a:extLst>
          </p:cNvPr>
          <p:cNvCxnSpPr>
            <a:cxnSpLocks/>
          </p:cNvCxnSpPr>
          <p:nvPr/>
        </p:nvCxnSpPr>
        <p:spPr>
          <a:xfrm>
            <a:off x="5550408" y="3449574"/>
            <a:ext cx="1170430" cy="5715"/>
          </a:xfrm>
          <a:prstGeom prst="line">
            <a:avLst/>
          </a:prstGeom>
          <a:ln w="2286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C7CAC448-7CE4-30EC-20A7-AA486C9DF111}"/>
              </a:ext>
            </a:extLst>
          </p:cNvPr>
          <p:cNvCxnSpPr>
            <a:cxnSpLocks/>
          </p:cNvCxnSpPr>
          <p:nvPr/>
        </p:nvCxnSpPr>
        <p:spPr>
          <a:xfrm>
            <a:off x="2306574" y="3754755"/>
            <a:ext cx="0" cy="923952"/>
          </a:xfrm>
          <a:prstGeom prst="line">
            <a:avLst/>
          </a:prstGeom>
          <a:ln w="19050">
            <a:solidFill>
              <a:srgbClr val="DC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A62EC1F5-53B5-3C6F-2810-4AD64A27A393}"/>
              </a:ext>
            </a:extLst>
          </p:cNvPr>
          <p:cNvCxnSpPr>
            <a:cxnSpLocks/>
          </p:cNvCxnSpPr>
          <p:nvPr/>
        </p:nvCxnSpPr>
        <p:spPr>
          <a:xfrm>
            <a:off x="7383778" y="3756591"/>
            <a:ext cx="0" cy="495369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040490B0-3946-917B-B5F1-20198CFD3E7E}"/>
              </a:ext>
            </a:extLst>
          </p:cNvPr>
          <p:cNvSpPr/>
          <p:nvPr/>
        </p:nvSpPr>
        <p:spPr>
          <a:xfrm>
            <a:off x="5613363" y="2591601"/>
            <a:ext cx="809244" cy="447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E1F150-568F-231A-CBE7-7313CCA3047A}"/>
              </a:ext>
            </a:extLst>
          </p:cNvPr>
          <p:cNvSpPr txBox="1"/>
          <p:nvPr/>
        </p:nvSpPr>
        <p:spPr>
          <a:xfrm>
            <a:off x="5613363" y="2631931"/>
            <a:ext cx="829817" cy="318549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900" b="1" dirty="0">
                <a:solidFill>
                  <a:srgbClr val="141414"/>
                </a:solidFill>
                <a:latin typeface="Aptos"/>
              </a:rPr>
              <a:t>Comments/ Remarks Entry</a:t>
            </a:r>
            <a:endParaRPr sz="9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CFAC6EA7-03D2-EBF0-A449-EDE0111608B9}"/>
              </a:ext>
            </a:extLst>
          </p:cNvPr>
          <p:cNvSpPr/>
          <p:nvPr/>
        </p:nvSpPr>
        <p:spPr>
          <a:xfrm>
            <a:off x="898398" y="3998560"/>
            <a:ext cx="809244" cy="4476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071D37-8B47-2444-8CB2-232250265C81}"/>
              </a:ext>
            </a:extLst>
          </p:cNvPr>
          <p:cNvSpPr txBox="1"/>
          <p:nvPr/>
        </p:nvSpPr>
        <p:spPr>
          <a:xfrm>
            <a:off x="877825" y="4037832"/>
            <a:ext cx="829817" cy="318549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lang="en-US" sz="900" b="1" dirty="0">
                <a:solidFill>
                  <a:srgbClr val="141414"/>
                </a:solidFill>
                <a:latin typeface="Aptos"/>
              </a:rPr>
              <a:t>Comments/ Remarks Entry</a:t>
            </a:r>
            <a:endParaRPr sz="900" b="1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6A09A0-58E0-5504-9E87-392EDD5421FC}"/>
              </a:ext>
            </a:extLst>
          </p:cNvPr>
          <p:cNvSpPr/>
          <p:nvPr/>
        </p:nvSpPr>
        <p:spPr>
          <a:xfrm>
            <a:off x="5984241" y="3229571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2FE0E9-46DD-DA6C-D51C-A33719B661A2}"/>
              </a:ext>
            </a:extLst>
          </p:cNvPr>
          <p:cNvSpPr/>
          <p:nvPr/>
        </p:nvSpPr>
        <p:spPr>
          <a:xfrm>
            <a:off x="1920055" y="4193689"/>
            <a:ext cx="192024" cy="46085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56683D-880D-3781-D3A6-17EF1EF5B7D2}"/>
              </a:ext>
            </a:extLst>
          </p:cNvPr>
          <p:cNvSpPr/>
          <p:nvPr/>
        </p:nvSpPr>
        <p:spPr>
          <a:xfrm>
            <a:off x="6057211" y="3156220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6D16EE-9BE7-B4AF-7796-6D4C04941A35}"/>
              </a:ext>
            </a:extLst>
          </p:cNvPr>
          <p:cNvSpPr/>
          <p:nvPr/>
        </p:nvSpPr>
        <p:spPr>
          <a:xfrm>
            <a:off x="1993025" y="4130067"/>
            <a:ext cx="46085" cy="192024"/>
          </a:xfrm>
          <a:prstGeom prst="rect">
            <a:avLst/>
          </a:prstGeom>
          <a:solidFill>
            <a:srgbClr val="27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cxnSp>
        <p:nvCxnSpPr>
          <p:cNvPr id="27" name="Connector 19">
            <a:extLst>
              <a:ext uri="{FF2B5EF4-FFF2-40B4-BE49-F238E27FC236}">
                <a16:creationId xmlns:a16="http://schemas.microsoft.com/office/drawing/2014/main" id="{8282DC1A-53AE-3293-B4FC-56EC78AB58D7}"/>
              </a:ext>
            </a:extLst>
          </p:cNvPr>
          <p:cNvCxnSpPr>
            <a:cxnSpLocks/>
          </p:cNvCxnSpPr>
          <p:nvPr/>
        </p:nvCxnSpPr>
        <p:spPr>
          <a:xfrm>
            <a:off x="2926237" y="3414074"/>
            <a:ext cx="1417643" cy="19879"/>
          </a:xfrm>
          <a:prstGeom prst="line">
            <a:avLst/>
          </a:prstGeom>
          <a:ln w="2286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38">
            <a:extLst>
              <a:ext uri="{FF2B5EF4-FFF2-40B4-BE49-F238E27FC236}">
                <a16:creationId xmlns:a16="http://schemas.microsoft.com/office/drawing/2014/main" id="{09B7CB4B-1201-4255-A6C4-1EB29BCE3EEB}"/>
              </a:ext>
            </a:extLst>
          </p:cNvPr>
          <p:cNvSpPr/>
          <p:nvPr/>
        </p:nvSpPr>
        <p:spPr>
          <a:xfrm>
            <a:off x="1" y="5470022"/>
            <a:ext cx="9144000" cy="7498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F5D0A0-EF88-8309-3662-B98DB446FF14}"/>
              </a:ext>
            </a:extLst>
          </p:cNvPr>
          <p:cNvSpPr txBox="1"/>
          <p:nvPr/>
        </p:nvSpPr>
        <p:spPr>
          <a:xfrm>
            <a:off x="33331" y="5690547"/>
            <a:ext cx="9077338" cy="27084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lang="en-IN" sz="1400" b="1" dirty="0"/>
              <a:t>In Case of Rejection:</a:t>
            </a:r>
            <a:r>
              <a:rPr lang="en-IN" sz="1400" dirty="0"/>
              <a:t> At any level, if the request is rejected, it will be routed back to </a:t>
            </a:r>
            <a:r>
              <a:rPr lang="en-IN" sz="1400" b="1" dirty="0"/>
              <a:t>L1 for reinitiation of the process</a:t>
            </a:r>
            <a:r>
              <a:rPr lang="en-IN" sz="1400" dirty="0"/>
              <a:t>.</a:t>
            </a:r>
            <a:endParaRPr sz="1300" b="1" dirty="0">
              <a:solidFill>
                <a:srgbClr val="14141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07236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578358" y="556263"/>
            <a:ext cx="8483346" cy="472437"/>
          </a:xfrm>
          <a:prstGeom prst="rect">
            <a:avLst/>
          </a:prstGeom>
          <a:noFill/>
        </p:spPr>
        <p:txBody>
          <a:bodyPr wrap="square" lIns="27432" tIns="20574" rIns="27432" bIns="20574" anchor="t">
            <a:sp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ptos"/>
              </a:rPr>
              <a:t>Responsibility 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Matrix: L1-L6 and System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223158"/>
              </p:ext>
            </p:extLst>
          </p:nvPr>
        </p:nvGraphicFramePr>
        <p:xfrm>
          <a:off x="1" y="1655064"/>
          <a:ext cx="9143995" cy="4288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425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Level</a:t>
                      </a:r>
                    </a:p>
                  </a:txBody>
                  <a:tcPr marL="68580" marR="68580" marT="34290" marB="34290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68580" marR="68580" marT="34290" marB="34290">
                    <a:solidFill>
                      <a:srgbClr val="219A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Primary Responsibility</a:t>
                      </a:r>
                    </a:p>
                  </a:txBody>
                  <a:tcPr marL="68580" marR="68580" marT="34290" marB="34290">
                    <a:solidFill>
                      <a:srgbClr val="449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System Action / Handoff</a:t>
                      </a:r>
                    </a:p>
                  </a:txBody>
                  <a:tcPr marL="68580" marR="68580" marT="34290" marB="34290">
                    <a:solidFill>
                      <a:srgbClr val="EE60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41414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 marL="68580" marR="68580" marT="34290" marB="34290">
                    <a:solidFill>
                      <a:srgbClr val="E8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Zonal PC Marketing Executive</a:t>
                      </a:r>
                    </a:p>
                  </a:txBody>
                  <a:tcPr marL="68580" marR="68580" marT="34290" marB="34290">
                    <a:solidFill>
                      <a:srgbClr val="E8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41414"/>
                          </a:solidFill>
                          <a:latin typeface="Aptos"/>
                        </a:rPr>
                        <a:t>Verify</a:t>
                      </a:r>
                    </a:p>
                  </a:txBody>
                  <a:tcPr marL="68580" marR="68580" marT="34290" marB="34290">
                    <a:solidFill>
                      <a:srgbClr val="E8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Aptos"/>
                        </a:rPr>
                        <a:t>Verification in SAP → forward to L2</a:t>
                      </a:r>
                    </a:p>
                  </a:txBody>
                  <a:tcPr marL="68580" marR="68580" marT="34290" marB="34290">
                    <a:solidFill>
                      <a:srgbClr val="E8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 marL="68580" marR="68580" marT="34290" marB="34290">
                    <a:solidFill>
                      <a:srgbClr val="E7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Zonal PC Head</a:t>
                      </a:r>
                    </a:p>
                  </a:txBody>
                  <a:tcPr marL="68580" marR="68580" marT="34290" marB="34290">
                    <a:solidFill>
                      <a:srgbClr val="E7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41414"/>
                          </a:solidFill>
                          <a:latin typeface="Aptos"/>
                        </a:rPr>
                        <a:t>Verify</a:t>
                      </a:r>
                      <a:r>
                        <a:rPr lang="en-US" sz="1100" b="0" dirty="0">
                          <a:solidFill>
                            <a:srgbClr val="141414"/>
                          </a:solidFill>
                          <a:latin typeface="Aptos"/>
                        </a:rPr>
                        <a:t> &amp; Forward</a:t>
                      </a:r>
                      <a:endParaRPr sz="1100" b="0" dirty="0">
                        <a:solidFill>
                          <a:srgbClr val="141414"/>
                        </a:solidFill>
                        <a:latin typeface="Aptos"/>
                      </a:endParaRPr>
                    </a:p>
                  </a:txBody>
                  <a:tcPr marL="68580" marR="68580" marT="34290" marB="34290">
                    <a:solidFill>
                      <a:srgbClr val="E7F2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41414"/>
                          </a:solidFill>
                          <a:latin typeface="Aptos"/>
                        </a:rPr>
                        <a:t>Verification in SAP → approve / return to L1</a:t>
                      </a:r>
                    </a:p>
                  </a:txBody>
                  <a:tcPr marL="68580" marR="68580" marT="34290" marB="34290">
                    <a:solidFill>
                      <a:srgbClr val="E7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L3</a:t>
                      </a:r>
                    </a:p>
                  </a:txBody>
                  <a:tcPr marL="68580" marR="68580" marT="34290" marB="34290">
                    <a:solidFill>
                      <a:srgbClr val="F6EB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CPC Marketing</a:t>
                      </a:r>
                    </a:p>
                  </a:txBody>
                  <a:tcPr marL="68580" marR="68580" marT="34290" marB="34290">
                    <a:solidFill>
                      <a:srgbClr val="F6EB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Aptos"/>
                        </a:rPr>
                        <a:t>Execution</a:t>
                      </a:r>
                    </a:p>
                  </a:txBody>
                  <a:tcPr marL="68580" marR="68580" marT="34290" marB="34290">
                    <a:solidFill>
                      <a:srgbClr val="F6EB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41414"/>
                          </a:solidFill>
                          <a:latin typeface="Aptos"/>
                        </a:rPr>
                        <a:t>C</a:t>
                      </a:r>
                      <a:r>
                        <a:rPr sz="1100" b="0" dirty="0">
                          <a:solidFill>
                            <a:srgbClr val="141414"/>
                          </a:solidFill>
                          <a:latin typeface="Aptos"/>
                        </a:rPr>
                        <a:t>reate rebate orders → forward to CPC Finance</a:t>
                      </a:r>
                    </a:p>
                  </a:txBody>
                  <a:tcPr marL="68580" marR="68580" marT="34290" marB="34290">
                    <a:solidFill>
                      <a:srgbClr val="F6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L4</a:t>
                      </a:r>
                    </a:p>
                  </a:txBody>
                  <a:tcPr marL="68580" marR="68580" marT="34290" marB="34290"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CPC Finance</a:t>
                      </a:r>
                    </a:p>
                  </a:txBody>
                  <a:tcPr marL="68580" marR="68580" marT="34290" marB="34290"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Aptos"/>
                        </a:rPr>
                        <a:t>Financial Vetting</a:t>
                      </a:r>
                    </a:p>
                  </a:txBody>
                  <a:tcPr marL="68580" marR="68580" marT="34290" marB="34290"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41414"/>
                          </a:solidFill>
                          <a:latin typeface="Aptos"/>
                        </a:rPr>
                        <a:t>Vetting in SAP → forward to CPC Head</a:t>
                      </a:r>
                    </a:p>
                  </a:txBody>
                  <a:tcPr marL="68580" marR="68580" marT="34290" marB="34290">
                    <a:solidFill>
                      <a:srgbClr val="EE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L5</a:t>
                      </a:r>
                    </a:p>
                  </a:txBody>
                  <a:tcPr marL="68580" marR="68580" marT="34290" marB="3429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CPC Head</a:t>
                      </a:r>
                    </a:p>
                  </a:txBody>
                  <a:tcPr marL="68580" marR="68580" marT="34290" marB="3429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Aptos"/>
                        </a:rPr>
                        <a:t>Final Approval</a:t>
                      </a:r>
                    </a:p>
                  </a:txBody>
                  <a:tcPr marL="68580" marR="68580" marT="34290" marB="3429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41414"/>
                          </a:solidFill>
                          <a:latin typeface="Aptos"/>
                        </a:rPr>
                        <a:t>Approve discounts → forward to CPC Finance for disbursement</a:t>
                      </a:r>
                    </a:p>
                  </a:txBody>
                  <a:tcPr marL="68580" marR="68580" marT="34290" marB="3429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8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L6</a:t>
                      </a:r>
                    </a:p>
                  </a:txBody>
                  <a:tcPr marL="68580" marR="68580" marT="34290" marB="34290">
                    <a:solidFill>
                      <a:srgbClr val="E4F1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414"/>
                          </a:solidFill>
                          <a:latin typeface="Aptos"/>
                        </a:rPr>
                        <a:t>CPC Finance</a:t>
                      </a:r>
                    </a:p>
                  </a:txBody>
                  <a:tcPr marL="68580" marR="68580" marT="34290" marB="34290">
                    <a:solidFill>
                      <a:srgbClr val="E4F1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41414"/>
                          </a:solidFill>
                          <a:latin typeface="Aptos"/>
                        </a:rPr>
                        <a:t>Discount Disbursement</a:t>
                      </a:r>
                    </a:p>
                  </a:txBody>
                  <a:tcPr marL="68580" marR="68580" marT="34290" marB="34290">
                    <a:solidFill>
                      <a:srgbClr val="E4F1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41414"/>
                          </a:solidFill>
                          <a:latin typeface="Aptos"/>
                        </a:rPr>
                        <a:t>Process rebate orders → generate credit notes → Customer G/L</a:t>
                      </a:r>
                    </a:p>
                  </a:txBody>
                  <a:tcPr marL="68580" marR="68580" marT="34290" marB="34290">
                    <a:solidFill>
                      <a:srgbClr val="E4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251458" y="439522"/>
            <a:ext cx="9025129" cy="472437"/>
          </a:xfrm>
          <a:prstGeom prst="rect">
            <a:avLst/>
          </a:prstGeom>
          <a:noFill/>
        </p:spPr>
        <p:txBody>
          <a:bodyPr wrap="square" lIns="27432" tIns="20574" rIns="27432" bIns="20574" anchor="t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+mj-lt"/>
              </a:rPr>
              <a:t>Proposed Post-Sale Discount Workflow in SAP — L1 to L6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7190" y="1714500"/>
            <a:ext cx="2606040" cy="7886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480060" y="1821685"/>
            <a:ext cx="68580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l"/>
            <a:r>
              <a:rPr sz="1100" b="1" dirty="0">
                <a:solidFill>
                  <a:srgbClr val="219AC4"/>
                </a:solidFill>
                <a:latin typeface="Aptos"/>
              </a:rPr>
              <a:t>PART-1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" y="2026589"/>
            <a:ext cx="2366010" cy="22621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l"/>
            <a:r>
              <a:rPr sz="1200" b="1" dirty="0">
                <a:solidFill>
                  <a:srgbClr val="141414"/>
                </a:solidFill>
                <a:latin typeface="Aptos"/>
              </a:rPr>
              <a:t>Zonal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" y="2261435"/>
            <a:ext cx="2366010" cy="195438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l"/>
            <a:r>
              <a:rPr sz="1000" dirty="0">
                <a:solidFill>
                  <a:srgbClr val="696E6C"/>
                </a:solidFill>
                <a:latin typeface="Aptos"/>
              </a:rPr>
              <a:t>L1 → 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714500"/>
            <a:ext cx="2606040" cy="7886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3394710" y="1821685"/>
            <a:ext cx="68580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l"/>
            <a:r>
              <a:rPr sz="1100" b="1" dirty="0">
                <a:solidFill>
                  <a:srgbClr val="7B5BA4"/>
                </a:solidFill>
                <a:latin typeface="Aptos"/>
              </a:rPr>
              <a:t>PART-2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4710" y="2026589"/>
            <a:ext cx="2366010" cy="22621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l"/>
            <a:r>
              <a:rPr sz="1200" b="1" dirty="0">
                <a:solidFill>
                  <a:srgbClr val="141414"/>
                </a:solidFill>
                <a:latin typeface="Aptos"/>
              </a:rPr>
              <a:t>CPC Execution &amp; Vetting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4710" y="2261435"/>
            <a:ext cx="2366010" cy="195438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l"/>
            <a:r>
              <a:rPr sz="1000" dirty="0">
                <a:solidFill>
                  <a:srgbClr val="696E6C"/>
                </a:solidFill>
                <a:latin typeface="Aptos"/>
              </a:rPr>
              <a:t>L3 → L4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6490" y="1714500"/>
            <a:ext cx="2606040" cy="7886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1686"/>
            <a:ext cx="68580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l"/>
            <a:r>
              <a:rPr sz="1100" b="1" dirty="0">
                <a:solidFill>
                  <a:srgbClr val="278553"/>
                </a:solidFill>
                <a:latin typeface="Aptos"/>
              </a:rPr>
              <a:t>PART-3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26589"/>
            <a:ext cx="2366010" cy="22621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l"/>
            <a:r>
              <a:rPr sz="1200" b="1" dirty="0">
                <a:solidFill>
                  <a:srgbClr val="141414"/>
                </a:solidFill>
                <a:latin typeface="Aptos"/>
              </a:rPr>
              <a:t>Approval &amp; Disbursement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61435"/>
            <a:ext cx="2366010" cy="195438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l"/>
            <a:r>
              <a:rPr sz="1000" dirty="0">
                <a:solidFill>
                  <a:srgbClr val="696E6C"/>
                </a:solidFill>
                <a:latin typeface="Aptos"/>
              </a:rPr>
              <a:t>L5 → L6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" y="3154680"/>
            <a:ext cx="1234440" cy="14744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397764" y="3269643"/>
            <a:ext cx="1097280" cy="256993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400" b="1" dirty="0">
                <a:solidFill>
                  <a:srgbClr val="219AC4"/>
                </a:solidFill>
                <a:latin typeface="Aptos"/>
              </a:rP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" y="3639057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Zonal PC Mktg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4032504"/>
            <a:ext cx="1069848" cy="0"/>
          </a:xfrm>
          <a:prstGeom prst="line">
            <a:avLst/>
          </a:prstGeom>
          <a:ln w="31750">
            <a:solidFill>
              <a:srgbClr val="219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7764" y="4194554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Verify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63624" y="3895343"/>
            <a:ext cx="192024" cy="0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755648" y="3154680"/>
            <a:ext cx="1234440" cy="14744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1824228" y="3269643"/>
            <a:ext cx="1097280" cy="256993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400" b="1" dirty="0">
                <a:solidFill>
                  <a:srgbClr val="449D69"/>
                </a:solidFill>
                <a:latin typeface="Aptos"/>
              </a:rPr>
              <a:t>L2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4228" y="3639057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Zonal PC Head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37944" y="4032504"/>
            <a:ext cx="1069848" cy="0"/>
          </a:xfrm>
          <a:prstGeom prst="line">
            <a:avLst/>
          </a:prstGeom>
          <a:ln w="31750">
            <a:solidFill>
              <a:srgbClr val="449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24228" y="4194554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Verify</a:t>
            </a:r>
            <a:r>
              <a:rPr lang="en-US" sz="1100" dirty="0">
                <a:solidFill>
                  <a:srgbClr val="141414"/>
                </a:solidFill>
                <a:latin typeface="Aptos"/>
              </a:rPr>
              <a:t> &amp; Forward</a:t>
            </a:r>
            <a:endParaRPr sz="1100" dirty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2990088" y="3895343"/>
            <a:ext cx="192024" cy="0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182112" y="3154680"/>
            <a:ext cx="1234440" cy="14744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TextBox 28"/>
          <p:cNvSpPr txBox="1"/>
          <p:nvPr/>
        </p:nvSpPr>
        <p:spPr>
          <a:xfrm>
            <a:off x="3250692" y="3269643"/>
            <a:ext cx="1097280" cy="256993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400" b="1" dirty="0">
                <a:solidFill>
                  <a:srgbClr val="EE601D"/>
                </a:solidFill>
                <a:latin typeface="Aptos"/>
              </a:rPr>
              <a:t>L3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50692" y="3639057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CPC-Mktg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64408" y="4032504"/>
            <a:ext cx="1069848" cy="0"/>
          </a:xfrm>
          <a:prstGeom prst="line">
            <a:avLst/>
          </a:prstGeom>
          <a:ln w="31750">
            <a:solidFill>
              <a:srgbClr val="EE60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50692" y="4186860"/>
            <a:ext cx="1097280" cy="226216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200" dirty="0">
                <a:solidFill>
                  <a:srgbClr val="141414"/>
                </a:solidFill>
                <a:latin typeface="Aptos"/>
              </a:rPr>
              <a:t>Execution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16552" y="3895343"/>
            <a:ext cx="192024" cy="0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608576" y="3154680"/>
            <a:ext cx="1234440" cy="14744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TextBox 34"/>
          <p:cNvSpPr txBox="1"/>
          <p:nvPr/>
        </p:nvSpPr>
        <p:spPr>
          <a:xfrm>
            <a:off x="4677156" y="3269643"/>
            <a:ext cx="1097280" cy="256993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400" b="1" dirty="0">
                <a:solidFill>
                  <a:srgbClr val="7B5BA4"/>
                </a:solidFill>
                <a:latin typeface="Aptos"/>
              </a:rPr>
              <a:t>L4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7156" y="3639057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CPC-F&amp;A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90872" y="4032504"/>
            <a:ext cx="1069848" cy="0"/>
          </a:xfrm>
          <a:prstGeom prst="line">
            <a:avLst/>
          </a:prstGeom>
          <a:ln w="31750">
            <a:solidFill>
              <a:srgbClr val="7B5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677156" y="4194554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Financial Vetting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843016" y="3895343"/>
            <a:ext cx="192024" cy="0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035040" y="3154680"/>
            <a:ext cx="1234440" cy="14744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1" name="TextBox 40"/>
          <p:cNvSpPr txBox="1"/>
          <p:nvPr/>
        </p:nvSpPr>
        <p:spPr>
          <a:xfrm>
            <a:off x="6103620" y="3269643"/>
            <a:ext cx="1097280" cy="256993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400" b="1" dirty="0">
                <a:solidFill>
                  <a:srgbClr val="C24141"/>
                </a:solidFill>
                <a:latin typeface="Aptos"/>
              </a:rPr>
              <a:t>L5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3620" y="3639057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CPC-Head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17336" y="4032504"/>
            <a:ext cx="1069848" cy="0"/>
          </a:xfrm>
          <a:prstGeom prst="line">
            <a:avLst/>
          </a:prstGeom>
          <a:ln w="31750">
            <a:solidFill>
              <a:srgbClr val="C2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03620" y="4194554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Final Approval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269480" y="3895343"/>
            <a:ext cx="192024" cy="0"/>
          </a:xfrm>
          <a:prstGeom prst="line">
            <a:avLst/>
          </a:prstGeom>
          <a:ln w="190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461504" y="3154680"/>
            <a:ext cx="1234440" cy="14744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TextBox 46"/>
          <p:cNvSpPr txBox="1"/>
          <p:nvPr/>
        </p:nvSpPr>
        <p:spPr>
          <a:xfrm>
            <a:off x="7530084" y="3269643"/>
            <a:ext cx="1097280" cy="256993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400" b="1" dirty="0">
                <a:solidFill>
                  <a:srgbClr val="278553"/>
                </a:solidFill>
                <a:latin typeface="Aptos"/>
              </a:rPr>
              <a:t>L6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30084" y="3639057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b="1" dirty="0">
                <a:solidFill>
                  <a:srgbClr val="141414"/>
                </a:solidFill>
                <a:latin typeface="Aptos"/>
              </a:rPr>
              <a:t>CPC-F&amp;A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543800" y="4032504"/>
            <a:ext cx="1069848" cy="0"/>
          </a:xfrm>
          <a:prstGeom prst="line">
            <a:avLst/>
          </a:prstGeom>
          <a:ln w="31750">
            <a:solidFill>
              <a:srgbClr val="278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30084" y="4194554"/>
            <a:ext cx="1097280" cy="210827"/>
          </a:xfrm>
          <a:prstGeom prst="rect">
            <a:avLst/>
          </a:prstGeom>
          <a:noFill/>
        </p:spPr>
        <p:txBody>
          <a:bodyPr wrap="square" lIns="27432" tIns="20574" rIns="27432" bIns="20574" anchor="ctr">
            <a:spAutoFit/>
          </a:bodyPr>
          <a:lstStyle/>
          <a:p>
            <a:pPr algn="ctr"/>
            <a:r>
              <a:rPr sz="1100" dirty="0">
                <a:solidFill>
                  <a:srgbClr val="141414"/>
                </a:solidFill>
                <a:latin typeface="Aptos"/>
              </a:rPr>
              <a:t>Disbursement</a:t>
            </a:r>
          </a:p>
        </p:txBody>
      </p:sp>
      <p:sp>
        <p:nvSpPr>
          <p:cNvPr id="54" name="Rounded Rectangle 38">
            <a:extLst>
              <a:ext uri="{FF2B5EF4-FFF2-40B4-BE49-F238E27FC236}">
                <a16:creationId xmlns:a16="http://schemas.microsoft.com/office/drawing/2014/main" id="{E1D70557-5F76-2861-C89B-82F0D2DBABE8}"/>
              </a:ext>
            </a:extLst>
          </p:cNvPr>
          <p:cNvSpPr/>
          <p:nvPr/>
        </p:nvSpPr>
        <p:spPr>
          <a:xfrm>
            <a:off x="59434" y="5021096"/>
            <a:ext cx="9025129" cy="7498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21BEC-499E-A8EB-2583-FF23EC2AE7AD}"/>
              </a:ext>
            </a:extLst>
          </p:cNvPr>
          <p:cNvSpPr txBox="1"/>
          <p:nvPr/>
        </p:nvSpPr>
        <p:spPr>
          <a:xfrm>
            <a:off x="33329" y="5260579"/>
            <a:ext cx="9077338" cy="27084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lang="en-IN" sz="1400" b="1" dirty="0"/>
              <a:t>In Case of Rejection:</a:t>
            </a:r>
            <a:r>
              <a:rPr lang="en-IN" sz="1400" dirty="0"/>
              <a:t> At any level, if the request is rejected, it will be routed back to </a:t>
            </a:r>
            <a:r>
              <a:rPr lang="en-IN" sz="1400" b="1" dirty="0"/>
              <a:t>L1 for reinitiation of the process</a:t>
            </a:r>
            <a:r>
              <a:rPr lang="en-IN" sz="1400" dirty="0"/>
              <a:t>.</a:t>
            </a:r>
            <a:endParaRPr sz="1300" b="1" dirty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A519B-41FF-8DB6-0603-FE81F8AB9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133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Major Highlights</a:t>
            </a:r>
            <a:endParaRPr lang="en-IN" dirty="0">
              <a:solidFill>
                <a:srgbClr val="FFFFFF"/>
              </a:solidFill>
            </a:endParaRPr>
          </a:p>
        </p:txBody>
      </p:sp>
      <p:graphicFrame>
        <p:nvGraphicFramePr>
          <p:cNvPr id="57" name="Content Placeholder 2">
            <a:extLst>
              <a:ext uri="{FF2B5EF4-FFF2-40B4-BE49-F238E27FC236}">
                <a16:creationId xmlns:a16="http://schemas.microsoft.com/office/drawing/2014/main" id="{AC3D3F32-5055-58A6-A309-51FDA08F3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207692"/>
              </p:ext>
            </p:extLst>
          </p:nvPr>
        </p:nvGraphicFramePr>
        <p:xfrm>
          <a:off x="483042" y="1924820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4331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46" y="625539"/>
            <a:ext cx="7886700" cy="1325563"/>
          </a:xfrm>
        </p:spPr>
        <p:txBody>
          <a:bodyPr>
            <a:normAutofit/>
          </a:bodyPr>
          <a:lstStyle/>
          <a:p>
            <a:r>
              <a:rPr sz="6000" dirty="0"/>
              <a:t>Thank You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B0243C-2E4B-A2FC-BE8A-B84A8E18D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412911"/>
              </p:ext>
            </p:extLst>
          </p:nvPr>
        </p:nvGraphicFramePr>
        <p:xfrm>
          <a:off x="546354" y="150558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3F28AD2-AC4B-E73A-0651-3CF52B788498}"/>
              </a:ext>
            </a:extLst>
          </p:cNvPr>
          <p:cNvSpPr/>
          <p:nvPr/>
        </p:nvSpPr>
        <p:spPr>
          <a:xfrm>
            <a:off x="0" y="6139076"/>
            <a:ext cx="21749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spc="50" dirty="0">
                <a:ln w="0"/>
                <a:solidFill>
                  <a:schemeClr val="bg1"/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  <a:t>Y.AJAYAKANTH</a:t>
            </a:r>
          </a:p>
          <a:p>
            <a:pPr algn="ctr"/>
            <a:r>
              <a:rPr lang="en-US" sz="1600" b="1" spc="50" dirty="0">
                <a:ln w="0"/>
                <a:solidFill>
                  <a:schemeClr val="bg1"/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  <a:t>SM(MKTG-PC-CPC)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OCID" val="df695681-92bd-4395-ab6a-2cefe119bd76"/>
  <p:tag name="CLASSIFICATIONTAGSETID" val="e16409a7-1700-4153-9090-3955bc2f0ae8"/>
  <p:tag name="CLASSIFICATION" val="GAIL_Internal"/>
  <p:tag name="COMPLIANCETAGSETID" val="f14fc1f1-8950-40d5-8a29-45909da947d6"/>
  <p:tag name="FILEID" val="df695681-92bd-4395-ab6a-2cefe119bd76"/>
  <p:tag name="USERID" val="Yarlagadda Ajayakanth (यार्लागड्डा अजयकांथ)"/>
  <p:tag name="TAGDATETIME" val="2026-08-21T09:16:03Z"/>
  <p:tag name="CLASSIFICATIONHASH" val="83fd7db6-332a-a65b-25d2-b805a8eee5ac"/>
  <p:tag name="GVDATA" val="eyJPUyI6IldpbmRvd3MiLCJkb2NJRCI6ImRmNjk1NjgxLTkyYmQtNDM5NS1hYjZhLTJjZWZlMTE5YmQ3NiIsImRvY1N0YXRlIjoie30iLCJwYXJlbnRMaW5lSWRzIjoiW1wiN2Y5NzMzY2QtZDQwZS00OWZlLThjMGItZDIwZDUyMzBkZmJjXCIsXCI2MDhhMTBiOS03"/>
  <p:tag name="GVDATA0" val="MTZjLTQxZGQtOGNkOC02YTEzZWU5NGRiNGFcIixcIjcyYjdjNTU2LTQ1NGQtNGYwYS1iNzU1LTBiMjY1MzFlZWQ5MlwiLFwiYjBkZTY3OGItNjZjYS00N2Q1LTgyYjUtMjkwOGE2ODY1MGE1XCIsXCI3YmY1YTIyYS04NGM5LTQxMmItYjEzMS0xZTQ1YjZjZDA5Yzdc"/>
  <p:tag name="GVDATA1" val="IixcImJkZTJlYWUwLTA1ZTctNDU4OC04YzhiLTYyMjhlNWQyZjMxM1wiLFwiOWEyOTk5N2EtYjZkZi00ZTIzLWJjZDAtODkzYjIzYzZlZDk2XCJdIiwid3JpdHRlbktleXMiOiJbXCJDbGFzc2lmaWNhdGlvblwiLFwiQ2xhc3NpZmljYXRpb25IYXNoXCIsXCJDbGFz"/>
  <p:tag name="GVDATA2" val="c2lmaWNhdGlvblRhZ1NldElkXCIsXCJDb21wbGlhbmNlVGFnU2V0SWRcIixcIkZpbGVJZFwiLFwiZ3Zkb2NpZFwiLFwiVGFnRGF0ZVRpbWVcIixcIlVzZXJJZFwiXSIsIm5vT2ZHdkRhdGFFbnRyaWVzIjoiNSIsImxpbmVJZCI6ImJiNzcxOTAzLTdkY2YtNDQ5Zi04"/>
  <p:tag name="GVDATA3" val="N2MzLTc1OWIwODU4NTU1OSIsInRhZ3NldF9lMTY0MDlhN18xNzAwXzQxNTNfOTA5MF8zOTU1YmMyZjBhZThfY2xhc3NpZmljYXRpb24iOiJHQUlMX0ludGVybmFsIn0="/>
  <p:tag name="GVDATA4" val="(end)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4130</TotalTime>
  <Words>1224</Words>
  <Application>Microsoft Office PowerPoint</Application>
  <PresentationFormat>On-screen Show (4:3)</PresentationFormat>
  <Paragraphs>263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Wingdings</vt:lpstr>
      <vt:lpstr>Office Theme</vt:lpstr>
      <vt:lpstr>Post Sale Discount (PSD) Processing</vt:lpstr>
      <vt:lpstr>Why Centralized PSD Processing?</vt:lpstr>
      <vt:lpstr>2 Modes of PSD Processing</vt:lpstr>
      <vt:lpstr>Proposed Post-Sale Discount Workflow in SAP</vt:lpstr>
      <vt:lpstr>Standard PSD - Corporate to CPC</vt:lpstr>
      <vt:lpstr>Standard PSD - PMG to Customer through CPC</vt:lpstr>
      <vt:lpstr>Manual PSD - Case 1</vt:lpstr>
      <vt:lpstr>Manual PSD - Case 2</vt:lpstr>
      <vt:lpstr>Existing Responsibility Matrix </vt:lpstr>
      <vt:lpstr>Additional Responsibility Matrix </vt:lpstr>
      <vt:lpstr>The following are to be provided to CPC </vt:lpstr>
      <vt:lpstr>CIS Processing Framework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Major Highlights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Sale Discount (PSD) Processing SOP</dc:title>
  <dc:subject/>
  <dc:creator>Yarlagadda Ajayakanth (यार्लागड्डा अजयकांथ)</dc:creator>
  <cp:keywords/>
  <dc:description>generated using python-pptx</dc:description>
  <cp:lastModifiedBy>Yarlagadda Ajayakanth (यार्लागड्डा अजयकांथ)</cp:lastModifiedBy>
  <cp:revision>93</cp:revision>
  <cp:lastPrinted>2026-07-30T04:58:58Z</cp:lastPrinted>
  <dcterms:created xsi:type="dcterms:W3CDTF">2013-01-27T09:14:16Z</dcterms:created>
  <dcterms:modified xsi:type="dcterms:W3CDTF">2026-08-21T09:16:03Z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ocid">
    <vt:lpwstr>df695681-92bd-4395-ab6a-2cefe119bd76</vt:lpwstr>
  </property>
  <property fmtid="{D5CDD505-2E9C-101B-9397-08002B2CF9AE}" pid="3" name="GVData">
    <vt:lpwstr>eyJPUyI6IldpbmRvd3MiLCJkb2NJRCI6ImRmNjk1NjgxLTkyYmQtNDM5NS1hYjZhLTJjZWZlMTE5YmQ3NiIsImRvY1N0YXRlIjoie30iLCJwYXJlbnRMaW5lSWRzIjoiW1wiN2Y5NzMzY2QtZDQwZS00OWZlLThjMGItZDIwZDUyMzBkZmJjXCIsXCI2MDhhMTBiOS03</vt:lpwstr>
  </property>
  <property fmtid="{D5CDD505-2E9C-101B-9397-08002B2CF9AE}" pid="4" name="GVData0">
    <vt:lpwstr>MTZjLTQxZGQtOGNkOC02YTEzZWU5NGRiNGFcIixcIjcyYjdjNTU2LTQ1NGQtNGYwYS1iNzU1LTBiMjY1MzFlZWQ5MlwiLFwiYjBkZTY3OGItNjZjYS00N2Q1LTgyYjUtMjkwOGE2ODY1MGE1XCIsXCI3YmY1YTIyYS04NGM5LTQxMmItYjEzMS0xZTQ1YjZjZDA5Yzdc</vt:lpwstr>
  </property>
  <property fmtid="{D5CDD505-2E9C-101B-9397-08002B2CF9AE}" pid="5" name="GVData1">
    <vt:lpwstr>IixcImJkZTJlYWUwLTA1ZTctNDU4OC04YzhiLTYyMjhlNWQyZjMxM1wiLFwiOWEyOTk5N2EtYjZkZi00ZTIzLWJjZDAtODkzYjIzYzZlZDk2XCJdIiwid3JpdHRlbktleXMiOiJbXCJDbGFzc2lmaWNhdGlvblwiLFwiQ2xhc3NpZmljYXRpb25IYXNoXCIsXCJDbGFz</vt:lpwstr>
  </property>
  <property fmtid="{D5CDD505-2E9C-101B-9397-08002B2CF9AE}" pid="6" name="ClassificationTagSetId">
    <vt:lpwstr>e16409a7-1700-4153-9090-3955bc2f0ae8</vt:lpwstr>
  </property>
  <property fmtid="{D5CDD505-2E9C-101B-9397-08002B2CF9AE}" pid="7" name="ComplianceTagSetId">
    <vt:lpwstr>f14fc1f1-8950-40d5-8a29-45909da947d6</vt:lpwstr>
  </property>
  <property fmtid="{D5CDD505-2E9C-101B-9397-08002B2CF9AE}" pid="8" name="FileId">
    <vt:lpwstr>df695681-92bd-4395-ab6a-2cefe119bd76</vt:lpwstr>
  </property>
  <property fmtid="{D5CDD505-2E9C-101B-9397-08002B2CF9AE}" pid="9" name="UserId">
    <vt:lpwstr>Yarlagadda Ajayakanth (यार्लागड्डा अजयकांथ)</vt:lpwstr>
  </property>
  <property fmtid="{D5CDD505-2E9C-101B-9397-08002B2CF9AE}" pid="10" name="TagDateTime">
    <vt:lpwstr>2026-08-21T09:16:03Z</vt:lpwstr>
  </property>
  <property fmtid="{D5CDD505-2E9C-101B-9397-08002B2CF9AE}" pid="11" name="GVData2">
    <vt:lpwstr>c2lmaWNhdGlvblRhZ1NldElkXCIsXCJDb21wbGlhbmNlVGFnU2V0SWRcIixcIkZpbGVJZFwiLFwiZ3Zkb2NpZFwiLFwiVGFnRGF0ZVRpbWVcIixcIlVzZXJJZFwiXSIsIm5vT2ZHdkRhdGFFbnRyaWVzIjoiNSIsImxpbmVJZCI6ImJiNzcxOTAzLTdkY2YtNDQ5Zi04</vt:lpwstr>
  </property>
  <property fmtid="{D5CDD505-2E9C-101B-9397-08002B2CF9AE}" pid="12" name="GVData3">
    <vt:lpwstr>N2MzLTc1OWIwODU4NTU1OSIsInRhZ3NldF9lMTY0MDlhN18xNzAwXzQxNTNfOTA5MF8zOTU1YmMyZjBhZThfY2xhc3NpZmljYXRpb24iOiJHQUlMX0ludGVybmFsIn0=</vt:lpwstr>
  </property>
  <property fmtid="{D5CDD505-2E9C-101B-9397-08002B2CF9AE}" pid="13" name="Classification">
    <vt:lpwstr>GAIL_Internal</vt:lpwstr>
  </property>
  <property fmtid="{D5CDD505-2E9C-101B-9397-08002B2CF9AE}" pid="14" name="ClassificationHash">
    <vt:lpwstr>83fd7db6-332a-a65b-25d2-b805a8eee5ac</vt:lpwstr>
  </property>
  <property fmtid="{D5CDD505-2E9C-101B-9397-08002B2CF9AE}" pid="15" name="GVData4">
    <vt:lpwstr>(end)</vt:lpwstr>
  </property>
</Properties>
</file>