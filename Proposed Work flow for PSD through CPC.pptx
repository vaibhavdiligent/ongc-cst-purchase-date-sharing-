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8" r:id="rId2"/>
    <p:sldId id="268" r:id="rId3"/>
  </p:sldIdLst>
  <p:sldSz cx="12192000" cy="6858000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CD84BC-10E2-4637-BAEF-FD1EBDD18311}" type="doc">
      <dgm:prSet loTypeId="urn:diagrams.loki3.com/VaryingWidth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FC43D81-EAC4-49C3-AC63-EEB6D9838A7B}" type="pres">
      <dgm:prSet presAssocID="{A5CD84BC-10E2-4637-BAEF-FD1EBDD18311}" presName="Name0" presStyleCnt="0">
        <dgm:presLayoutVars>
          <dgm:resizeHandles/>
        </dgm:presLayoutVars>
      </dgm:prSet>
      <dgm:spPr/>
    </dgm:pt>
  </dgm:ptLst>
  <dgm:cxnLst>
    <dgm:cxn modelId="{AA0D8711-671D-4879-A790-977AD0A1B8FF}" type="presOf" srcId="{A5CD84BC-10E2-4637-BAEF-FD1EBDD18311}" destId="{6FC43D81-EAC4-49C3-AC63-EEB6D9838A7B}" srcOrd="0" destOrd="0" presId="urn:diagrams.loki3.com/VaryingWidth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VaryingWidthList">
  <dgm:title val="Varying Width List"/>
  <dgm:desc val="Use for emphasizing items of different weights.  Good for large amounts of Level 1 text.  The width of each shape is independently determined based on its text."/>
  <dgm:catLst>
    <dgm:cat type="list" pri="4160"/>
    <dgm:cat type="officeonline" pri="5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text" val="20"/>
      <dgm:constr type="h" for="ch" forName="text" refType="h"/>
      <dgm:constr type="primFontSz" for="ch" forName="text" op="equ" val="65"/>
      <dgm:constr type="h" for="ch" forName="space" refType="h" fact="0.05"/>
    </dgm:constrLst>
    <dgm:forEach name="Name1" axis="ch" ptType="node">
      <dgm:layoutNode name="text" styleLbl="node1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tMarg" refType="primFontSz" fact="0.2"/>
          <dgm:constr type="bMarg" refType="primFontSz" fact="0.2"/>
          <dgm:constr type="lMarg" refType="primFontSz" fact="0.2"/>
          <dgm:constr type="rMarg" refType="primFontSz" fact="0.2"/>
        </dgm:constrLst>
        <dgm:ruleLst>
          <dgm:rule type="w" val="INF" fact="NaN" max="NaN"/>
          <dgm:rule type="primFontSz" val="5" fact="NaN" max="NaN"/>
        </dgm:ruleLst>
      </dgm:layoutNode>
      <dgm:choose name="Name2">
        <dgm:if name="Name3" axis="par ch" ptType="doc node" func="cnt" op="gte" val="2">
          <dgm:forEach name="Name4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if>
        <dgm:else name="Name5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1C17F2-4137-4FCA-AE85-46C6C311D885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EE3D9-262F-4527-9681-B1EED9638F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192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78BB-45E3-4028-B11B-4070BBF3B02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562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3E81-926A-9193-E018-32B9FB27E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9EF19-08DF-68B6-4113-C6C61F8302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E9AF-385D-C54D-58FE-AA6FF9945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D2D71-6053-C8BA-AEB3-F6B451E6B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A869C-C16C-4708-10A8-8CFA08B8B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1796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46D88-7095-B495-95AC-C9A18222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8D551-F3F6-0D3B-41FA-444E5BAAF4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24C63-2B46-ACD3-1DF8-A47271934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4893B-9F9D-2651-C225-7018481D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138A0-B4AF-75A7-450A-0685D183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8181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A0ED8-517C-DC47-0042-252E32BF9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B6841-F3D9-63FD-DBF5-66D4CAA74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BCCBD-172E-B3F0-DCB1-7E583B4F8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4658-5136-B1F0-90F9-40DC57989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F2D9A-27EA-011B-FF1B-75D293FE3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85969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A4E7B-0006-83E4-5458-AE38FAB8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26383-9FE4-71BC-6260-AD2309409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D59AB-187A-BD63-968E-AD3429B2A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12C31-5BF4-EDC0-5172-BBC4116EB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53546-4A1F-E13E-DACA-EEC096E6A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96549-F6CB-BAF6-F108-8B9648393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85776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B1C66-29FC-3BF1-468C-D6889213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D8027-5140-EDD3-1885-5D250CFDD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925CCE-93DD-690D-8178-DD9DE56E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32CA1A-345F-1669-7516-7B52210D9E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EA7A68-75B7-3CAC-3F0B-E6F25700B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66A98-7EE1-E590-A45C-424B57D23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0B113-F826-17EB-861E-1CBFE083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96812-F87A-BADF-36AC-EE7316EB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02013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0D50-2520-0457-CED8-3159842D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B7320-0C10-B80B-1458-D53C6BF93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567C2-4024-87D3-39B4-3395F09C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CC2F5-F7BB-0EE9-5CD6-B6E66F363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623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BB3DD9-150E-0167-91BB-9E013633F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919F27-C997-C221-A445-9C00A95F7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705CD-2878-A7B3-80F8-21EC3ED98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8181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0299F-22EB-14D7-BB66-9E16C4658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02304-6F90-95A4-DD13-DF200648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B8DEA7-C04F-7542-FA12-20105E215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9F78D-A7BB-E2BF-F85B-6C6BBCCB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3A79E-8CED-5601-80B5-5EA16B74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4BA4B-4E0A-2143-DAE7-FAE8C5940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7138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FA17-8C9C-D9F7-0A1C-E85AE79BE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63D4D-6407-62E5-4BA1-11AF376EA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FEE0C4-B48B-371F-FA78-B5CBDFBCD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99D82-868E-C6D4-80C7-480A26475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C6FB3-3D74-16E8-BA39-2DECB0D01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599872-3F0B-D64B-41E8-17612649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98858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6357C-A3B8-7747-AE17-613A73F3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77F13-EB41-0B75-C12D-61F510799D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E6128-ADFC-7C14-628B-578048FBA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15424-7FF8-62CB-DD67-F8BFC7377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6933-FD7B-7E1A-C850-4C56951B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5547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AA80A8-F0E5-2208-C574-0C34DE7B69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681D6B-D438-C343-1312-5239C72A2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2D9F2-D5DC-52BD-6C3F-B6A2798CA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0444E-2A66-DE12-6730-C916718E0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A3E63-AC3A-6C16-E8A7-7D5E9201F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57280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129F68-DE9A-D615-9FC9-507A473A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F89AB-2872-BFC0-AC80-2A22ACF7F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714C2-9473-2024-4A67-6B2D6A80E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A5C145-983F-477C-B50C-A26A9F0E04AD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D6E6E-D6E2-CD5E-4028-9B23A4446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34802-5881-5396-A021-3336F8E06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37EED7-B8EA-4519-9AB8-F6185D3653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90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DDEA-6EA2-F617-478F-63F13E792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73152"/>
            <a:ext cx="11750039" cy="16203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/>
              <a:t>Proposed Post-Sale Discount Workflow in SAP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F80C47-F432-AB94-3A6D-978FB355F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313" y="2249425"/>
            <a:ext cx="8899711" cy="470916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dirty="0"/>
              <a:t>L1</a:t>
            </a:r>
            <a:r>
              <a:rPr lang="en-US" sz="2800" dirty="0">
                <a:sym typeface="Wingdings" panose="05000000000000000000" pitchFamily="2" charset="2"/>
              </a:rPr>
              <a:t></a:t>
            </a:r>
            <a:r>
              <a:rPr lang="en-US" sz="2800" dirty="0"/>
              <a:t>Zonal PC Marketing Executive  	           (Verify)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dirty="0"/>
              <a:t>L2</a:t>
            </a:r>
            <a:r>
              <a:rPr lang="en-US" sz="2800" dirty="0">
                <a:sym typeface="Wingdings" panose="05000000000000000000" pitchFamily="2" charset="2"/>
              </a:rPr>
              <a:t> </a:t>
            </a:r>
            <a:r>
              <a:rPr lang="en-US" sz="2800" dirty="0"/>
              <a:t>Zonal PC Head 	                       		           (Verify)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dirty="0"/>
              <a:t>L3</a:t>
            </a:r>
            <a:r>
              <a:rPr lang="en-US" sz="2800" dirty="0">
                <a:sym typeface="Wingdings" panose="05000000000000000000" pitchFamily="2" charset="2"/>
              </a:rPr>
              <a:t>  </a:t>
            </a:r>
            <a:r>
              <a:rPr lang="en-US" sz="2800" dirty="0"/>
              <a:t>CPC Marketing	                                          (Execution)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dirty="0"/>
              <a:t>L4</a:t>
            </a:r>
            <a:r>
              <a:rPr lang="en-US" sz="2800" dirty="0">
                <a:sym typeface="Wingdings" panose="05000000000000000000" pitchFamily="2" charset="2"/>
              </a:rPr>
              <a:t>  </a:t>
            </a:r>
            <a:r>
              <a:rPr lang="en-US" sz="2800" dirty="0"/>
              <a:t>CPC Finance                                      (Financial Vetting)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dirty="0"/>
              <a:t>L5</a:t>
            </a:r>
            <a:r>
              <a:rPr lang="en-US" sz="2800" dirty="0">
                <a:sym typeface="Wingdings" panose="05000000000000000000" pitchFamily="2" charset="2"/>
              </a:rPr>
              <a:t>  </a:t>
            </a:r>
            <a:r>
              <a:rPr lang="en-US" sz="2800" dirty="0"/>
              <a:t>CPC Head	                                                (Final Approval)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800" dirty="0"/>
              <a:t>L6</a:t>
            </a:r>
            <a:r>
              <a:rPr lang="en-US" sz="2800" dirty="0">
                <a:sym typeface="Wingdings" panose="05000000000000000000" pitchFamily="2" charset="2"/>
              </a:rPr>
              <a:t>  </a:t>
            </a:r>
            <a:r>
              <a:rPr lang="en-US" sz="2800" dirty="0"/>
              <a:t>CPC Finance                         (Discount disbursement)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Graphic 6" descr="User">
            <a:extLst>
              <a:ext uri="{FF2B5EF4-FFF2-40B4-BE49-F238E27FC236}">
                <a16:creationId xmlns:a16="http://schemas.microsoft.com/office/drawing/2014/main" id="{20B5E1A0-ED7D-4149-7B20-1D0F58E87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81875" y="2509842"/>
            <a:ext cx="2246964" cy="224696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F8290-43CC-C20C-0CA9-79AF8B83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Arial" panose="020B0604020202020204" pitchFamily="34" charset="0"/>
              </a:rPr>
              <a:t>GAIL_Internal</a:t>
            </a:r>
          </a:p>
        </p:txBody>
      </p:sp>
    </p:spTree>
    <p:extLst>
      <p:ext uri="{BB962C8B-B14F-4D97-AF65-F5344CB8AC3E}">
        <p14:creationId xmlns:p14="http://schemas.microsoft.com/office/powerpoint/2010/main" val="402861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3B29-4B7C-8254-C4BD-AE68FB85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5AE69E2-FC38-0AB2-C755-07E1E64F60D9}"/>
              </a:ext>
            </a:extLst>
          </p:cNvPr>
          <p:cNvSpPr/>
          <p:nvPr/>
        </p:nvSpPr>
        <p:spPr>
          <a:xfrm>
            <a:off x="124378" y="1879182"/>
            <a:ext cx="1732599" cy="914400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Corporate </a:t>
            </a:r>
            <a:r>
              <a:rPr lang="en-US" b="1" dirty="0">
                <a:solidFill>
                  <a:schemeClr val="tx1"/>
                </a:solidFill>
              </a:rPr>
              <a:t>      </a:t>
            </a:r>
            <a:r>
              <a:rPr b="1" dirty="0">
                <a:solidFill>
                  <a:schemeClr val="tx1"/>
                </a:solidFill>
              </a:rPr>
              <a:t>PMG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33F648-81E5-C07F-D2C2-ECC399AEC092}"/>
              </a:ext>
            </a:extLst>
          </p:cNvPr>
          <p:cNvSpPr/>
          <p:nvPr/>
        </p:nvSpPr>
        <p:spPr>
          <a:xfrm>
            <a:off x="2547236" y="1893748"/>
            <a:ext cx="1521973" cy="91440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Zonal PC </a:t>
            </a:r>
            <a:r>
              <a:rPr lang="en-US" b="1" dirty="0">
                <a:solidFill>
                  <a:schemeClr val="tx1"/>
                </a:solidFill>
              </a:rPr>
              <a:t>   </a:t>
            </a:r>
            <a:r>
              <a:rPr b="1" dirty="0">
                <a:solidFill>
                  <a:schemeClr val="tx1"/>
                </a:solidFill>
              </a:rPr>
              <a:t>Mktg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61CBCB9-9504-D373-8ED8-2FE2478DAF84}"/>
              </a:ext>
            </a:extLst>
          </p:cNvPr>
          <p:cNvSpPr/>
          <p:nvPr/>
        </p:nvSpPr>
        <p:spPr>
          <a:xfrm>
            <a:off x="4599609" y="1951108"/>
            <a:ext cx="1387316" cy="88359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0000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CPC-Mktg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94AA45CF-F22D-8C95-CBAC-160A5716D26D}"/>
              </a:ext>
            </a:extLst>
          </p:cNvPr>
          <p:cNvGraphicFramePr/>
          <p:nvPr/>
        </p:nvGraphicFramePr>
        <p:xfrm>
          <a:off x="3348271" y="5431224"/>
          <a:ext cx="1582303" cy="1669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B41C03BA-45BA-9E61-F5C5-F652BB56B5E8}"/>
              </a:ext>
            </a:extLst>
          </p:cNvPr>
          <p:cNvGrpSpPr/>
          <p:nvPr/>
        </p:nvGrpSpPr>
        <p:grpSpPr>
          <a:xfrm>
            <a:off x="2547236" y="2963803"/>
            <a:ext cx="1521973" cy="980852"/>
            <a:chOff x="-10161" y="0"/>
            <a:chExt cx="2603869" cy="7790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861C76-B359-F0E3-93D3-8DE08599B01F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2601777-3812-7BA7-7889-FAB1F8864F97}"/>
                </a:ext>
              </a:extLst>
            </p:cNvPr>
            <p:cNvSpPr txBox="1"/>
            <p:nvPr/>
          </p:nvSpPr>
          <p:spPr>
            <a:xfrm>
              <a:off x="-10161" y="29734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Verification by Executive in SAP </a:t>
              </a:r>
              <a:endParaRPr lang="en-IN" sz="16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F28CF63-7BCF-4790-70AF-4972CB928FE7}"/>
              </a:ext>
            </a:extLst>
          </p:cNvPr>
          <p:cNvGrpSpPr/>
          <p:nvPr/>
        </p:nvGrpSpPr>
        <p:grpSpPr>
          <a:xfrm>
            <a:off x="2559598" y="4007491"/>
            <a:ext cx="1516033" cy="943417"/>
            <a:chOff x="513940" y="-48245"/>
            <a:chExt cx="1038022" cy="149088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9C924B-36EE-910A-DC90-881C80529F97}"/>
                </a:ext>
              </a:extLst>
            </p:cNvPr>
            <p:cNvSpPr/>
            <p:nvPr/>
          </p:nvSpPr>
          <p:spPr>
            <a:xfrm>
              <a:off x="513940" y="-48245"/>
              <a:ext cx="1038022" cy="1490887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93A1B3-CAA4-5893-574A-7828F37FB821}"/>
                </a:ext>
              </a:extLst>
            </p:cNvPr>
            <p:cNvSpPr txBox="1"/>
            <p:nvPr/>
          </p:nvSpPr>
          <p:spPr>
            <a:xfrm>
              <a:off x="513940" y="261532"/>
              <a:ext cx="1034841" cy="7882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Verification by PC Head in SAP</a:t>
              </a:r>
              <a:endParaRPr lang="en-IN" sz="16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D0CC6B1-2445-51EB-7769-ABE39A96D133}"/>
              </a:ext>
            </a:extLst>
          </p:cNvPr>
          <p:cNvGrpSpPr/>
          <p:nvPr/>
        </p:nvGrpSpPr>
        <p:grpSpPr>
          <a:xfrm>
            <a:off x="4586704" y="2921668"/>
            <a:ext cx="1413127" cy="895193"/>
            <a:chOff x="0" y="-2018"/>
            <a:chExt cx="2593708" cy="75136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74E7884-5B40-B124-4F77-63EC47BC20B3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1263A31-B78C-D37B-481C-D9F681F02514}"/>
                </a:ext>
              </a:extLst>
            </p:cNvPr>
            <p:cNvSpPr txBox="1"/>
            <p:nvPr/>
          </p:nvSpPr>
          <p:spPr>
            <a:xfrm>
              <a:off x="62615" y="-2018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Verify &amp; Creation of  Rebate orders</a:t>
              </a:r>
              <a:endParaRPr lang="en-IN" sz="1600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65D0DE-5C38-C396-A210-53293D66C27E}"/>
              </a:ext>
            </a:extLst>
          </p:cNvPr>
          <p:cNvGrpSpPr/>
          <p:nvPr/>
        </p:nvGrpSpPr>
        <p:grpSpPr>
          <a:xfrm>
            <a:off x="4555373" y="3907220"/>
            <a:ext cx="1482481" cy="901245"/>
            <a:chOff x="248722" y="786829"/>
            <a:chExt cx="2074703" cy="74934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4C7558E-E5AC-1E24-39D1-A2D50C9A55B5}"/>
                </a:ext>
              </a:extLst>
            </p:cNvPr>
            <p:cNvSpPr/>
            <p:nvPr/>
          </p:nvSpPr>
          <p:spPr>
            <a:xfrm>
              <a:off x="353769" y="786829"/>
              <a:ext cx="1935000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4C919E0-ED75-A207-CD0C-8FF194D1E8F8}"/>
                </a:ext>
              </a:extLst>
            </p:cNvPr>
            <p:cNvSpPr txBox="1"/>
            <p:nvPr/>
          </p:nvSpPr>
          <p:spPr>
            <a:xfrm>
              <a:off x="248722" y="822004"/>
              <a:ext cx="2074703" cy="6630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Forward to CPC F&amp;A for vetting</a:t>
              </a:r>
              <a:endParaRPr lang="en-IN" sz="1600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FB76BA8-F198-A6C5-19A6-61DE8E368C7F}"/>
              </a:ext>
            </a:extLst>
          </p:cNvPr>
          <p:cNvGrpSpPr/>
          <p:nvPr/>
        </p:nvGrpSpPr>
        <p:grpSpPr>
          <a:xfrm>
            <a:off x="8315886" y="2945777"/>
            <a:ext cx="1517972" cy="1592859"/>
            <a:chOff x="291166" y="786829"/>
            <a:chExt cx="1997603" cy="74934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DA84E2-28A7-C14E-60E5-9B4416990AA6}"/>
                </a:ext>
              </a:extLst>
            </p:cNvPr>
            <p:cNvSpPr/>
            <p:nvPr/>
          </p:nvSpPr>
          <p:spPr>
            <a:xfrm>
              <a:off x="353769" y="786829"/>
              <a:ext cx="1935000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561AC14-C585-5D0A-1C57-767FAB14C400}"/>
                </a:ext>
              </a:extLst>
            </p:cNvPr>
            <p:cNvSpPr txBox="1"/>
            <p:nvPr/>
          </p:nvSpPr>
          <p:spPr>
            <a:xfrm>
              <a:off x="291166" y="804058"/>
              <a:ext cx="1938318" cy="6895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Approval of Discounts &amp; forward to CPC F&amp;A for disbursement</a:t>
              </a:r>
              <a:endParaRPr lang="en-IN" sz="1600" dirty="0"/>
            </a:p>
          </p:txBody>
        </p:sp>
      </p:grp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FDAB874D-0B4D-9F78-2C1F-11A380D503C6}"/>
              </a:ext>
            </a:extLst>
          </p:cNvPr>
          <p:cNvSpPr/>
          <p:nvPr/>
        </p:nvSpPr>
        <p:spPr>
          <a:xfrm>
            <a:off x="6415684" y="1967257"/>
            <a:ext cx="1393931" cy="883598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CPC-</a:t>
            </a:r>
            <a:r>
              <a:rPr lang="en-US" b="1" dirty="0">
                <a:solidFill>
                  <a:schemeClr val="tx1"/>
                </a:solidFill>
              </a:rPr>
              <a:t> F&amp;A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20" name="Rounded Rectangle 4">
            <a:extLst>
              <a:ext uri="{FF2B5EF4-FFF2-40B4-BE49-F238E27FC236}">
                <a16:creationId xmlns:a16="http://schemas.microsoft.com/office/drawing/2014/main" id="{0BE5DC3C-4416-B8B6-DEEF-60278041B7A6}"/>
              </a:ext>
            </a:extLst>
          </p:cNvPr>
          <p:cNvSpPr/>
          <p:nvPr/>
        </p:nvSpPr>
        <p:spPr>
          <a:xfrm>
            <a:off x="10232136" y="1852625"/>
            <a:ext cx="1805393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chemeClr val="tx1"/>
                </a:solidFill>
              </a:rPr>
              <a:t>CPC- F&amp;A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576E94-6F3F-ED34-D8A6-AEBF68047547}"/>
              </a:ext>
            </a:extLst>
          </p:cNvPr>
          <p:cNvGrpSpPr/>
          <p:nvPr/>
        </p:nvGrpSpPr>
        <p:grpSpPr>
          <a:xfrm>
            <a:off x="6369491" y="2963803"/>
            <a:ext cx="1461379" cy="1030733"/>
            <a:chOff x="0" y="0"/>
            <a:chExt cx="2593708" cy="778696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B3AB3A7-265B-2AF2-AFD4-D6CB42B08780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254CB26-D8C9-76D4-A4C7-1C95B9D398B9}"/>
                </a:ext>
              </a:extLst>
            </p:cNvPr>
            <p:cNvSpPr txBox="1"/>
            <p:nvPr/>
          </p:nvSpPr>
          <p:spPr>
            <a:xfrm>
              <a:off x="106467" y="15704"/>
              <a:ext cx="2289779" cy="76299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Vetting in SAP</a:t>
              </a:r>
              <a:endParaRPr lang="en-IN" sz="16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E6678E-12E6-09CC-2FA7-9DE31CA18713}"/>
              </a:ext>
            </a:extLst>
          </p:cNvPr>
          <p:cNvGrpSpPr/>
          <p:nvPr/>
        </p:nvGrpSpPr>
        <p:grpSpPr>
          <a:xfrm>
            <a:off x="10256218" y="2862623"/>
            <a:ext cx="1805393" cy="1292948"/>
            <a:chOff x="-7239" y="0"/>
            <a:chExt cx="2600947" cy="765047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5C53569-1A96-7385-13C5-D3D535B16957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69381FC-6AA4-7D06-19D6-21F1CDCFA0F5}"/>
                </a:ext>
              </a:extLst>
            </p:cNvPr>
            <p:cNvSpPr txBox="1"/>
            <p:nvPr/>
          </p:nvSpPr>
          <p:spPr>
            <a:xfrm>
              <a:off x="-7239" y="15704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Process Rebate Orders &amp; Generate Credit Notes</a:t>
              </a:r>
              <a:endParaRPr lang="en-IN" sz="1600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BB8EDB4-A4C7-BBFD-09B3-65339F45E6F8}"/>
              </a:ext>
            </a:extLst>
          </p:cNvPr>
          <p:cNvGrpSpPr/>
          <p:nvPr/>
        </p:nvGrpSpPr>
        <p:grpSpPr>
          <a:xfrm>
            <a:off x="10256218" y="4248724"/>
            <a:ext cx="1805393" cy="749798"/>
            <a:chOff x="-85145" y="0"/>
            <a:chExt cx="2678853" cy="788501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581AAA9-B717-4660-FE86-3C208C6A9E1E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CB8CF2A-E0B4-F57D-39F6-CE52463C0A58}"/>
                </a:ext>
              </a:extLst>
            </p:cNvPr>
            <p:cNvSpPr txBox="1"/>
            <p:nvPr/>
          </p:nvSpPr>
          <p:spPr>
            <a:xfrm>
              <a:off x="-85145" y="39158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 Customer G/L account</a:t>
              </a:r>
              <a:endParaRPr lang="en-IN" sz="1600" dirty="0"/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52577B-B0E5-3FC5-9F0E-41CB5193562E}"/>
              </a:ext>
            </a:extLst>
          </p:cNvPr>
          <p:cNvCxnSpPr>
            <a:cxnSpLocks/>
          </p:cNvCxnSpPr>
          <p:nvPr/>
        </p:nvCxnSpPr>
        <p:spPr>
          <a:xfrm flipH="1">
            <a:off x="4382381" y="1366664"/>
            <a:ext cx="44195" cy="54770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891BD55-6144-7F15-4E97-FF1AC8571A6C}"/>
              </a:ext>
            </a:extLst>
          </p:cNvPr>
          <p:cNvCxnSpPr>
            <a:cxnSpLocks/>
          </p:cNvCxnSpPr>
          <p:nvPr/>
        </p:nvCxnSpPr>
        <p:spPr>
          <a:xfrm flipH="1">
            <a:off x="0" y="1380924"/>
            <a:ext cx="52248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140B191-C22D-6004-918A-C9992FB951C7}"/>
              </a:ext>
            </a:extLst>
          </p:cNvPr>
          <p:cNvCxnSpPr>
            <a:cxnSpLocks/>
          </p:cNvCxnSpPr>
          <p:nvPr/>
        </p:nvCxnSpPr>
        <p:spPr>
          <a:xfrm>
            <a:off x="5224854" y="1380924"/>
            <a:ext cx="69884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487F73E-734F-6729-1067-20AA17086543}"/>
              </a:ext>
            </a:extLst>
          </p:cNvPr>
          <p:cNvSpPr txBox="1"/>
          <p:nvPr/>
        </p:nvSpPr>
        <p:spPr>
          <a:xfrm>
            <a:off x="2625221" y="1326406"/>
            <a:ext cx="768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Part-1</a:t>
            </a:r>
            <a:endParaRPr lang="en-IN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6C23EA5-DA2C-490F-BCD5-EC053062539C}"/>
              </a:ext>
            </a:extLst>
          </p:cNvPr>
          <p:cNvSpPr txBox="1"/>
          <p:nvPr/>
        </p:nvSpPr>
        <p:spPr>
          <a:xfrm>
            <a:off x="7346260" y="1412612"/>
            <a:ext cx="785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Part-2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5EB7009-DCAE-8F52-B345-4E542A05A6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878" t="-1" r="8995" b="28739"/>
          <a:stretch>
            <a:fillRect/>
          </a:stretch>
        </p:blipFill>
        <p:spPr>
          <a:xfrm>
            <a:off x="10668001" y="51648"/>
            <a:ext cx="1794803" cy="671639"/>
          </a:xfrm>
          <a:prstGeom prst="rect">
            <a:avLst/>
          </a:prstGeom>
        </p:spPr>
      </p:pic>
      <p:sp>
        <p:nvSpPr>
          <p:cNvPr id="28" name="Title 1">
            <a:extLst>
              <a:ext uri="{FF2B5EF4-FFF2-40B4-BE49-F238E27FC236}">
                <a16:creationId xmlns:a16="http://schemas.microsoft.com/office/drawing/2014/main" id="{FE43F678-0115-EDD1-7E9C-D369854FEF2C}"/>
              </a:ext>
            </a:extLst>
          </p:cNvPr>
          <p:cNvSpPr txBox="1">
            <a:spLocks/>
          </p:cNvSpPr>
          <p:nvPr/>
        </p:nvSpPr>
        <p:spPr>
          <a:xfrm>
            <a:off x="2109216" y="507027"/>
            <a:ext cx="9518826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04D50E7-F180-F75F-DC3C-408B3700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418" y="338349"/>
            <a:ext cx="11376039" cy="914400"/>
          </a:xfrm>
        </p:spPr>
        <p:txBody>
          <a:bodyPr>
            <a:normAutofit/>
          </a:bodyPr>
          <a:lstStyle/>
          <a:p>
            <a:r>
              <a:rPr dirty="0"/>
              <a:t>Standard PSD - </a:t>
            </a:r>
            <a:r>
              <a:rPr lang="en-US" dirty="0"/>
              <a:t>PMG</a:t>
            </a:r>
            <a:r>
              <a:rPr dirty="0"/>
              <a:t> to C</a:t>
            </a:r>
            <a:r>
              <a:rPr lang="en-US" dirty="0"/>
              <a:t>ustomer through CPC</a:t>
            </a:r>
            <a:endParaRPr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F80D87A-29A1-DD9B-4396-3B6360762B6B}"/>
              </a:ext>
            </a:extLst>
          </p:cNvPr>
          <p:cNvGrpSpPr/>
          <p:nvPr/>
        </p:nvGrpSpPr>
        <p:grpSpPr>
          <a:xfrm>
            <a:off x="193648" y="3011008"/>
            <a:ext cx="1794672" cy="923352"/>
            <a:chOff x="0" y="0"/>
            <a:chExt cx="2757373" cy="74934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EB7829-6406-2D27-F2B7-DFBEB30C7842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331FA20-DCFA-67C8-F158-78EF7299D362}"/>
                </a:ext>
              </a:extLst>
            </p:cNvPr>
            <p:cNvSpPr txBox="1"/>
            <p:nvPr/>
          </p:nvSpPr>
          <p:spPr>
            <a:xfrm>
              <a:off x="163666" y="823"/>
              <a:ext cx="2593707" cy="71960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/>
              <a:r>
                <a:rPr lang="en-US" sz="1600" dirty="0"/>
                <a:t>Creation of PSD Variants along with BIS</a:t>
              </a:r>
              <a:endParaRPr lang="en-IN" sz="16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68AC46B-405E-32AF-BDFE-69A03F452463}"/>
              </a:ext>
            </a:extLst>
          </p:cNvPr>
          <p:cNvGrpSpPr/>
          <p:nvPr/>
        </p:nvGrpSpPr>
        <p:grpSpPr>
          <a:xfrm>
            <a:off x="169096" y="4061985"/>
            <a:ext cx="1732598" cy="950997"/>
            <a:chOff x="-10161" y="0"/>
            <a:chExt cx="2603869" cy="77907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E967EE5-D8D9-3579-F9A8-0CAE184D8D98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3792692-D850-0B10-B4C6-172D63CB4BC5}"/>
                </a:ext>
              </a:extLst>
            </p:cNvPr>
            <p:cNvSpPr txBox="1"/>
            <p:nvPr/>
          </p:nvSpPr>
          <p:spPr>
            <a:xfrm>
              <a:off x="-10161" y="29734"/>
              <a:ext cx="2593708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lvl="0"/>
              <a:r>
                <a:rPr lang="en-US" sz="1600" dirty="0"/>
                <a:t>Communication to Zones &amp; CPC</a:t>
              </a:r>
              <a:endParaRPr lang="en-IN" sz="1600" dirty="0"/>
            </a:p>
          </p:txBody>
        </p:sp>
      </p:grpSp>
      <p:sp>
        <p:nvSpPr>
          <p:cNvPr id="54" name="Rounded Rectangle 4">
            <a:extLst>
              <a:ext uri="{FF2B5EF4-FFF2-40B4-BE49-F238E27FC236}">
                <a16:creationId xmlns:a16="http://schemas.microsoft.com/office/drawing/2014/main" id="{F7E540B1-1DE6-BDBE-3E42-16A5D18DF5BD}"/>
              </a:ext>
            </a:extLst>
          </p:cNvPr>
          <p:cNvSpPr/>
          <p:nvPr/>
        </p:nvSpPr>
        <p:spPr>
          <a:xfrm>
            <a:off x="8360936" y="1922118"/>
            <a:ext cx="1472922" cy="892706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/>
                </a:solidFill>
              </a:rPr>
              <a:t>CPC-</a:t>
            </a:r>
            <a:r>
              <a:rPr lang="en-US" b="1" dirty="0">
                <a:solidFill>
                  <a:schemeClr val="tx1"/>
                </a:solidFill>
              </a:rPr>
              <a:t> Head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56" name="Rounded Rectangle 4">
            <a:extLst>
              <a:ext uri="{FF2B5EF4-FFF2-40B4-BE49-F238E27FC236}">
                <a16:creationId xmlns:a16="http://schemas.microsoft.com/office/drawing/2014/main" id="{661BF256-7AE2-49B7-13E4-D2DF826615FC}"/>
              </a:ext>
            </a:extLst>
          </p:cNvPr>
          <p:cNvSpPr/>
          <p:nvPr/>
        </p:nvSpPr>
        <p:spPr>
          <a:xfrm>
            <a:off x="5931048" y="5581993"/>
            <a:ext cx="1436271" cy="91440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Zonal F&amp;A</a:t>
            </a:r>
            <a:endParaRPr b="1" dirty="0">
              <a:solidFill>
                <a:schemeClr val="tx1"/>
              </a:solidFill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1AB38D8-83E1-B5AC-1866-F4E4A3092E76}"/>
              </a:ext>
            </a:extLst>
          </p:cNvPr>
          <p:cNvGrpSpPr/>
          <p:nvPr/>
        </p:nvGrpSpPr>
        <p:grpSpPr>
          <a:xfrm>
            <a:off x="7571665" y="5588977"/>
            <a:ext cx="2174660" cy="896567"/>
            <a:chOff x="-7239" y="0"/>
            <a:chExt cx="2600947" cy="76504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527B433-7A2D-4710-AB5A-BB42D6DB1E9E}"/>
                </a:ext>
              </a:extLst>
            </p:cNvPr>
            <p:cNvSpPr/>
            <p:nvPr/>
          </p:nvSpPr>
          <p:spPr>
            <a:xfrm>
              <a:off x="0" y="0"/>
              <a:ext cx="2593708" cy="74934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9B77EB35-AC15-B0A8-F76E-6974DCB78A60}"/>
                </a:ext>
              </a:extLst>
            </p:cNvPr>
            <p:cNvSpPr txBox="1"/>
            <p:nvPr/>
          </p:nvSpPr>
          <p:spPr>
            <a:xfrm>
              <a:off x="-7239" y="15704"/>
              <a:ext cx="2403486" cy="7493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/>
                <a:t>Transfer to CS a/c based on Renunciation Letters </a:t>
              </a:r>
              <a:endParaRPr lang="en-IN" sz="1600" dirty="0"/>
            </a:p>
          </p:txBody>
        </p:sp>
      </p:grp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34CCBF3-8B66-1DAE-7DFF-41BA0AA04A31}"/>
              </a:ext>
            </a:extLst>
          </p:cNvPr>
          <p:cNvCxnSpPr>
            <a:cxnSpLocks/>
          </p:cNvCxnSpPr>
          <p:nvPr/>
        </p:nvCxnSpPr>
        <p:spPr>
          <a:xfrm>
            <a:off x="4391768" y="5111496"/>
            <a:ext cx="7934344" cy="469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2370E1B-F7FB-0510-D85A-0045B694845C}"/>
              </a:ext>
            </a:extLst>
          </p:cNvPr>
          <p:cNvSpPr txBox="1"/>
          <p:nvPr/>
        </p:nvSpPr>
        <p:spPr>
          <a:xfrm>
            <a:off x="6951980" y="5158458"/>
            <a:ext cx="8306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Part-3</a:t>
            </a:r>
            <a:endParaRPr lang="en-IN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709BE2E-7732-1832-10DF-908559EBAF74}"/>
              </a:ext>
            </a:extLst>
          </p:cNvPr>
          <p:cNvSpPr txBox="1"/>
          <p:nvPr/>
        </p:nvSpPr>
        <p:spPr>
          <a:xfrm>
            <a:off x="2491159" y="359338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L1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E3D804-5EFC-E878-3348-912F9F9A8460}"/>
              </a:ext>
            </a:extLst>
          </p:cNvPr>
          <p:cNvSpPr txBox="1"/>
          <p:nvPr/>
        </p:nvSpPr>
        <p:spPr>
          <a:xfrm>
            <a:off x="2500714" y="4643650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L2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3B2149-D8EF-99B6-F641-50EC7798DD78}"/>
              </a:ext>
            </a:extLst>
          </p:cNvPr>
          <p:cNvSpPr txBox="1"/>
          <p:nvPr/>
        </p:nvSpPr>
        <p:spPr>
          <a:xfrm>
            <a:off x="4498791" y="3519174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L3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A3C3781-4F93-0570-1AAE-489B7D93CA5E}"/>
              </a:ext>
            </a:extLst>
          </p:cNvPr>
          <p:cNvSpPr txBox="1"/>
          <p:nvPr/>
        </p:nvSpPr>
        <p:spPr>
          <a:xfrm>
            <a:off x="8291332" y="4223104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L5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4FEDC32-09F7-BF6B-3A23-E5B8FCCE5FE0}"/>
              </a:ext>
            </a:extLst>
          </p:cNvPr>
          <p:cNvSpPr txBox="1"/>
          <p:nvPr/>
        </p:nvSpPr>
        <p:spPr>
          <a:xfrm>
            <a:off x="6277887" y="3670942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L4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8CCE4B-3BF1-B92C-215F-19B30916D212}"/>
              </a:ext>
            </a:extLst>
          </p:cNvPr>
          <p:cNvSpPr txBox="1"/>
          <p:nvPr/>
        </p:nvSpPr>
        <p:spPr>
          <a:xfrm>
            <a:off x="10211168" y="3834183"/>
            <a:ext cx="426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L6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766491CA-DA9F-3577-D953-83BF028A2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1779"/>
            <a:ext cx="12192000" cy="246221"/>
          </a:xfrm>
        </p:spPr>
        <p:txBody>
          <a:bodyPr wrap="square">
            <a:spAutoFit/>
          </a:bodyPr>
          <a:lstStyle/>
          <a:p>
            <a:pPr algn="l"/>
            <a:r>
              <a:rPr lang="en-IN" sz="1000">
                <a:solidFill>
                  <a:srgbClr val="000000"/>
                </a:solidFill>
                <a:latin typeface="Arial" panose="020B0604020202020204" pitchFamily="34" charset="0"/>
              </a:rPr>
              <a:t>GAIL_Internal</a:t>
            </a:r>
          </a:p>
        </p:txBody>
      </p:sp>
    </p:spTree>
    <p:extLst>
      <p:ext uri="{BB962C8B-B14F-4D97-AF65-F5344CB8AC3E}">
        <p14:creationId xmlns:p14="http://schemas.microsoft.com/office/powerpoint/2010/main" val="242332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OCID" val="002f5246-24eb-4244-a857-68c505f5ccf3"/>
  <p:tag name="CLASSIFICATIONTAGSETID" val="e16409a7-1700-4153-9090-3955bc2f0ae8"/>
  <p:tag name="CLASSIFICATION" val="GAIL_Internal"/>
  <p:tag name="COMPLIANCETAGSETID" val="f14fc1f1-8950-40d5-8a29-45909da947d6"/>
  <p:tag name="FILEID" val="002f5246-24eb-4244-a857-68c505f5ccf3"/>
  <p:tag name="USERID" val="Yarlagadda Ajayakanth (यार्लागड्डा अजयकांथ)"/>
  <p:tag name="TAGDATETIME" val="2026-07-30T08:37:19Z"/>
  <p:tag name="CLASSIFICATIONHASH" val="83fd7db6-332a-a65b-25d2-b805a8eee5ac"/>
  <p:tag name="GVDATA" val="eyJPUyI6IldpbmRvd3MiLCJkb2NJRCI6IjAwMmY1MjQ2LTI0ZWItNDI0NC1hODU3LTY4YzUwNWY1Y2NmMyIsImRvY1N0YXRlIjoie1wiQ3VycmVudFN0YXRlXCI6XCJ7XFxcIkZpcnN0UGFnZURpZmZlcmVudFxcXCI6ZmFsc2UsXFxcIkRpZmZlcmVudE9kZEFuZEV2"/>
  <p:tag name="GVDATA0" val="ZW5QYWdlc1xcXCI6ZmFsc2UsXFxcIlBhZ2VDb3VudFxcXCI6MixcXFwiSGVhZGVyTWV0YWRhdGFcXFwiOlxcXCJcXFwiLFxcXCJUaGlyZFBhcnR5SGVhZGVyTWV0YWRhdGFcXFwiOlxcXCJcXFwiLFxcXCJHVkhlYWRlckV4aXN0c1xcXCI6ZmFsc2UsXFxcIk5vbkdW"/>
  <p:tag name="GVDATA1" val="SGVhZGVyRXhpc3RzXFxcIjpmYWxzZSxcXFwiRmxvYXRpbmdIZWFkZXJFeGlzdHNcXFwiOmZhbHNlLFxcXCJOb25HVkhlYWRlclNoYXBlRXhpc3RzXFxcIjpmYWxzZSxcXFwiVGhpcmRQYXJ0eUhlYWRlcnNcXFwiOltdLFxcXCJGb290ZXJNZXRhZGF0YVxcXCI6XFxc"/>
  <p:tag name="GVDATA2" val="IlxcXCIsXFxcIlRoaXJkUGFydHlGb290ZXJNZXRhZGF0YVxcXCI6XFxcIlxcXCIsXFxcIkdWRm9vdGVyRXhpc3RzXFxcIjpmYWxzZSxcXFwiTm9uR1ZGb290ZXJFeGlzdHNcXFwiOmZhbHNlLFxcXCJGbG9hdGluZ0Zvb3RlckV4aXN0c1xcXCI6ZmFsc2UsXFxcIk5v"/>
  <p:tag name="GVDATA3" val="bkdWRm9vdGVyU2hhcGVFeGlzdHNcXFwiOmZhbHNlLFxcXCJUaGlyZFBhcnR5Rm9vdGVyc1xcXCI6W10sXFxcIldhdGVybWFya01ldGFkYXRhXFxcIjpudWxsLFxcXCJXYXRlcm1hcmtFeGlzdHNcXFwiOmZhbHNlLFxcXCJQb3dlcnBvaW50VGl0bGVNZXRhZGF0YVxc"/>
  <p:tag name="GVDATA4" val="XCI6XFxcIlxcXCIsXFxcIlBvd2VycG9pbnRTdWJ0aXRsZU1ldGFkYXRhXFxcIjpcXFwiXFxcIixcXFwiVGhpcmRQYXJ0eU1ldGFkYXRhRm91bmRcXFwiOmZhbHNlfVwiLFwiRm9vdGVyXCI6XCI8c3BhbiBzdHlsZT1cXFwiY29sb3I6Z3JleTt0ZXh0LWFsaWduOmxl"/>
  <p:tag name="GVDATA5" val="ZnQ7Zm9udC1mYW1pbHk6QXJpYWw7XFxcIj48c3Bhbj5HQUlMX0ludGVybmFsPC9zcGFuPjwvc3Bhbj5cIixcIk9wdGlvbnNcIjpcIntcXFwiUG9wdXBDb25maWd1cmF0aW9uXFxcIjp7XFxcIkFsd2F5c1Nob3dQb3B1cFxcXCI6ZmFsc2UsXFxcIkVuZm9yY2VIZWFk"/>
  <p:tag name="GVDATA6" val="ZXJGb290ZXJUeXBlXFxcIjpmYWxzZSxcXFwiSGVhZGVyUGxhY2VtZW50VHlwZVxcXCI6MCxcXFwiRm9vdGVyUGxhY2VtZW50VHlwZVxcXCI6MCxcXFwiRW5mb3JjZUxheW91dE9wdGlvblxcXCI6dHJ1ZSxcXFwiTGF5b3V0T3B0aW9uXFxcIjowLFxcXCJUcmlnZ2Vy"/>
  <p:tag name="GVDATA7" val="TnVtYmVyXFxcIjowLFxcXCJGcm9tSW5kZXhcXFwiOjAsXFxcIlRvSW5kZXhcXFwiOjAsXFxcIkVuZm9yY2VPdmVyd3JpdGVPcHRpb25cXFwiOnRydWUsXFxcIk92ZXJ3cml0ZU9wdGlvblxcXCI6XFxcImFwcGVuZFxcXCJ9LFxcXCJIZWFkZXJFbmFibGVkXFxcIjpm"/>
  <p:tag name="GVDATA8" val="YWxzZSxcXFwiSGVhZGVyXFxcIjpcXFwiXFxcIixcXFwiSGVhZGVyc1xcXCI6bnVsbCxcXFwiSGVhZGVyVHlwZVxcXCI6MixcXFwiSGVhZGVyVHlwZXNBbGxvd2VkXFxcIjpbMl0sXFxcIkhlYWRlclVwZGF0ZVR5cGVcXFwiOjAsXFxcIkZvb3RlckVuYWJsZWRcXFwi"/>
  <p:tag name="GVDATA9" val="OnRydWUsXFxcIkZvb3RlclxcXCI6XFxcIjxzcGFuIHN0eWxlPVxcXFxcXFwiY29sb3I6Z3JleTt0ZXh0LWFsaWduOmxlZnQ7Zm9udC1mYW1pbHk6QXJpYWw7XFxcXFxcXCI+PHNwYW4+R0FJTF9JbnRlcm5hbDwvc3Bhbj48L3NwYW4+XFxcIixcXFwiRm9vdGVyc1xc"/>
  <p:tag name="GVDATA10" val="XCI6bnVsbCxcXFwiRm9vdGVyVHlwZVxcXCI6MCxcXFwiRm9vdGVyVHlwZXNBbGxvd2VkXFxcIjpbMCwxXSxcXFwiRm9vdGVyVXBkYXRlVHlwZVxcXCI6MSxcXFwiV2F0ZXJtYXJrXFxcIjpudWxsLFxcXCJXYXRlcm1hcmtFbmFibGVkXFxcIjpmYWxzZSxcXFwiU2hv"/>
  <p:tag name="GVDATA11" val="dWxkV3JpdGVXYXRlcm1hcmtcXFwiOmZhbHNlLFxcXCJXYXRlcm1hcmtVcGRhdGVUeXBlXFxcIjowLFxcXCJQb3dlcnBvaW50VGl0bGVcXFwiOlxcXCJcXFwiLFxcXCJQb3dlcnBvaW50U3ViaXRsZVxcXCI6XFxcIlxcXCJ9XCIsXCJTdGF0ZVwiOlwie1xcXCJGaXJz"/>
  <p:tag name="GVDATA12" val="dFBhZ2VEaWZmZXJlbnRcXFwiOmZhbHNlLFxcXCJEaWZmZXJlbnRPZGRBbmRFdmVuUGFnZXNcXFwiOmZhbHNlLFxcXCJQYWdlQ291bnRcXFwiOjIsXFxcIkhlYWRlck1ldGFkYXRhXFxcIjpcXFwiXFxcIixcXFwiVGhpcmRQYXJ0eUhlYWRlck1ldGFkYXRhXFxcIjpc"/>
  <p:tag name="GVDATA13" val="XFwiXFxcIixcXFwiR1ZIZWFkZXJFeGlzdHNcXFwiOmZhbHNlLFxcXCJOb25HVkhlYWRlckV4aXN0c1xcXCI6ZmFsc2UsXFxcIkZsb2F0aW5nSGVhZGVyRXhpc3RzXFxcIjpmYWxzZSxcXFwiTm9uR1ZIZWFkZXJTaGFwZUV4aXN0c1xcXCI6ZmFsc2UsXFxcIlRoaXJk"/>
  <p:tag name="GVDATA14" val="UGFydHlIZWFkZXJzXFxcIjpbXSxcXFwiRm9vdGVyTWV0YWRhdGFcXFwiOlxcXCJcXFwiLFxcXCJUaGlyZFBhcnR5Rm9vdGVyTWV0YWRhdGFcXFwiOlxcXCJcXFwiLFxcXCJHVkZvb3RlckV4aXN0c1xcXCI6ZmFsc2UsXFxcIk5vbkdWRm9vdGVyRXhpc3RzXFxcIjpm"/>
  <p:tag name="GVDATA15" val="YWxzZSxcXFwiRmxvYXRpbmdGb290ZXJFeGlzdHNcXFwiOmZhbHNlLFxcXCJOb25HVkZvb3RlclNoYXBlRXhpc3RzXFxcIjpmYWxzZSxcXFwiVGhpcmRQYXJ0eUZvb3RlcnNcXFwiOltdLFxcXCJXYXRlcm1hcmtNZXRhZGF0YVxcXCI6bnVsbCxcXFwiV2F0ZXJtYXJr"/>
  <p:tag name="GVDATA16" val="RXhpc3RzXFxcIjpmYWxzZSxcXFwiUG93ZXJwb2ludFRpdGxlTWV0YWRhdGFcXFwiOlxcXCJcXFwiLFxcXCJQb3dlcnBvaW50U3VidGl0bGVNZXRhZGF0YVxcXCI6XFxcIlxcXCIsXFxcIlRoaXJkUGFydHlNZXRhZGF0YUZvdW5kXFxcIjpmYWxzZX1cIn0iLCJwYXJl"/>
  <p:tag name="GVDATA17" val="bnRMaW5lSWRzIjoiW1wiN2YwMjY2YzktMGNjZS00MzI5LTk5ODktYzY3ZjgwNzYwNWNkXCIsXCJlYjE3NDQwNC0yYjA2LTQ5MDEtODMxYi0yYTI5ZWIyMWMxNDdcIixcIjk0MDVhMTBlLTFmMTQtNGIzOS1hNGY3LTAzNWE4MGQ1ZDI2NVwiXSIsIndyaXR0ZW5LZXlz"/>
  <p:tag name="GVDATA18" val="IjoiW1wiQ2xhc3NpZmljYXRpb25cIixcIkNsYXNzaWZpY2F0aW9uSGFzaFwiLFwiQ2xhc3NpZmljYXRpb25UYWdTZXRJZFwiLFwiQ29tcGxpYW5jZVRhZ1NldElkXCIsXCJGaWxlSWRcIixcImd2ZG9jaWRcIixcIlRhZ0RhdGVUaW1lXCIsXCJVc2VySWRcIl0iLCJu"/>
  <p:tag name="GVDATA19" val="b09mR3ZEYXRhRW50cmllcyI6IjIxIiwibGluZUlkIjoiOTZlNDc1NTYtNTNmMS00M2JmLWJjYWUtYjBiOGIxYWJmMDM5IiwidGFnc2V0X2UxNjQwOWE3XzE3MDBfNDE1M185MDkwXzM5NTViYzJmMGFlOF9jbGFzc2lmaWNhdGlvbiI6IkdBSUxfSW50ZXJuYWwifQ=="/>
  <p:tag name="GVDATA20" val="(end)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186</Words>
  <Application>Microsoft Office PowerPoint</Application>
  <PresentationFormat>Widescreen</PresentationFormat>
  <Paragraphs>38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Proposed Post-Sale Discount Workflow in SAP</vt:lpstr>
      <vt:lpstr>Standard PSD - PMG to Customer through CPC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Yarlagadda Ajayakanth (यार्लागड्डा अजयकांथ)</dc:creator>
  <cp:lastModifiedBy>Yarlagadda Ajayakanth (यार्लागड्डा अजयकांथ)</cp:lastModifiedBy>
  <cp:revision>7</cp:revision>
  <dcterms:created xsi:type="dcterms:W3CDTF">2026-07-30T05:03:39Z</dcterms:created>
  <dcterms:modified xsi:type="dcterms:W3CDTF">2026-07-30T08:37:19Z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ocid">
    <vt:lpwstr>002f5246-24eb-4244-a857-68c505f5ccf3</vt:lpwstr>
  </property>
  <property fmtid="{D5CDD505-2E9C-101B-9397-08002B2CF9AE}" pid="3" name="ClassificationTagSetId">
    <vt:lpwstr>e16409a7-1700-4153-9090-3955bc2f0ae8</vt:lpwstr>
  </property>
  <property fmtid="{D5CDD505-2E9C-101B-9397-08002B2CF9AE}" pid="4" name="ComplianceTagSetId">
    <vt:lpwstr>f14fc1f1-8950-40d5-8a29-45909da947d6</vt:lpwstr>
  </property>
  <property fmtid="{D5CDD505-2E9C-101B-9397-08002B2CF9AE}" pid="5" name="FileId">
    <vt:lpwstr>002f5246-24eb-4244-a857-68c505f5ccf3</vt:lpwstr>
  </property>
  <property fmtid="{D5CDD505-2E9C-101B-9397-08002B2CF9AE}" pid="6" name="UserId">
    <vt:lpwstr>Yarlagadda Ajayakanth (यार्लागड्डा अजयकांथ)</vt:lpwstr>
  </property>
  <property fmtid="{D5CDD505-2E9C-101B-9397-08002B2CF9AE}" pid="7" name="TagDateTime">
    <vt:lpwstr>2026-07-30T08:37:19Z</vt:lpwstr>
  </property>
  <property fmtid="{D5CDD505-2E9C-101B-9397-08002B2CF9AE}" pid="8" name="GVData">
    <vt:lpwstr>eyJPUyI6IldpbmRvd3MiLCJkb2NJRCI6IjAwMmY1MjQ2LTI0ZWItNDI0NC1hODU3LTY4YzUwNWY1Y2NmMyIsImRvY1N0YXRlIjoie1wiQ3VycmVudFN0YXRlXCI6XCJ7XFxcIkZpcnN0UGFnZURpZmZlcmVudFxcXCI6ZmFsc2UsXFxcIkRpZmZlcmVudE9kZEFuZEV2</vt:lpwstr>
  </property>
  <property fmtid="{D5CDD505-2E9C-101B-9397-08002B2CF9AE}" pid="9" name="GVData0">
    <vt:lpwstr>ZW5QYWdlc1xcXCI6ZmFsc2UsXFxcIlBhZ2VDb3VudFxcXCI6MixcXFwiSGVhZGVyTWV0YWRhdGFcXFwiOlxcXCJcXFwiLFxcXCJUaGlyZFBhcnR5SGVhZGVyTWV0YWRhdGFcXFwiOlxcXCJcXFwiLFxcXCJHVkhlYWRlckV4aXN0c1xcXCI6ZmFsc2UsXFxcIk5vbkdW</vt:lpwstr>
  </property>
  <property fmtid="{D5CDD505-2E9C-101B-9397-08002B2CF9AE}" pid="10" name="GVData1">
    <vt:lpwstr>SGVhZGVyRXhpc3RzXFxcIjpmYWxzZSxcXFwiRmxvYXRpbmdIZWFkZXJFeGlzdHNcXFwiOmZhbHNlLFxcXCJOb25HVkhlYWRlclNoYXBlRXhpc3RzXFxcIjpmYWxzZSxcXFwiVGhpcmRQYXJ0eUhlYWRlcnNcXFwiOltdLFxcXCJGb290ZXJNZXRhZGF0YVxcXCI6XFxc</vt:lpwstr>
  </property>
  <property fmtid="{D5CDD505-2E9C-101B-9397-08002B2CF9AE}" pid="11" name="GVData2">
    <vt:lpwstr>IlxcXCIsXFxcIlRoaXJkUGFydHlGb290ZXJNZXRhZGF0YVxcXCI6XFxcIlxcXCIsXFxcIkdWRm9vdGVyRXhpc3RzXFxcIjpmYWxzZSxcXFwiTm9uR1ZGb290ZXJFeGlzdHNcXFwiOmZhbHNlLFxcXCJGbG9hdGluZ0Zvb3RlckV4aXN0c1xcXCI6ZmFsc2UsXFxcIk5v</vt:lpwstr>
  </property>
  <property fmtid="{D5CDD505-2E9C-101B-9397-08002B2CF9AE}" pid="12" name="GVData3">
    <vt:lpwstr>bkdWRm9vdGVyU2hhcGVFeGlzdHNcXFwiOmZhbHNlLFxcXCJUaGlyZFBhcnR5Rm9vdGVyc1xcXCI6W10sXFxcIldhdGVybWFya01ldGFkYXRhXFxcIjpudWxsLFxcXCJXYXRlcm1hcmtFeGlzdHNcXFwiOmZhbHNlLFxcXCJQb3dlcnBvaW50VGl0bGVNZXRhZGF0YVxc</vt:lpwstr>
  </property>
  <property fmtid="{D5CDD505-2E9C-101B-9397-08002B2CF9AE}" pid="13" name="GVData4">
    <vt:lpwstr>XCI6XFxcIlxcXCIsXFxcIlBvd2VycG9pbnRTdWJ0aXRsZU1ldGFkYXRhXFxcIjpcXFwiXFxcIixcXFwiVGhpcmRQYXJ0eU1ldGFkYXRhRm91bmRcXFwiOmZhbHNlfVwiLFwiRm9vdGVyXCI6XCI8c3BhbiBzdHlsZT1cXFwiY29sb3I6Z3JleTt0ZXh0LWFsaWduOmxl</vt:lpwstr>
  </property>
  <property fmtid="{D5CDD505-2E9C-101B-9397-08002B2CF9AE}" pid="14" name="GVData5">
    <vt:lpwstr>ZnQ7Zm9udC1mYW1pbHk6QXJpYWw7XFxcIj48c3Bhbj5HQUlMX0ludGVybmFsPC9zcGFuPjwvc3Bhbj5cIixcIk9wdGlvbnNcIjpcIntcXFwiUG9wdXBDb25maWd1cmF0aW9uXFxcIjp7XFxcIkFsd2F5c1Nob3dQb3B1cFxcXCI6ZmFsc2UsXFxcIkVuZm9yY2VIZWFk</vt:lpwstr>
  </property>
  <property fmtid="{D5CDD505-2E9C-101B-9397-08002B2CF9AE}" pid="15" name="GVData6">
    <vt:lpwstr>ZXJGb290ZXJUeXBlXFxcIjpmYWxzZSxcXFwiSGVhZGVyUGxhY2VtZW50VHlwZVxcXCI6MCxcXFwiRm9vdGVyUGxhY2VtZW50VHlwZVxcXCI6MCxcXFwiRW5mb3JjZUxheW91dE9wdGlvblxcXCI6dHJ1ZSxcXFwiTGF5b3V0T3B0aW9uXFxcIjowLFxcXCJUcmlnZ2Vy</vt:lpwstr>
  </property>
  <property fmtid="{D5CDD505-2E9C-101B-9397-08002B2CF9AE}" pid="16" name="GVData7">
    <vt:lpwstr>TnVtYmVyXFxcIjowLFxcXCJGcm9tSW5kZXhcXFwiOjAsXFxcIlRvSW5kZXhcXFwiOjAsXFxcIkVuZm9yY2VPdmVyd3JpdGVPcHRpb25cXFwiOnRydWUsXFxcIk92ZXJ3cml0ZU9wdGlvblxcXCI6XFxcImFwcGVuZFxcXCJ9LFxcXCJIZWFkZXJFbmFibGVkXFxcIjpm</vt:lpwstr>
  </property>
  <property fmtid="{D5CDD505-2E9C-101B-9397-08002B2CF9AE}" pid="17" name="Classification">
    <vt:lpwstr>GAIL_Internal</vt:lpwstr>
  </property>
  <property fmtid="{D5CDD505-2E9C-101B-9397-08002B2CF9AE}" pid="18" name="ClassificationHash">
    <vt:lpwstr>83fd7db6-332a-a65b-25d2-b805a8eee5ac</vt:lpwstr>
  </property>
  <property fmtid="{D5CDD505-2E9C-101B-9397-08002B2CF9AE}" pid="19" name="GVData8">
    <vt:lpwstr>YWxzZSxcXFwiSGVhZGVyXFxcIjpcXFwiXFxcIixcXFwiSGVhZGVyc1xcXCI6bnVsbCxcXFwiSGVhZGVyVHlwZVxcXCI6MixcXFwiSGVhZGVyVHlwZXNBbGxvd2VkXFxcIjpbMl0sXFxcIkhlYWRlclVwZGF0ZVR5cGVcXFwiOjAsXFxcIkZvb3RlckVuYWJsZWRcXFwi</vt:lpwstr>
  </property>
  <property fmtid="{D5CDD505-2E9C-101B-9397-08002B2CF9AE}" pid="20" name="GVData9">
    <vt:lpwstr>OnRydWUsXFxcIkZvb3RlclxcXCI6XFxcIjxzcGFuIHN0eWxlPVxcXFxcXFwiY29sb3I6Z3JleTt0ZXh0LWFsaWduOmxlZnQ7Zm9udC1mYW1pbHk6QXJpYWw7XFxcXFxcXCI+PHNwYW4+R0FJTF9JbnRlcm5hbDwvc3Bhbj48L3NwYW4+XFxcIixcXFwiRm9vdGVyc1xc</vt:lpwstr>
  </property>
  <property fmtid="{D5CDD505-2E9C-101B-9397-08002B2CF9AE}" pid="21" name="GVData10">
    <vt:lpwstr>XCI6bnVsbCxcXFwiRm9vdGVyVHlwZVxcXCI6MCxcXFwiRm9vdGVyVHlwZXNBbGxvd2VkXFxcIjpbMCwxXSxcXFwiRm9vdGVyVXBkYXRlVHlwZVxcXCI6MSxcXFwiV2F0ZXJtYXJrXFxcIjpudWxsLFxcXCJXYXRlcm1hcmtFbmFibGVkXFxcIjpmYWxzZSxcXFwiU2hv</vt:lpwstr>
  </property>
  <property fmtid="{D5CDD505-2E9C-101B-9397-08002B2CF9AE}" pid="22" name="GVData11">
    <vt:lpwstr>dWxkV3JpdGVXYXRlcm1hcmtcXFwiOmZhbHNlLFxcXCJXYXRlcm1hcmtVcGRhdGVUeXBlXFxcIjowLFxcXCJQb3dlcnBvaW50VGl0bGVcXFwiOlxcXCJcXFwiLFxcXCJQb3dlcnBvaW50U3ViaXRsZVxcXCI6XFxcIlxcXCJ9XCIsXCJTdGF0ZVwiOlwie1xcXCJGaXJz</vt:lpwstr>
  </property>
  <property fmtid="{D5CDD505-2E9C-101B-9397-08002B2CF9AE}" pid="23" name="GVData12">
    <vt:lpwstr>dFBhZ2VEaWZmZXJlbnRcXFwiOmZhbHNlLFxcXCJEaWZmZXJlbnRPZGRBbmRFdmVuUGFnZXNcXFwiOmZhbHNlLFxcXCJQYWdlQ291bnRcXFwiOjIsXFxcIkhlYWRlck1ldGFkYXRhXFxcIjpcXFwiXFxcIixcXFwiVGhpcmRQYXJ0eUhlYWRlck1ldGFkYXRhXFxcIjpc</vt:lpwstr>
  </property>
  <property fmtid="{D5CDD505-2E9C-101B-9397-08002B2CF9AE}" pid="24" name="GVData13">
    <vt:lpwstr>XFwiXFxcIixcXFwiR1ZIZWFkZXJFeGlzdHNcXFwiOmZhbHNlLFxcXCJOb25HVkhlYWRlckV4aXN0c1xcXCI6ZmFsc2UsXFxcIkZsb2F0aW5nSGVhZGVyRXhpc3RzXFxcIjpmYWxzZSxcXFwiTm9uR1ZIZWFkZXJTaGFwZUV4aXN0c1xcXCI6ZmFsc2UsXFxcIlRoaXJk</vt:lpwstr>
  </property>
  <property fmtid="{D5CDD505-2E9C-101B-9397-08002B2CF9AE}" pid="25" name="GVData14">
    <vt:lpwstr>UGFydHlIZWFkZXJzXFxcIjpbXSxcXFwiRm9vdGVyTWV0YWRhdGFcXFwiOlxcXCJcXFwiLFxcXCJUaGlyZFBhcnR5Rm9vdGVyTWV0YWRhdGFcXFwiOlxcXCJcXFwiLFxcXCJHVkZvb3RlckV4aXN0c1xcXCI6ZmFsc2UsXFxcIk5vbkdWRm9vdGVyRXhpc3RzXFxcIjpm</vt:lpwstr>
  </property>
  <property fmtid="{D5CDD505-2E9C-101B-9397-08002B2CF9AE}" pid="26" name="GVData15">
    <vt:lpwstr>YWxzZSxcXFwiRmxvYXRpbmdGb290ZXJFeGlzdHNcXFwiOmZhbHNlLFxcXCJOb25HVkZvb3RlclNoYXBlRXhpc3RzXFxcIjpmYWxzZSxcXFwiVGhpcmRQYXJ0eUZvb3RlcnNcXFwiOltdLFxcXCJXYXRlcm1hcmtNZXRhZGF0YVxcXCI6bnVsbCxcXFwiV2F0ZXJtYXJr</vt:lpwstr>
  </property>
  <property fmtid="{D5CDD505-2E9C-101B-9397-08002B2CF9AE}" pid="27" name="GVData16">
    <vt:lpwstr>RXhpc3RzXFxcIjpmYWxzZSxcXFwiUG93ZXJwb2ludFRpdGxlTWV0YWRhdGFcXFwiOlxcXCJcXFwiLFxcXCJQb3dlcnBvaW50U3VidGl0bGVNZXRhZGF0YVxcXCI6XFxcIlxcXCIsXFxcIlRoaXJkUGFydHlNZXRhZGF0YUZvdW5kXFxcIjpmYWxzZX1cIn0iLCJwYXJl</vt:lpwstr>
  </property>
  <property fmtid="{D5CDD505-2E9C-101B-9397-08002B2CF9AE}" pid="28" name="GVData17">
    <vt:lpwstr>bnRMaW5lSWRzIjoiW1wiN2YwMjY2YzktMGNjZS00MzI5LTk5ODktYzY3ZjgwNzYwNWNkXCIsXCJlYjE3NDQwNC0yYjA2LTQ5MDEtODMxYi0yYTI5ZWIyMWMxNDdcIixcIjk0MDVhMTBlLTFmMTQtNGIzOS1hNGY3LTAzNWE4MGQ1ZDI2NVwiXSIsIndyaXR0ZW5LZXlz</vt:lpwstr>
  </property>
  <property fmtid="{D5CDD505-2E9C-101B-9397-08002B2CF9AE}" pid="29" name="GVData18">
    <vt:lpwstr>IjoiW1wiQ2xhc3NpZmljYXRpb25cIixcIkNsYXNzaWZpY2F0aW9uSGFzaFwiLFwiQ2xhc3NpZmljYXRpb25UYWdTZXRJZFwiLFwiQ29tcGxpYW5jZVRhZ1NldElkXCIsXCJGaWxlSWRcIixcImd2ZG9jaWRcIixcIlRhZ0RhdGVUaW1lXCIsXCJVc2VySWRcIl0iLCJu</vt:lpwstr>
  </property>
  <property fmtid="{D5CDD505-2E9C-101B-9397-08002B2CF9AE}" pid="30" name="GVData19">
    <vt:lpwstr>b09mR3ZEYXRhRW50cmllcyI6IjIxIiwibGluZUlkIjoiOTZlNDc1NTYtNTNmMS00M2JmLWJjYWUtYjBiOGIxYWJmMDM5IiwidGFnc2V0X2UxNjQwOWE3XzE3MDBfNDE1M185MDkwXzM5NTViYzJmMGFlOF9jbGFzc2lmaWNhdGlvbiI6IkdBSUxfSW50ZXJuYWwifQ==</vt:lpwstr>
  </property>
  <property fmtid="{D5CDD505-2E9C-101B-9397-08002B2CF9AE}" pid="31" name="GVData20">
    <vt:lpwstr>(end)</vt:lpwstr>
  </property>
</Properties>
</file>