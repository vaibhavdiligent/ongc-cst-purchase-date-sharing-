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ZATC_RESULT_CORRECTION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115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B8D1F3"/>
                </a:solidFill>
              </a:rPr>
              <a:t>Program Capabilities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DCE7F7"/>
                </a:solidFill>
              </a:rPr>
              <a:t>Automated S/4HANA ATC finding remediation for ABAP objects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Purpose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Supported Repository Object Types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ATC Findings Automatically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Post-Correction Quality Gate (Syntax Check)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Operating Modes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Deliverables per Run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Coverage — 272 SAP Classic Tables to S/4HANA CDS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ZATC_RESULT_CORRECTION — Capabilities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1. Purpose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Reads ATC findings from a selected run series.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Opens each target repository object and applies the corrective source change matching the finding.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Activates the modified object via RPY_PROGRAM_UPDATE / CTS_WBO_API_INSERT_OBJECTS.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Reports per-object syntax-check status in an ALV grid with traffic lights.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Simulation mode (P_SIM = 'X') previews all corrections on ZTEST_CHECK&lt;program&gt;_&lt;user&gt; copies before touching originals.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1. Purpose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2. Supported Repository Object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PROG  —  Reports, executable programs, module pools, includes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FUGR  —  Function group main includes and function-module includes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CLAS  —  Global ABAP OO classes — public / protected / private sections, methods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INTF  —  Global ABAP OO interfaces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SSFO  —  Smart Forms — form logic (SSF_READ_FORM / SSF_WRITE_FORM)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SFPF  —  Adobe / SAP Interactive Forms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</a:rPr>
              <a:t>•  ENHO  —  Enhancement Implementations (BAdIs, method / source-code plug-ins)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2. Supported Object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1. S/4HANA Database Operation Migration</a:t>
            </a:r>
          </a:p>
          <a:p>
            <a:r>
              <a:rPr sz="1600" i="1">
                <a:solidFill>
                  <a:srgbClr val="2E5CA7"/>
                </a:solidFill>
              </a:rPr>
              <a:t>ATC finding: S/4HANA: SEARCH FOR DATABASE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Rewrites SELECT from deprecated classic tables to released CDS views (via ARS_API_SUCCESSOR).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Rebuilds field lists using CL_DD_DDL_HANDLER_FACTORY to map old column names to new CDS elements.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Handles single-line and multi-line SELECT blocks, JOINs, and FOR ALL ENTRIES.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Adds @ prefix on WHERE / INTO / APPENDING host variables (S/4HANA syntax rules).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Special-case: KONV → V_KONV_CDS.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Detects if successor is a view (DD02L) and emits "#EC CI_NOORDER instead of ORDER BY PRIMARY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1. S/4HANA Database Operation Migration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2. Field Length Extensions (MATNR / GLACCOUNT)</a:t>
            </a:r>
          </a:p>
          <a:p>
            <a:r>
              <a:rPr sz="1600" i="1">
                <a:solidFill>
                  <a:srgbClr val="2E5CA7"/>
                </a:solidFill>
              </a:rPr>
              <a:t>ATC finding: S/4HANA: FIELD LENGTH EXTENSIONS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Auto-appends "#EC CI_FLDEXT_OK[&lt;note&gt;] pseudo comment for confirmed-safe statements.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Covers: CALL METHOD / FUNCTION GENERIC PARAMETER, MOVE / WRITE / SET / GET PARAMETER, MOVE GENERIC -&gt;, REPLACE, OFFSET/LENGTH-ACCESS, EXPORT / IMPORT, STRUCTURE-COMPONENT / MESSAGE-WITH LENGTH CONFLICT.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Real code transformation applied for MOVE TYPE CONFLICT and MOVE LENGTH CONFLICT — RHS wrapped with CONV #(…).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Respects FLE_TOPIC_SWITCH-MATNR_TARGET_MODE and priority 2/3 rules.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Multi-line IMPORT statements handled via backward scan.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2. Field Length Extensions (MATNR / GLACCOUNT)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3. Simplified Objects (FMs, Reports, Transactions)</a:t>
            </a:r>
          </a:p>
          <a:p>
            <a:r>
              <a:rPr sz="1600" i="1">
                <a:solidFill>
                  <a:srgbClr val="2E5CA7"/>
                </a:solidFill>
              </a:rPr>
              <a:t>ATC finding: S/4HANA: SEARCH FOR USAGES OF SIMPLIFIED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Function modules replaced with successor FM from ARS_API_SUCCESSOR — parameter list preserved.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Deprecated reports re-wired to strategic S/4HANA equivalents.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Transactions replaced: BP-mapped tcodes (XD01/XD02/...) via replace_bp, MIGO-family via replace_migo (PRGN_CORR2 driven).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Amount fields (DEC/CURR/QUAN) auto-wrapped with CONV via amount_conv when DDIC datatype is CURR/DEC/QUAN.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Material fields (MATNR40/18) auto-wrapped via material_conv.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3. Simplified Objects (FMs, Reports, Transactions)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4. Simplified Transactions in Literals</a:t>
            </a:r>
          </a:p>
          <a:p>
            <a:r>
              <a:rPr sz="1600" i="1">
                <a:solidFill>
                  <a:srgbClr val="2E5CA7"/>
                </a:solidFill>
              </a:rPr>
              <a:t>ATC finding: S/4HANA: SEARCH FOR SIMPLIFIED TRANSACTIONS IN LITERALS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Locates hard-coded transaction-code literals (e.g. 'MB01', 'ME21') inside programs.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Search is quote-anchored — avoids substring hits on identifiers like IT_MCHA.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Appends the pseudo comment "#EC CI_USAGE_OK[&lt;note&gt;].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Existing trailing comments are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4. Simplified Transactions in Literals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5. SELECT / OPEN CURSOR Without ORDER BY</a:t>
            </a:r>
          </a:p>
          <a:p>
            <a:r>
              <a:rPr sz="1600" i="1">
                <a:solidFill>
                  <a:srgbClr val="2E5CA7"/>
                </a:solidFill>
              </a:rPr>
              <a:t>ATC finding: SEARCH PROBLEMATIC STATEMENTS FOR RESULT OF SELECT/OPEN CURSOR WITHOUT ORDER BY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DELETE ADJACENT DUPLICATES → auto-inserts matching SORT.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LOOP AT + EXIT / RETURN / LEAVE, WRITE IN LOOP, LOOP AT ITAB FROM/TO → SORT before the loop.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READ TABLE ... INDEX / BINARY SEARCH → SORT with the correct BY-field list.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MODIFY / DELETE ... INDEX → SORT before the statement.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Cluster / Pool table SELECT without ORDER BY → ORDER BY PRIMARY KEY (or "#EC CI_NOORDER on views).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SELECT SINGLE possibly not unique → rewritten to SELECT * ... UP TO 1 ROWS ORDER BY &lt;full DD03L primary key&gt;.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LOOP AT ... AT ... ENDAT / ON CHANGE OF → SORT before the loop.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EMPTY SELECT/ENDSELECT → converted to internal-table SELECT + LOOP.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ALV CALL (cl_salv_table=&gt;factory) → SORT emitted on the ALV output table.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Duplicate protection: does not emit a SORT already present above the target.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5. SELECT / OPEN CURSOR Without ORDER BY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6. IDoc Segment / DDIC Enhancement Findings</a:t>
            </a:r>
          </a:p>
          <a:p>
            <a:r>
              <a:rPr sz="1600" i="1">
                <a:solidFill>
                  <a:srgbClr val="2E5CA7"/>
                </a:solidFill>
              </a:rPr>
              <a:t>ATC finding: S/4HANA: IDOC CHECK  /  S/4HANA: SEARCH FOR ABAP DICTIONARY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Auto-appends the "#EC CI_USAGE_OK[&lt;note&gt;] pseudo comment on the flagged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6. IDoc Segment / DDIC Enhancement Findings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7. ADBC Interface Usage</a:t>
            </a:r>
          </a:p>
          <a:p>
            <a:r>
              <a:rPr sz="1600" i="1">
                <a:solidFill>
                  <a:srgbClr val="2E5CA7"/>
                </a:solidFill>
              </a:rPr>
              <a:t>ATC finding: USE OF ADBC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020"/>
                </a:solidFill>
              </a:rPr>
              <a:t>•  Auto-appends "#EC CI_USAGE_OK[&lt;note&gt;] pseudo comment.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7. ADBC Interface Usage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4. Post-Correction Quality Gate</a:t>
            </a:r>
          </a:p>
          <a:p>
            <a:r>
              <a:rPr sz="1600" i="1">
                <a:solidFill>
                  <a:srgbClr val="2E5CA7"/>
                </a:solidFill>
              </a:rPr>
              <a:t>Live syntax check via RS_SYNTAX_CHECK (same FM as ZCHECK_ABAP_SYNTAX)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Traffic-light column: green = clean compile, red = syntax error found.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Error line number captured per row.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Full error message text.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Include where the error occurs (crucial for CLAS / FUGR / ENHO).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Errors are sorted to the top of the ALV automatically.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Full SALV toolbar enabled — Export → Spreadsheet allows Excel download.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4. Post-Correction Quality Gate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5. Operating Modes and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P_ID — ATC run series ID (F4 help enabled)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S_OBJ — object-name filter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S_NAME — sub-object / include filter (mandatory)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P_REM — free-text remark stamped on every change block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LV_REQ — target transport request (mandatory)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P_BEGIN / P_END — client-convention Begin/End of change comment prefixes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P_SIM = 'X' — simulation only (writes to ZTEST_CHECK copy)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P_SIM = ' ' — live mode (activates through RPY_PROGRAM_UPDATE)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</a:rPr>
              <a:t>•  Backups always kept as ZTEST_CHECK&lt;original&gt;_&lt;user&gt; — changes fully reversible.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5. Operating Modes and Parameters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6. Runtime Behaviour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Refuses to run outside SAPGUI — prevents accidental changes from Fiori Launchpad / WebGUI.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All updates are transport-recorded via the request supplied in LV_REQ.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Every corrected block bracketed by client's Begin/End of change comments.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Comment-only lines (*, ") are ignored by the change engine — historical annotations never treated as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6. Runtime Behaviour Notes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7. Deliverables per Run (ALV Output)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Original program / class / form / include name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Sub-object name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New (activated) program name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Backup program name (ZTEST_CHECK…)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Correction status: Success / Syntax error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Traffic-light indicator (green / red)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Error line, message, and include (populated only when a syntax error was raised)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7. Deliverables per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8. Coverage — Classic Tables → S/4HANA Successors</a:t>
            </a:r>
          </a:p>
          <a:p>
            <a:r>
              <a:rPr sz="1600" i="1">
                <a:solidFill>
                  <a:srgbClr val="2E5CA7"/>
                </a:solidFill>
              </a:rPr>
              <a:t>Per ARS_API_SUCCESSOR standard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272 distinct SAP classic tables auto-mapped to their S/4HANA successor.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312 total mappings (multiple valid CDS successors for some tables — program picks by context).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Special-case override in program code: KONV → V_KONV_CDS.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Covers all major functional areas — FI, CO, MM, SD, PP, QM, WM, HCM, EWM, financials, master data.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</a:rPr>
              <a:t>•  Full alphabetical list on the following slides (Appendix 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8. Coverage Summary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(1/7)</a:t>
            </a:r>
          </a:p>
          <a:p>
            <a:r>
              <a:rPr sz="1600" i="1">
                <a:solidFill>
                  <a:srgbClr val="2E5CA7"/>
                </a:solidFill>
              </a:rPr>
              <a:t>Tables 1–40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ACDOCA</a:t>
            </a:r>
            <a:r>
              <a:rPr sz="1100">
                <a:solidFill>
                  <a:srgbClr val="333333"/>
                </a:solidFill>
              </a:rPr>
              <a:t>  →  I_GLACCOUNTLINEITEM, I_GLACCOUNTLINEITEMRAWDATA, I_JOURNALENTRYITEM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AFKO</a:t>
            </a:r>
            <a:r>
              <a:rPr sz="1100">
                <a:solidFill>
                  <a:srgbClr val="333333"/>
                </a:solidFill>
              </a:rPr>
              <a:t>  →  I_MANUFACTURINGORDER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AFPO</a:t>
            </a:r>
            <a:r>
              <a:rPr sz="1100">
                <a:solidFill>
                  <a:srgbClr val="333333"/>
                </a:solidFill>
              </a:rPr>
              <a:t>  →  I_MANUFACTURINGORDERITEM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AFRU</a:t>
            </a:r>
            <a:r>
              <a:rPr sz="1100">
                <a:solidFill>
                  <a:srgbClr val="333333"/>
                </a:solidFill>
              </a:rPr>
              <a:t>  →  I_MFGORDERCONFIRMATION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AFVC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AFVU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AFVV</a:t>
            </a:r>
            <a:r>
              <a:rPr sz="1100">
                <a:solidFill>
                  <a:srgbClr val="333333"/>
                </a:solidFill>
              </a:rPr>
              <a:t>  →  I_MANUFACTURINGORDEROPERATION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AUFK</a:t>
            </a:r>
            <a:r>
              <a:rPr sz="1100">
                <a:solidFill>
                  <a:srgbClr val="333333"/>
                </a:solidFill>
              </a:rPr>
              <a:t>  →  I_ORDER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BKPF</a:t>
            </a:r>
            <a:r>
              <a:rPr sz="1100">
                <a:solidFill>
                  <a:srgbClr val="333333"/>
                </a:solidFill>
              </a:rPr>
              <a:t>  →  I_JOURNALENTRY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BNKA</a:t>
            </a:r>
            <a:r>
              <a:rPr sz="1100">
                <a:solidFill>
                  <a:srgbClr val="333333"/>
                </a:solidFill>
              </a:rPr>
              <a:t>  →  I_BANK_2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BSEC</a:t>
            </a:r>
            <a:r>
              <a:rPr sz="1100">
                <a:solidFill>
                  <a:srgbClr val="333333"/>
                </a:solidFill>
              </a:rPr>
              <a:t>  →  I_ONETIMEACCOUNTCUSTOMER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BSED</a:t>
            </a:r>
            <a:r>
              <a:rPr sz="1100">
                <a:solidFill>
                  <a:srgbClr val="333333"/>
                </a:solidFill>
              </a:rPr>
              <a:t>  →  I_BILLOFEXCHANGE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BSEG</a:t>
            </a:r>
            <a:r>
              <a:rPr sz="1100">
                <a:solidFill>
                  <a:srgbClr val="333333"/>
                </a:solidFill>
              </a:rPr>
              <a:t>  →  I_OPERATIONALACCTGDOCITEM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BSEG_ADD</a:t>
            </a:r>
            <a:r>
              <a:rPr sz="1100">
                <a:solidFill>
                  <a:srgbClr val="333333"/>
                </a:solidFill>
              </a:rPr>
              <a:t>  →  I_ADDLLEDGEROPLACCTGDOCITEM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BUT000</a:t>
            </a:r>
            <a:r>
              <a:rPr sz="1100">
                <a:solidFill>
                  <a:srgbClr val="333333"/>
                </a:solidFill>
              </a:rPr>
              <a:t>  →  I_BUSINESSPARTNER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CDHDR</a:t>
            </a:r>
            <a:r>
              <a:rPr sz="1100">
                <a:solidFill>
                  <a:srgbClr val="333333"/>
                </a:solidFill>
              </a:rPr>
              <a:t>  →  CL_CHDO_READ_TOOLS, CL_CHDO_WRITE_TOOLS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CDPOS</a:t>
            </a:r>
            <a:r>
              <a:rPr sz="1100">
                <a:solidFill>
                  <a:srgbClr val="333333"/>
                </a:solidFill>
              </a:rPr>
              <a:t>  →  CL_CHDO_READ_TOOLS, CL_CHDO_WRITE_TOOLS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CEPC</a:t>
            </a:r>
            <a:r>
              <a:rPr sz="1100">
                <a:solidFill>
                  <a:srgbClr val="333333"/>
                </a:solidFill>
              </a:rPr>
              <a:t>  →  I_PROFITCENTER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CEPCT</a:t>
            </a:r>
            <a:r>
              <a:rPr sz="1100">
                <a:solidFill>
                  <a:srgbClr val="333333"/>
                </a:solidFill>
              </a:rPr>
              <a:t>  →  I_PROFITCENTERTEXT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CRHD</a:t>
            </a:r>
            <a:r>
              <a:rPr sz="1100">
                <a:solidFill>
                  <a:srgbClr val="333333"/>
                </a:solidFill>
              </a:rPr>
              <a:t>  →  I_WORKCENTER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CRTX</a:t>
            </a:r>
            <a:r>
              <a:rPr sz="1100">
                <a:solidFill>
                  <a:srgbClr val="333333"/>
                </a:solidFill>
              </a:rPr>
              <a:t>  →  I_WORKCENTERTEXT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CSKA</a:t>
            </a:r>
            <a:r>
              <a:rPr sz="1100">
                <a:solidFill>
                  <a:srgbClr val="333333"/>
                </a:solidFill>
              </a:rPr>
              <a:t>  →  I_GLACCOUNT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CSKB</a:t>
            </a:r>
            <a:r>
              <a:rPr sz="1100">
                <a:solidFill>
                  <a:srgbClr val="333333"/>
                </a:solidFill>
              </a:rPr>
              <a:t>  →  I_GLACCOUNTINCOMPANYCODE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CSKS</a:t>
            </a:r>
            <a:r>
              <a:rPr sz="1100">
                <a:solidFill>
                  <a:srgbClr val="333333"/>
                </a:solidFill>
              </a:rPr>
              <a:t>  →  I_COSTCENTER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CSKT</a:t>
            </a:r>
            <a:r>
              <a:rPr sz="1100">
                <a:solidFill>
                  <a:srgbClr val="333333"/>
                </a:solidFill>
              </a:rPr>
              <a:t>  →  I_COSTCENTERTEXT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CSKU</a:t>
            </a:r>
            <a:r>
              <a:rPr sz="1100">
                <a:solidFill>
                  <a:srgbClr val="333333"/>
                </a:solidFill>
              </a:rPr>
              <a:t>  →  I_GLACCOUNTTEXT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CSLA</a:t>
            </a:r>
            <a:r>
              <a:rPr sz="1100">
                <a:solidFill>
                  <a:srgbClr val="333333"/>
                </a:solidFill>
              </a:rPr>
              <a:t>  →  I_COSTCENTERACTIVITYTYPE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CSLT</a:t>
            </a:r>
            <a:r>
              <a:rPr sz="1100">
                <a:solidFill>
                  <a:srgbClr val="333333"/>
                </a:solidFill>
              </a:rPr>
              <a:t>  →  I_COSTCENTERACTIVITYTYPETEXT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DD07L</a:t>
            </a:r>
            <a:r>
              <a:rPr sz="1100">
                <a:solidFill>
                  <a:srgbClr val="333333"/>
                </a:solidFill>
              </a:rPr>
              <a:t>  →  DDCDS_CUSTOMER_DOMAIN_VALUE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DD07T</a:t>
            </a:r>
            <a:r>
              <a:rPr sz="1100">
                <a:solidFill>
                  <a:srgbClr val="333333"/>
                </a:solidFill>
              </a:rPr>
              <a:t>  →  DDCDS_CUSTOMER_DOMAIN_VALUE_T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DFKKKO</a:t>
            </a:r>
            <a:r>
              <a:rPr sz="1100">
                <a:solidFill>
                  <a:srgbClr val="333333"/>
                </a:solidFill>
              </a:rPr>
              <a:t>  →  I_CADOCUMENTHEADER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DFKKOP</a:t>
            </a:r>
            <a:r>
              <a:rPr sz="1100">
                <a:solidFill>
                  <a:srgbClr val="333333"/>
                </a:solidFill>
              </a:rPr>
              <a:t>  →  I_CADOCUMENTBPITEMPHYSICAL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DFKKOPK</a:t>
            </a:r>
            <a:r>
              <a:rPr sz="1100">
                <a:solidFill>
                  <a:srgbClr val="333333"/>
                </a:solidFill>
              </a:rPr>
              <a:t>  →  I_CADOCUMENTGLITEM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EBAN</a:t>
            </a:r>
            <a:r>
              <a:rPr sz="1100">
                <a:solidFill>
                  <a:srgbClr val="333333"/>
                </a:solidFill>
              </a:rPr>
              <a:t>  →  I_PURCHASEREQUISITIONITEMAPI01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EBKN</a:t>
            </a:r>
            <a:r>
              <a:rPr sz="1100">
                <a:solidFill>
                  <a:srgbClr val="333333"/>
                </a:solidFill>
              </a:rPr>
              <a:t>  →  I_PURREQNACCTASSGMTAPI01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EHEWAD_WA_TRRQLA</a:t>
            </a:r>
            <a:r>
              <a:rPr sz="1100">
                <a:solidFill>
                  <a:srgbClr val="333333"/>
                </a:solidFill>
              </a:rPr>
              <a:t>  →  I_WASTETRANSFERREQUESTHISTORY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EINA</a:t>
            </a:r>
            <a:r>
              <a:rPr sz="1100">
                <a:solidFill>
                  <a:srgbClr val="333333"/>
                </a:solidFill>
              </a:rPr>
              <a:t>  →  I_PURCHASINGINFORECORDAPI01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EINE</a:t>
            </a:r>
            <a:r>
              <a:rPr sz="1100">
                <a:solidFill>
                  <a:srgbClr val="333333"/>
                </a:solidFill>
              </a:rPr>
              <a:t>  →  I_PURCHASINGINFORECORDAPI01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EKBE</a:t>
            </a:r>
            <a:r>
              <a:rPr sz="1100">
                <a:solidFill>
                  <a:srgbClr val="333333"/>
                </a:solidFill>
              </a:rPr>
              <a:t>  →  I_PURCHASEORDERHISTORYAPI01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EKES</a:t>
            </a:r>
            <a:r>
              <a:rPr sz="1100">
                <a:solidFill>
                  <a:srgbClr val="333333"/>
                </a:solidFill>
              </a:rPr>
              <a:t>  →  I_POSUPPLIERCONFIRMATIONAPI01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(1/7)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(2/7)</a:t>
            </a:r>
          </a:p>
          <a:p>
            <a:r>
              <a:rPr sz="1600" i="1">
                <a:solidFill>
                  <a:srgbClr val="2E5CA7"/>
                </a:solidFill>
              </a:rPr>
              <a:t>Tables 41–80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EKET</a:t>
            </a:r>
            <a:r>
              <a:rPr sz="1100">
                <a:solidFill>
                  <a:srgbClr val="333333"/>
                </a:solidFill>
              </a:rPr>
              <a:t>  →  I_PURORDSCHEDULELINEAPI01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EKKN</a:t>
            </a:r>
            <a:r>
              <a:rPr sz="1100">
                <a:solidFill>
                  <a:srgbClr val="333333"/>
                </a:solidFill>
              </a:rPr>
              <a:t>  →  I_PURORDACCOUNTASSIGNMENTAPI01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EKKO</a:t>
            </a:r>
            <a:r>
              <a:rPr sz="1100">
                <a:solidFill>
                  <a:srgbClr val="333333"/>
                </a:solidFill>
              </a:rPr>
              <a:t>  →  I_PURCHASEORDERAPI01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EKPA</a:t>
            </a:r>
            <a:r>
              <a:rPr sz="1100">
                <a:solidFill>
                  <a:srgbClr val="333333"/>
                </a:solidFill>
              </a:rPr>
              <a:t>  →  I_PURCHASEORDERPARTNERAPI01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EKPO</a:t>
            </a:r>
            <a:r>
              <a:rPr sz="1100">
                <a:solidFill>
                  <a:srgbClr val="333333"/>
                </a:solidFill>
              </a:rPr>
              <a:t>  →  I_PURCHASEORDERITEMAPI01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EORD</a:t>
            </a:r>
            <a:r>
              <a:rPr sz="1100">
                <a:solidFill>
                  <a:srgbClr val="333333"/>
                </a:solidFill>
              </a:rPr>
              <a:t>  →  I_MPPURCHASINGSOURCEITEM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EQUK</a:t>
            </a:r>
            <a:r>
              <a:rPr sz="1100">
                <a:solidFill>
                  <a:srgbClr val="333333"/>
                </a:solidFill>
              </a:rPr>
              <a:t>  →  I_PURGQUOTAARRGMTAPI01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EQUP</a:t>
            </a:r>
            <a:r>
              <a:rPr sz="1100">
                <a:solidFill>
                  <a:srgbClr val="333333"/>
                </a:solidFill>
              </a:rPr>
              <a:t>  →  I_PURGQUOTAARRGMTITEMAPI01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FKKINV_UNIT_PUBLIC_DATA_BADI</a:t>
            </a:r>
            <a:r>
              <a:rPr sz="1100">
                <a:solidFill>
                  <a:srgbClr val="333333"/>
                </a:solidFill>
              </a:rPr>
              <a:t>  →  FKKINV_UNIT_PUBLIC_DATA_GFN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FKKVK</a:t>
            </a:r>
            <a:r>
              <a:rPr sz="1100">
                <a:solidFill>
                  <a:srgbClr val="333333"/>
                </a:solidFill>
              </a:rPr>
              <a:t>  →  I_CONTRACTACCOUNTHEADER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FKKVKP</a:t>
            </a:r>
            <a:r>
              <a:rPr sz="1100">
                <a:solidFill>
                  <a:srgbClr val="333333"/>
                </a:solidFill>
              </a:rPr>
              <a:t>  →  I_CONTRACTACCOUNTPARTNER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GLO_BUP_CTX_S_ACCDOC_HDR_FI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GLO_BUP_CTX_S_ACCDOC_ITM_FI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GLO_BUP_CTX_S_ACCHD_FI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GLO_BUP_CTX_S_ACCINTF_FI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GLO_BUP_CTX_S_ACCIT_FI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GLO_BUP_CTX_S_FIORI_FI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GLO_BUP_CTX_S_FIORI_ITEM_FI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GLO_BUP_CTX_S_HEADER_FI</a:t>
            </a:r>
            <a:r>
              <a:rPr sz="1100">
                <a:solidFill>
                  <a:srgbClr val="333333"/>
                </a:solidFill>
              </a:rPr>
              <a:t>  →  FINS_ACDOC_HEADER_IN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GLO_BUP_CTX_S_ITEM_FI</a:t>
            </a:r>
            <a:r>
              <a:rPr sz="1100">
                <a:solidFill>
                  <a:srgbClr val="333333"/>
                </a:solidFill>
              </a:rPr>
              <a:t>  →  FINS_ACDOC_ITEM_IN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GLO_BUP_CTX_S_TRANS_FI</a:t>
            </a:r>
            <a:r>
              <a:rPr sz="1100">
                <a:solidFill>
                  <a:srgbClr val="333333"/>
                </a:solidFill>
              </a:rPr>
              <a:t>  →  FINS_ACDOC_HEADER_IN, FINS_ACDOC_ITEM_IN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KBED</a:t>
            </a:r>
            <a:r>
              <a:rPr sz="1100">
                <a:solidFill>
                  <a:srgbClr val="333333"/>
                </a:solidFill>
              </a:rPr>
              <a:t>  →  I_CAPACITYREQUIREMENTITEM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KBLK</a:t>
            </a:r>
            <a:r>
              <a:rPr sz="1100">
                <a:solidFill>
                  <a:srgbClr val="333333"/>
                </a:solidFill>
              </a:rPr>
              <a:t>  →  I_EARMARKEDFUNDSDOCUMENT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KBLP</a:t>
            </a:r>
            <a:r>
              <a:rPr sz="1100">
                <a:solidFill>
                  <a:srgbClr val="333333"/>
                </a:solidFill>
              </a:rPr>
              <a:t>  →  I_EARMARKEDFUNDSDOCUMENTITEM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KNA1</a:t>
            </a:r>
            <a:r>
              <a:rPr sz="1100">
                <a:solidFill>
                  <a:srgbClr val="333333"/>
                </a:solidFill>
              </a:rPr>
              <a:t>  →  I_CUSTOMER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KNB1</a:t>
            </a:r>
            <a:r>
              <a:rPr sz="1100">
                <a:solidFill>
                  <a:srgbClr val="333333"/>
                </a:solidFill>
              </a:rPr>
              <a:t>  →  I_CUSTOMERCOMPANY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KNB5</a:t>
            </a:r>
            <a:r>
              <a:rPr sz="1100">
                <a:solidFill>
                  <a:srgbClr val="333333"/>
                </a:solidFill>
              </a:rPr>
              <a:t>  →  I_CUSTOMERDUNNING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KNBK</a:t>
            </a:r>
            <a:r>
              <a:rPr sz="1100">
                <a:solidFill>
                  <a:srgbClr val="333333"/>
                </a:solidFill>
              </a:rPr>
              <a:t>  →  I_BUSINESSPARTNERBANK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KNVI</a:t>
            </a:r>
            <a:r>
              <a:rPr sz="1100">
                <a:solidFill>
                  <a:srgbClr val="333333"/>
                </a:solidFill>
              </a:rPr>
              <a:t>  →  I_CUSTSALESAREATAX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KNVK</a:t>
            </a:r>
            <a:r>
              <a:rPr sz="1100">
                <a:solidFill>
                  <a:srgbClr val="333333"/>
                </a:solidFill>
              </a:rPr>
              <a:t>  →  I_CONTACTPERSON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KNVP</a:t>
            </a:r>
            <a:r>
              <a:rPr sz="1100">
                <a:solidFill>
                  <a:srgbClr val="333333"/>
                </a:solidFill>
              </a:rPr>
              <a:t>  →  I_CUSTSALESPARTNERFUNC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KNVV</a:t>
            </a:r>
            <a:r>
              <a:rPr sz="1100">
                <a:solidFill>
                  <a:srgbClr val="333333"/>
                </a:solidFill>
              </a:rPr>
              <a:t>  →  I_CUSTOMERSALESAREA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KONH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KONM</a:t>
            </a:r>
            <a:r>
              <a:rPr sz="1100">
                <a:solidFill>
                  <a:srgbClr val="333333"/>
                </a:solidFill>
              </a:rPr>
              <a:t>  →  I_SLSPRCGCNDNRECORDSCALE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KONP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KONV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LFA1</a:t>
            </a:r>
            <a:r>
              <a:rPr sz="1100">
                <a:solidFill>
                  <a:srgbClr val="333333"/>
                </a:solidFill>
              </a:rPr>
              <a:t>  →  I_SUPPLIER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LFAS</a:t>
            </a:r>
            <a:r>
              <a:rPr sz="1100">
                <a:solidFill>
                  <a:srgbClr val="333333"/>
                </a:solidFill>
              </a:rPr>
              <a:t>  →  I_BUSINESSPARTNERTAXNUMBER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LFB1</a:t>
            </a:r>
            <a:r>
              <a:rPr sz="1100">
                <a:solidFill>
                  <a:srgbClr val="333333"/>
                </a:solidFill>
              </a:rPr>
              <a:t>  →  I_SUPPLIERCOMPANY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LFBK</a:t>
            </a:r>
            <a:r>
              <a:rPr sz="1100">
                <a:solidFill>
                  <a:srgbClr val="333333"/>
                </a:solidFill>
              </a:rPr>
              <a:t>  →  I_BUSINESSPARTNERBANK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(2/7)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(3/7)</a:t>
            </a:r>
          </a:p>
          <a:p>
            <a:r>
              <a:rPr sz="1600" i="1">
                <a:solidFill>
                  <a:srgbClr val="2E5CA7"/>
                </a:solidFill>
              </a:rPr>
              <a:t>Tables 81–120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LFM1</a:t>
            </a:r>
            <a:r>
              <a:rPr sz="1100">
                <a:solidFill>
                  <a:srgbClr val="333333"/>
                </a:solidFill>
              </a:rPr>
              <a:t>  →  I_SUPPLIERPURCHASINGORG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LIKP</a:t>
            </a:r>
            <a:r>
              <a:rPr sz="1100">
                <a:solidFill>
                  <a:srgbClr val="333333"/>
                </a:solidFill>
              </a:rPr>
              <a:t>  →  I_DELIVERYDOCUMENT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LIPS</a:t>
            </a:r>
            <a:r>
              <a:rPr sz="1100">
                <a:solidFill>
                  <a:srgbClr val="333333"/>
                </a:solidFill>
              </a:rPr>
              <a:t>  →  I_DELIVERYDOCUMENTITEM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MARA</a:t>
            </a:r>
            <a:r>
              <a:rPr sz="1100">
                <a:solidFill>
                  <a:srgbClr val="333333"/>
                </a:solidFill>
              </a:rPr>
              <a:t>  →  I_PRODUCT, I_PRODUCTPROCUREMENT, I_PRODUCTQM, I_PRODUCTSALES, I_PRODUC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MARC</a:t>
            </a:r>
            <a:r>
              <a:rPr sz="1100">
                <a:solidFill>
                  <a:srgbClr val="333333"/>
                </a:solidFill>
              </a:rPr>
              <a:t>  →  I_PRODUCTPLANTBASIC, I_PRODUCTPLANTCOSTING, I_PRODUCTPLANTFORECAST, I_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MARD</a:t>
            </a:r>
            <a:r>
              <a:rPr sz="1100">
                <a:solidFill>
                  <a:srgbClr val="333333"/>
                </a:solidFill>
              </a:rPr>
              <a:t>  →  I_PRODUCTSTORAGELOCATIONBASIC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MARM</a:t>
            </a:r>
            <a:r>
              <a:rPr sz="1100">
                <a:solidFill>
                  <a:srgbClr val="333333"/>
                </a:solidFill>
              </a:rPr>
              <a:t>  →  I_PRODUCTUNITSOFMEASURE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MATDOC</a:t>
            </a:r>
            <a:r>
              <a:rPr sz="1100">
                <a:solidFill>
                  <a:srgbClr val="333333"/>
                </a:solidFill>
              </a:rPr>
              <a:t>  →  I_MATERIALDOCUMENTHEADER_2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MCH1</a:t>
            </a:r>
            <a:r>
              <a:rPr sz="1100">
                <a:solidFill>
                  <a:srgbClr val="333333"/>
                </a:solidFill>
              </a:rPr>
              <a:t>  →  I_BATCH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MCHA</a:t>
            </a:r>
            <a:r>
              <a:rPr sz="1100">
                <a:solidFill>
                  <a:srgbClr val="333333"/>
                </a:solidFill>
              </a:rPr>
              <a:t>  →  I_BATCH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MKAL</a:t>
            </a:r>
            <a:r>
              <a:rPr sz="1100">
                <a:solidFill>
                  <a:srgbClr val="333333"/>
                </a:solidFill>
              </a:rPr>
              <a:t>  →  I_PRODUCTIONVERSION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MKPF</a:t>
            </a:r>
            <a:r>
              <a:rPr sz="1100">
                <a:solidFill>
                  <a:srgbClr val="333333"/>
                </a:solidFill>
              </a:rPr>
              <a:t>  →  I_MATERIALDOCUMENTHEADER_2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MSEG</a:t>
            </a:r>
            <a:r>
              <a:rPr sz="1100">
                <a:solidFill>
                  <a:srgbClr val="333333"/>
                </a:solidFill>
              </a:rPr>
              <a:t>  →  I_MATERIALDOCUMENTITEM_2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MSKA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MSKU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MSLB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MSLBH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MSPR</a:t>
            </a:r>
            <a:r>
              <a:rPr sz="1100">
                <a:solidFill>
                  <a:srgbClr val="333333"/>
                </a:solidFill>
              </a:rPr>
              <a:t>  →  I_MATERIALSTOCK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PACKKP</a:t>
            </a:r>
            <a:r>
              <a:rPr sz="1100">
                <a:solidFill>
                  <a:srgbClr val="333333"/>
                </a:solidFill>
              </a:rPr>
              <a:t>  →  I_PACKINGINSTRUCTIONHEADER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PACKPO</a:t>
            </a:r>
            <a:r>
              <a:rPr sz="1100">
                <a:solidFill>
                  <a:srgbClr val="333333"/>
                </a:solidFill>
              </a:rPr>
              <a:t>  →  I_PACKINGINSTRUCTIONCOMPONENT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PKHD</a:t>
            </a:r>
            <a:r>
              <a:rPr sz="1100">
                <a:solidFill>
                  <a:srgbClr val="333333"/>
                </a:solidFill>
              </a:rPr>
              <a:t>  →  I_KANBANCONTROLCYCLE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PLFH</a:t>
            </a:r>
            <a:r>
              <a:rPr sz="1100">
                <a:solidFill>
                  <a:srgbClr val="333333"/>
                </a:solidFill>
              </a:rPr>
              <a:t>  →  I_MFGBOOOPPRODNRSCETOOLCHGST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PLKO</a:t>
            </a:r>
            <a:r>
              <a:rPr sz="1100">
                <a:solidFill>
                  <a:srgbClr val="333333"/>
                </a:solidFill>
              </a:rPr>
              <a:t>  →  I_BILLOFOPERATIONSGROUP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PLPO</a:t>
            </a:r>
            <a:r>
              <a:rPr sz="1100">
                <a:solidFill>
                  <a:srgbClr val="333333"/>
                </a:solidFill>
              </a:rPr>
              <a:t>  →  I_MFGBILLOFOPERATIONSOPERATION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PRCD_ELEMENTS</a:t>
            </a:r>
            <a:r>
              <a:rPr sz="1100">
                <a:solidFill>
                  <a:srgbClr val="333333"/>
                </a:solidFill>
              </a:rPr>
              <a:t>  →  I_SLSPRCGCONDITIONRECORD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QALS</a:t>
            </a:r>
            <a:r>
              <a:rPr sz="1100">
                <a:solidFill>
                  <a:srgbClr val="333333"/>
                </a:solidFill>
              </a:rPr>
              <a:t>  →  I_INSPECTIONLOT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QPCT</a:t>
            </a:r>
            <a:r>
              <a:rPr sz="1100">
                <a:solidFill>
                  <a:srgbClr val="333333"/>
                </a:solidFill>
              </a:rPr>
              <a:t>  →  I_CHARCATTRIBUTECODETEXT, I_DEFECTCODETEXT, I_USAGEDECISIONCODETEXT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QPMK</a:t>
            </a:r>
            <a:r>
              <a:rPr sz="1100">
                <a:solidFill>
                  <a:srgbClr val="333333"/>
                </a:solidFill>
              </a:rPr>
              <a:t>  →  I_INSPSPECIFICATIONVERSION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RBCO</a:t>
            </a:r>
            <a:r>
              <a:rPr sz="1100">
                <a:solidFill>
                  <a:srgbClr val="333333"/>
                </a:solidFill>
              </a:rPr>
              <a:t>  →  I_SUPLRINVOICEITEMGLACCTAPI01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RBKP</a:t>
            </a:r>
            <a:r>
              <a:rPr sz="1100">
                <a:solidFill>
                  <a:srgbClr val="333333"/>
                </a:solidFill>
              </a:rPr>
              <a:t>  →  I_SUPPLIERINVOICEAPI01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RBSELBEST</a:t>
            </a:r>
            <a:r>
              <a:rPr sz="1100">
                <a:solidFill>
                  <a:srgbClr val="333333"/>
                </a:solidFill>
              </a:rPr>
              <a:t>  →  I_SUPLRINVCSELDPURGDOCAPI01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RESB</a:t>
            </a:r>
            <a:r>
              <a:rPr sz="1100">
                <a:solidFill>
                  <a:srgbClr val="333333"/>
                </a:solidFill>
              </a:rPr>
              <a:t>  →  I_RESERVATIONDOCUMENTITEM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RKWA</a:t>
            </a:r>
            <a:r>
              <a:rPr sz="1100">
                <a:solidFill>
                  <a:srgbClr val="333333"/>
                </a:solidFill>
              </a:rPr>
              <a:t>  →  I_SUPCSGNMTPPLINEWTHDRWLAPI01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RSEG</a:t>
            </a:r>
            <a:r>
              <a:rPr sz="1100">
                <a:solidFill>
                  <a:srgbClr val="333333"/>
                </a:solidFill>
              </a:rPr>
              <a:t>  →  I_SUPLRINVCITEMPURORDREFAPI01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SETHEADER</a:t>
            </a:r>
            <a:r>
              <a:rPr sz="1100">
                <a:solidFill>
                  <a:srgbClr val="333333"/>
                </a:solidFill>
              </a:rPr>
              <a:t>  →  I_COSTCENTERHIERARCHY, I_COSTCTRACTIVITYTYPEHIERARCHY, I_FUNCTIONALARE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SETHEADERT</a:t>
            </a:r>
            <a:r>
              <a:rPr sz="1100">
                <a:solidFill>
                  <a:srgbClr val="333333"/>
                </a:solidFill>
              </a:rPr>
              <a:t>  →  I_COSTCENTERHIERARCHY, I_COSTCTRACTIVITYTYPEHIERARCHY, I_FUNCTIONALARE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SETLEAF</a:t>
            </a:r>
            <a:r>
              <a:rPr sz="1100">
                <a:solidFill>
                  <a:srgbClr val="333333"/>
                </a:solidFill>
              </a:rPr>
              <a:t>  →  I_COSTCENTERHIERARCHYNODE, I_COSTCTRACTIVITYTYPEHIERNODE, I_FUNCTIONAL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SETNODE</a:t>
            </a:r>
            <a:r>
              <a:rPr sz="1100">
                <a:solidFill>
                  <a:srgbClr val="333333"/>
                </a:solidFill>
              </a:rPr>
              <a:t>  →  I_COSTCENTERHIERARCHYNODE, I_COSTCTRACTIVITYTYPEHIERNODE, I_FUNCTIONAL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SKA1</a:t>
            </a:r>
            <a:r>
              <a:rPr sz="1100">
                <a:solidFill>
                  <a:srgbClr val="333333"/>
                </a:solidFill>
              </a:rPr>
              <a:t>  →  I_GLACCOUNTINCHARTOFACCOUNTS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SKAT</a:t>
            </a:r>
            <a:r>
              <a:rPr sz="1100">
                <a:solidFill>
                  <a:srgbClr val="333333"/>
                </a:solidFill>
              </a:rPr>
              <a:t>  →  I_GLACCOUNTTEXT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(3/7)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(4/7)</a:t>
            </a:r>
          </a:p>
          <a:p>
            <a:r>
              <a:rPr sz="1600" i="1">
                <a:solidFill>
                  <a:srgbClr val="2E5CA7"/>
                </a:solidFill>
              </a:rPr>
              <a:t>Tables 121–160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SKB1</a:t>
            </a:r>
            <a:r>
              <a:rPr sz="1100">
                <a:solidFill>
                  <a:srgbClr val="333333"/>
                </a:solidFill>
              </a:rPr>
              <a:t>  →  I_GLACCOUNTINCOMPANYCODE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T001</a:t>
            </a:r>
            <a:r>
              <a:rPr sz="1100">
                <a:solidFill>
                  <a:srgbClr val="333333"/>
                </a:solidFill>
              </a:rPr>
              <a:t>  →  I_COMPANYCODE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T002</a:t>
            </a:r>
            <a:r>
              <a:rPr sz="1100">
                <a:solidFill>
                  <a:srgbClr val="333333"/>
                </a:solidFill>
              </a:rPr>
              <a:t>  →  I_LANGUAGE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T002T</a:t>
            </a:r>
            <a:r>
              <a:rPr sz="1100">
                <a:solidFill>
                  <a:srgbClr val="333333"/>
                </a:solidFill>
              </a:rPr>
              <a:t>  →  I_LANGUAGETEXT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T003</a:t>
            </a:r>
            <a:r>
              <a:rPr sz="1100">
                <a:solidFill>
                  <a:srgbClr val="333333"/>
                </a:solidFill>
              </a:rPr>
              <a:t>  →  I_ACCOUNTINGDOCUMENTTYPE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T004</a:t>
            </a:r>
            <a:r>
              <a:rPr sz="1100">
                <a:solidFill>
                  <a:srgbClr val="333333"/>
                </a:solidFill>
              </a:rPr>
              <a:t>  →  I_CHARTOFACCOUNTS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T005</a:t>
            </a:r>
            <a:r>
              <a:rPr sz="1100">
                <a:solidFill>
                  <a:srgbClr val="333333"/>
                </a:solidFill>
              </a:rPr>
              <a:t>  →  I_COUNTRY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T005T</a:t>
            </a:r>
            <a:r>
              <a:rPr sz="1100">
                <a:solidFill>
                  <a:srgbClr val="333333"/>
                </a:solidFill>
              </a:rPr>
              <a:t>  →  I_COUNTRYTEXT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</a:t>
            </a:r>
            <a:r>
              <a:rPr sz="1100">
                <a:solidFill>
                  <a:srgbClr val="333333"/>
                </a:solidFill>
              </a:rPr>
              <a:t>  →  I_UNITOFMEASURE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T006A</a:t>
            </a:r>
            <a:r>
              <a:rPr sz="1100">
                <a:solidFill>
                  <a:srgbClr val="333333"/>
                </a:solidFill>
              </a:rPr>
              <a:t>  →  I_UNITOFMEASURETEXT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T006B</a:t>
            </a:r>
            <a:r>
              <a:rPr sz="1100">
                <a:solidFill>
                  <a:srgbClr val="333333"/>
                </a:solidFill>
              </a:rPr>
              <a:t>  →  I_UNITOFMEASURECOMMERCIALNAME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T006C</a:t>
            </a:r>
            <a:r>
              <a:rPr sz="1100">
                <a:solidFill>
                  <a:srgbClr val="333333"/>
                </a:solidFill>
              </a:rPr>
              <a:t>  →  I_UNITOFMEASURETECHNICALNAME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T006D</a:t>
            </a:r>
            <a:r>
              <a:rPr sz="1100">
                <a:solidFill>
                  <a:srgbClr val="333333"/>
                </a:solidFill>
              </a:rPr>
              <a:t>  →  I_UNITOFMEASUREDIMENSION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T006I</a:t>
            </a:r>
            <a:r>
              <a:rPr sz="1100">
                <a:solidFill>
                  <a:srgbClr val="333333"/>
                </a:solidFill>
              </a:rPr>
              <a:t>  →  I_UNITOFMEASUREISOCODE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T006J</a:t>
            </a:r>
            <a:r>
              <a:rPr sz="1100">
                <a:solidFill>
                  <a:srgbClr val="333333"/>
                </a:solidFill>
              </a:rPr>
              <a:t>  →  I_UNITOFMEASUREISOCODETEXT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T006T</a:t>
            </a:r>
            <a:r>
              <a:rPr sz="1100">
                <a:solidFill>
                  <a:srgbClr val="333333"/>
                </a:solidFill>
              </a:rPr>
              <a:t>  →  I_UNITOFMEASUREDIMENSIONTEXT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T008</a:t>
            </a:r>
            <a:r>
              <a:rPr sz="1100">
                <a:solidFill>
                  <a:srgbClr val="333333"/>
                </a:solidFill>
              </a:rPr>
              <a:t>  →  I_PAYMENTBLOCKINGREASON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T008T</a:t>
            </a:r>
            <a:r>
              <a:rPr sz="1100">
                <a:solidFill>
                  <a:srgbClr val="333333"/>
                </a:solidFill>
              </a:rPr>
              <a:t>  →  I_PAYMENTBLOCKINGREASON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T011</a:t>
            </a:r>
            <a:r>
              <a:rPr sz="1100">
                <a:solidFill>
                  <a:srgbClr val="333333"/>
                </a:solidFill>
              </a:rPr>
              <a:t>  →  I_FINANCIALSTATEMENTHIER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T011T</a:t>
            </a:r>
            <a:r>
              <a:rPr sz="1100">
                <a:solidFill>
                  <a:srgbClr val="333333"/>
                </a:solidFill>
              </a:rPr>
              <a:t>  →  I_FINANCIALSTATEMENTHIERT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T014</a:t>
            </a:r>
            <a:r>
              <a:rPr sz="1100">
                <a:solidFill>
                  <a:srgbClr val="333333"/>
                </a:solidFill>
              </a:rPr>
              <a:t>  →  I_CREDITCONTROLAREA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T014T</a:t>
            </a:r>
            <a:r>
              <a:rPr sz="1100">
                <a:solidFill>
                  <a:srgbClr val="333333"/>
                </a:solidFill>
              </a:rPr>
              <a:t>  →  I_CREDITCONTROLAREATEXT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</a:t>
            </a:r>
            <a:r>
              <a:rPr sz="1100">
                <a:solidFill>
                  <a:srgbClr val="333333"/>
                </a:solidFill>
              </a:rPr>
              <a:t>  →  I_PURCHASINGGROUP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T024D</a:t>
            </a:r>
            <a:r>
              <a:rPr sz="1100">
                <a:solidFill>
                  <a:srgbClr val="333333"/>
                </a:solidFill>
              </a:rPr>
              <a:t>  →  I_MRPCONTROLLER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T024E</a:t>
            </a:r>
            <a:r>
              <a:rPr sz="1100">
                <a:solidFill>
                  <a:srgbClr val="333333"/>
                </a:solidFill>
              </a:rPr>
              <a:t>  →  I_PURCHASINGORGANIZATION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T027A</a:t>
            </a:r>
            <a:r>
              <a:rPr sz="1100">
                <a:solidFill>
                  <a:srgbClr val="333333"/>
                </a:solidFill>
              </a:rPr>
              <a:t>  →  I_SHIPPINGINSTRUCTION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T027B</a:t>
            </a:r>
            <a:r>
              <a:rPr sz="1100">
                <a:solidFill>
                  <a:srgbClr val="333333"/>
                </a:solidFill>
              </a:rPr>
              <a:t>  →  I_SHIPPINGINSTRUCTIONTEXT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T040S</a:t>
            </a:r>
            <a:r>
              <a:rPr sz="1100">
                <a:solidFill>
                  <a:srgbClr val="333333"/>
                </a:solidFill>
              </a:rPr>
              <a:t>  →  I_DUNNINGBLOCKINGREASONCODE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T048</a:t>
            </a:r>
            <a:r>
              <a:rPr sz="1100">
                <a:solidFill>
                  <a:srgbClr val="333333"/>
                </a:solidFill>
              </a:rPr>
              <a:t>  →  I_CORRESPONDENCETYPE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T074T</a:t>
            </a:r>
            <a:r>
              <a:rPr sz="1100">
                <a:solidFill>
                  <a:srgbClr val="333333"/>
                </a:solidFill>
              </a:rPr>
              <a:t>  →  I_SPECIALGLCODETEXT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T074U</a:t>
            </a:r>
            <a:r>
              <a:rPr sz="1100">
                <a:solidFill>
                  <a:srgbClr val="333333"/>
                </a:solidFill>
              </a:rPr>
              <a:t>  →  I_SPECIALGLCODE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T077X</a:t>
            </a:r>
            <a:r>
              <a:rPr sz="1100">
                <a:solidFill>
                  <a:srgbClr val="333333"/>
                </a:solidFill>
              </a:rPr>
              <a:t>  →  I_CUSTOMERACCOUNTGROUPTEXT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T151</a:t>
            </a:r>
            <a:r>
              <a:rPr sz="1100">
                <a:solidFill>
                  <a:srgbClr val="333333"/>
                </a:solidFill>
              </a:rPr>
              <a:t>  →  I_CUSTOMERGROUP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T151T</a:t>
            </a:r>
            <a:r>
              <a:rPr sz="1100">
                <a:solidFill>
                  <a:srgbClr val="333333"/>
                </a:solidFill>
              </a:rPr>
              <a:t>  →  I_CUSTOMERGROUP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T156</a:t>
            </a:r>
            <a:r>
              <a:rPr sz="1100">
                <a:solidFill>
                  <a:srgbClr val="333333"/>
                </a:solidFill>
              </a:rPr>
              <a:t>  →  I_GOODSMOVEMENTTYPE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T161</a:t>
            </a:r>
            <a:r>
              <a:rPr sz="1100">
                <a:solidFill>
                  <a:srgbClr val="333333"/>
                </a:solidFill>
              </a:rPr>
              <a:t>  →  I_PURCHASINGDOCUMENTTYPE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T161T</a:t>
            </a:r>
            <a:r>
              <a:rPr sz="1100">
                <a:solidFill>
                  <a:srgbClr val="333333"/>
                </a:solidFill>
              </a:rPr>
              <a:t>  →  I_PURCHASINGDOCUMENTTYPETEXT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T163D</a:t>
            </a:r>
            <a:r>
              <a:rPr sz="1100">
                <a:solidFill>
                  <a:srgbClr val="333333"/>
                </a:solidFill>
              </a:rPr>
              <a:t>  →  I_SUPLRCONFCATINTERNALASSGMT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T163I</a:t>
            </a:r>
            <a:r>
              <a:rPr sz="1100">
                <a:solidFill>
                  <a:srgbClr val="333333"/>
                </a:solidFill>
              </a:rPr>
              <a:t>  →  I_ACCTASSIGNMENTCATEGORYTEXT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T163K</a:t>
            </a:r>
            <a:r>
              <a:rPr sz="1100">
                <a:solidFill>
                  <a:srgbClr val="333333"/>
                </a:solidFill>
              </a:rPr>
              <a:t>  →  I_ACCOUNTASSIGNMENTCATEGORY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(4/7)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(5/7)</a:t>
            </a:r>
          </a:p>
          <a:p>
            <a:r>
              <a:rPr sz="1600" i="1">
                <a:solidFill>
                  <a:srgbClr val="2E5CA7"/>
                </a:solidFill>
              </a:rPr>
              <a:t>Tables 161–200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T166C</a:t>
            </a:r>
            <a:r>
              <a:rPr sz="1100">
                <a:solidFill>
                  <a:srgbClr val="333333"/>
                </a:solidFill>
              </a:rPr>
              <a:t>  →  I_PURGDOCOUTPUTRELEVANTCHANGE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T166K</a:t>
            </a:r>
            <a:r>
              <a:rPr sz="1100">
                <a:solidFill>
                  <a:srgbClr val="333333"/>
                </a:solidFill>
              </a:rPr>
              <a:t>  →  I_PURGOBJTEXTOBJECTOUTPRLVNCE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T166P</a:t>
            </a:r>
            <a:r>
              <a:rPr sz="1100">
                <a:solidFill>
                  <a:srgbClr val="333333"/>
                </a:solidFill>
              </a:rPr>
              <a:t>  →  I_PURGOBJITEMTXTOBJOUTPRLVNCE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T166T</a:t>
            </a:r>
            <a:r>
              <a:rPr sz="1100">
                <a:solidFill>
                  <a:srgbClr val="333333"/>
                </a:solidFill>
              </a:rPr>
              <a:t>  →  I_PURGDOCOUTPUTCHANGETEXT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T171T</a:t>
            </a:r>
            <a:r>
              <a:rPr sz="1100">
                <a:solidFill>
                  <a:srgbClr val="333333"/>
                </a:solidFill>
              </a:rPr>
              <a:t>  →  I_SALESDISTRICT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T178</a:t>
            </a:r>
            <a:r>
              <a:rPr sz="1100">
                <a:solidFill>
                  <a:srgbClr val="333333"/>
                </a:solidFill>
              </a:rPr>
              <a:t>  →  I_MATERIALPRICINGGROUP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T188</a:t>
            </a:r>
            <a:r>
              <a:rPr sz="1100">
                <a:solidFill>
                  <a:srgbClr val="333333"/>
                </a:solidFill>
              </a:rPr>
              <a:t>  →  I_CUSTOMERPRICEGROUP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T189</a:t>
            </a:r>
            <a:r>
              <a:rPr sz="1100">
                <a:solidFill>
                  <a:srgbClr val="333333"/>
                </a:solidFill>
              </a:rPr>
              <a:t>  →  I_PRICELISTTYPE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T459A</a:t>
            </a:r>
            <a:r>
              <a:rPr sz="1100">
                <a:solidFill>
                  <a:srgbClr val="333333"/>
                </a:solidFill>
              </a:rPr>
              <a:t>  →  I_PLNDINDEPRQMTTYPE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</a:t>
            </a:r>
            <a:r>
              <a:rPr sz="1100">
                <a:solidFill>
                  <a:srgbClr val="333333"/>
                </a:solidFill>
              </a:rPr>
              <a:t>  →  I_SLSPRICINGPROCEDURE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T683S</a:t>
            </a:r>
            <a:r>
              <a:rPr sz="1100">
                <a:solidFill>
                  <a:srgbClr val="333333"/>
                </a:solidFill>
              </a:rPr>
              <a:t>  →  I_SLSPRICINGPROCEDUREITEM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T683T</a:t>
            </a:r>
            <a:r>
              <a:rPr sz="1100">
                <a:solidFill>
                  <a:srgbClr val="333333"/>
                </a:solidFill>
              </a:rPr>
              <a:t>  →  I_SLSPRICINGPROCEDUREITEM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</a:t>
            </a:r>
            <a:r>
              <a:rPr sz="1100">
                <a:solidFill>
                  <a:srgbClr val="333333"/>
                </a:solidFill>
              </a:rPr>
              <a:t>  →  I_CONDITIONTYPE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T685A</a:t>
            </a:r>
            <a:r>
              <a:rPr sz="1100">
                <a:solidFill>
                  <a:srgbClr val="333333"/>
                </a:solidFill>
              </a:rPr>
              <a:t>  →  I_PRICINGCONDITIONTYPE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T685T</a:t>
            </a:r>
            <a:r>
              <a:rPr sz="1100">
                <a:solidFill>
                  <a:srgbClr val="333333"/>
                </a:solidFill>
              </a:rPr>
              <a:t>  →  I_CONDITIONTYPE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TADIR</a:t>
            </a:r>
            <a:r>
              <a:rPr sz="1100">
                <a:solidFill>
                  <a:srgbClr val="333333"/>
                </a:solidFill>
              </a:rPr>
              <a:t>  →  I_CUSTABAPOBJDIRECTORYENTRY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TBSL</a:t>
            </a:r>
            <a:r>
              <a:rPr sz="1100">
                <a:solidFill>
                  <a:srgbClr val="333333"/>
                </a:solidFill>
              </a:rPr>
              <a:t>  →  I_POSTINGKEY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TCURC</a:t>
            </a:r>
            <a:r>
              <a:rPr sz="1100">
                <a:solidFill>
                  <a:srgbClr val="333333"/>
                </a:solidFill>
              </a:rPr>
              <a:t>  →  I_CURRENCY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TCURF</a:t>
            </a:r>
            <a:r>
              <a:rPr sz="1100">
                <a:solidFill>
                  <a:srgbClr val="333333"/>
                </a:solidFill>
              </a:rPr>
              <a:t>  →  I_EXCHANGERATEFACTORSRAWDATA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TCURN</a:t>
            </a:r>
            <a:r>
              <a:rPr sz="1100">
                <a:solidFill>
                  <a:srgbClr val="333333"/>
                </a:solidFill>
              </a:rPr>
              <a:t>  →  I_EXCHRATEQTANTYPERAWDATA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TCURR</a:t>
            </a:r>
            <a:r>
              <a:rPr sz="1100">
                <a:solidFill>
                  <a:srgbClr val="333333"/>
                </a:solidFill>
              </a:rPr>
              <a:t>  →  I_EXCHANGERATERAWDATA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TCURT</a:t>
            </a:r>
            <a:r>
              <a:rPr sz="1100">
                <a:solidFill>
                  <a:srgbClr val="333333"/>
                </a:solidFill>
              </a:rPr>
              <a:t>  →  I_CURRENCYTEXT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TCURV</a:t>
            </a:r>
            <a:r>
              <a:rPr sz="1100">
                <a:solidFill>
                  <a:srgbClr val="333333"/>
                </a:solidFill>
              </a:rPr>
              <a:t>  →  I_EXCHANGERATETYPE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TCURX</a:t>
            </a:r>
            <a:r>
              <a:rPr sz="1100">
                <a:solidFill>
                  <a:srgbClr val="333333"/>
                </a:solidFill>
              </a:rPr>
              <a:t>  →  I_CURRENCY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TDEVC</a:t>
            </a:r>
            <a:r>
              <a:rPr sz="1100">
                <a:solidFill>
                  <a:srgbClr val="333333"/>
                </a:solidFill>
              </a:rPr>
              <a:t>  →  I_CUSTABAPPACKAGE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TINC</a:t>
            </a:r>
            <a:r>
              <a:rPr sz="1100">
                <a:solidFill>
                  <a:srgbClr val="333333"/>
                </a:solidFill>
              </a:rPr>
              <a:t>  →  I_INCOTERMSCLASSIFICATION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TINCT</a:t>
            </a:r>
            <a:r>
              <a:rPr sz="1100">
                <a:solidFill>
                  <a:srgbClr val="333333"/>
                </a:solidFill>
              </a:rPr>
              <a:t>  →  I_INCOTERMSCLASSIFICATION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TKA01</a:t>
            </a:r>
            <a:r>
              <a:rPr sz="1100">
                <a:solidFill>
                  <a:srgbClr val="333333"/>
                </a:solidFill>
              </a:rPr>
              <a:t>  →  I_CONTROLLINGAREA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TKA02</a:t>
            </a:r>
            <a:r>
              <a:rPr sz="1100">
                <a:solidFill>
                  <a:srgbClr val="333333"/>
                </a:solidFill>
              </a:rPr>
              <a:t>  →  I_COMPANYCODE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TPAR</a:t>
            </a:r>
            <a:r>
              <a:rPr sz="1100">
                <a:solidFill>
                  <a:srgbClr val="333333"/>
                </a:solidFill>
              </a:rPr>
              <a:t>  →  I_INCOTERMSCLASSIFICATION, I_PARTNERFUNCTION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TPART</a:t>
            </a:r>
            <a:r>
              <a:rPr sz="1100">
                <a:solidFill>
                  <a:srgbClr val="333333"/>
                </a:solidFill>
              </a:rPr>
              <a:t>  →  I_PARTNERFUNCTIONTEXT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TPRIO</a:t>
            </a:r>
            <a:r>
              <a:rPr sz="1100">
                <a:solidFill>
                  <a:srgbClr val="333333"/>
                </a:solidFill>
              </a:rPr>
              <a:t>  →  I_DELIVERYPRIORITY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TSKD</a:t>
            </a:r>
            <a:r>
              <a:rPr sz="1100">
                <a:solidFill>
                  <a:srgbClr val="333333"/>
                </a:solidFill>
              </a:rPr>
              <a:t>  →  I_CUSTOMERTAXCLASSIFICATION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TSKDT</a:t>
            </a:r>
            <a:r>
              <a:rPr sz="1100">
                <a:solidFill>
                  <a:srgbClr val="333333"/>
                </a:solidFill>
              </a:rPr>
              <a:t>  →  I_CUSTOMERTAXCLASSIFICATION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TSPA</a:t>
            </a:r>
            <a:r>
              <a:rPr sz="1100">
                <a:solidFill>
                  <a:srgbClr val="333333"/>
                </a:solidFill>
              </a:rPr>
              <a:t>  →  I_DIVISION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TSPAT</a:t>
            </a:r>
            <a:r>
              <a:rPr sz="1100">
                <a:solidFill>
                  <a:srgbClr val="333333"/>
                </a:solidFill>
              </a:rPr>
              <a:t>  →  I_DIVISION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TSTL</a:t>
            </a:r>
            <a:r>
              <a:rPr sz="1100">
                <a:solidFill>
                  <a:srgbClr val="333333"/>
                </a:solidFill>
              </a:rPr>
              <a:t>  →  I_PRODUCTSALESTAX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TTYPT</a:t>
            </a:r>
            <a:r>
              <a:rPr sz="1100">
                <a:solidFill>
                  <a:srgbClr val="333333"/>
                </a:solidFill>
              </a:rPr>
              <a:t>  →  I_REFERENCEDOCUMENTTYPETEXT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TVAG</a:t>
            </a:r>
            <a:r>
              <a:rPr sz="1100">
                <a:solidFill>
                  <a:srgbClr val="333333"/>
                </a:solidFill>
              </a:rPr>
              <a:t>  →  I_SALESDOCUMENTRJCNREASON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TVAGT</a:t>
            </a:r>
            <a:r>
              <a:rPr sz="1100">
                <a:solidFill>
                  <a:srgbClr val="333333"/>
                </a:solidFill>
              </a:rPr>
              <a:t>  →  I_SALESDOCUMENTRJCNREASON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(5/7)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(6/7)</a:t>
            </a:r>
          </a:p>
          <a:p>
            <a:r>
              <a:rPr sz="1600" i="1">
                <a:solidFill>
                  <a:srgbClr val="2E5CA7"/>
                </a:solidFill>
              </a:rPr>
              <a:t>Tables 201–240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TVAK</a:t>
            </a:r>
            <a:r>
              <a:rPr sz="1100">
                <a:solidFill>
                  <a:srgbClr val="333333"/>
                </a:solidFill>
              </a:rPr>
              <a:t>  →  I_SALESDOCUMENTTYPE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TVAKT</a:t>
            </a:r>
            <a:r>
              <a:rPr sz="1100">
                <a:solidFill>
                  <a:srgbClr val="333333"/>
                </a:solidFill>
              </a:rPr>
              <a:t>  →  I_SALESDOCUMENTTYPE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TVAP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TVAPT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TVAU</a:t>
            </a:r>
            <a:r>
              <a:rPr sz="1100">
                <a:solidFill>
                  <a:srgbClr val="333333"/>
                </a:solidFill>
              </a:rPr>
              <a:t>  →  I_SDDOCUMENTREASON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TVAUT</a:t>
            </a:r>
            <a:r>
              <a:rPr sz="1100">
                <a:solidFill>
                  <a:srgbClr val="333333"/>
                </a:solidFill>
              </a:rPr>
              <a:t>  →  I_SDDOCUMENTREASONTEXT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TVBUR</a:t>
            </a:r>
            <a:r>
              <a:rPr sz="1100">
                <a:solidFill>
                  <a:srgbClr val="333333"/>
                </a:solidFill>
              </a:rPr>
              <a:t>  →  I_SALESOFFICE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TVBVK</a:t>
            </a:r>
            <a:r>
              <a:rPr sz="1100">
                <a:solidFill>
                  <a:srgbClr val="333333"/>
                </a:solidFill>
              </a:rPr>
              <a:t>  →  I_SALESOFFICESALESGROUP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TVCIN</a:t>
            </a:r>
            <a:r>
              <a:rPr sz="1100">
                <a:solidFill>
                  <a:srgbClr val="333333"/>
                </a:solidFill>
              </a:rPr>
              <a:t>  →  I_SDDOCUMENTPAYMENTCARDTYPE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TVCINT</a:t>
            </a:r>
            <a:r>
              <a:rPr sz="1100">
                <a:solidFill>
                  <a:srgbClr val="333333"/>
                </a:solidFill>
              </a:rPr>
              <a:t>  →  I_SDDOCUMENTPAYMENTCARDTYPE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TVEPT</a:t>
            </a:r>
            <a:r>
              <a:rPr sz="1100">
                <a:solidFill>
                  <a:srgbClr val="333333"/>
                </a:solidFill>
              </a:rPr>
              <a:t>  →  I_SCHEDULELINECATEGORY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TVFK</a:t>
            </a:r>
            <a:r>
              <a:rPr sz="1100">
                <a:solidFill>
                  <a:srgbClr val="333333"/>
                </a:solidFill>
              </a:rPr>
              <a:t>  →  I_BILLINGDOCUMENTTYPE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TVFKT</a:t>
            </a:r>
            <a:r>
              <a:rPr sz="1100">
                <a:solidFill>
                  <a:srgbClr val="333333"/>
                </a:solidFill>
              </a:rPr>
              <a:t>  →  I_BILLINGDOCUMENTTYPE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TVFS</a:t>
            </a:r>
            <a:r>
              <a:rPr sz="1100">
                <a:solidFill>
                  <a:srgbClr val="333333"/>
                </a:solidFill>
              </a:rPr>
              <a:t>  →  I_BILLINGBLOCKREASON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TVFST</a:t>
            </a:r>
            <a:r>
              <a:rPr sz="1100">
                <a:solidFill>
                  <a:srgbClr val="333333"/>
                </a:solidFill>
              </a:rPr>
              <a:t>  →  I_BILLINGBLOCKREASON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TVGRT</a:t>
            </a:r>
            <a:r>
              <a:rPr sz="1100">
                <a:solidFill>
                  <a:srgbClr val="333333"/>
                </a:solidFill>
              </a:rPr>
              <a:t>  →  I_SALESGROUP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TVKBT</a:t>
            </a:r>
            <a:r>
              <a:rPr sz="1100">
                <a:solidFill>
                  <a:srgbClr val="333333"/>
                </a:solidFill>
              </a:rPr>
              <a:t>  →  I_SALESOFFICE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TVKBZ</a:t>
            </a:r>
            <a:r>
              <a:rPr sz="1100">
                <a:solidFill>
                  <a:srgbClr val="333333"/>
                </a:solidFill>
              </a:rPr>
              <a:t>  →  I_SALESAREASALESOFFICE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TVKGG</a:t>
            </a:r>
            <a:r>
              <a:rPr sz="1100">
                <a:solidFill>
                  <a:srgbClr val="333333"/>
                </a:solidFill>
              </a:rPr>
              <a:t>  →  I_CUSTOMERCONDITIONGROUPVH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TVKGGT</a:t>
            </a:r>
            <a:r>
              <a:rPr sz="1100">
                <a:solidFill>
                  <a:srgbClr val="333333"/>
                </a:solidFill>
              </a:rPr>
              <a:t>  →  I_CUSTCNDNGROUPVALUEHELPTEXT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TVKGR</a:t>
            </a:r>
            <a:r>
              <a:rPr sz="1100">
                <a:solidFill>
                  <a:srgbClr val="333333"/>
                </a:solidFill>
              </a:rPr>
              <a:t>  →  I_SALESGROUP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</a:t>
            </a:r>
            <a:r>
              <a:rPr sz="1100">
                <a:solidFill>
                  <a:srgbClr val="333333"/>
                </a:solidFill>
              </a:rPr>
              <a:t>  →  I_SALESORGANIZATION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TVKOT</a:t>
            </a:r>
            <a:r>
              <a:rPr sz="1100">
                <a:solidFill>
                  <a:srgbClr val="333333"/>
                </a:solidFill>
              </a:rPr>
              <a:t>  →  I_SALESORGANIZATION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TVKOV</a:t>
            </a:r>
            <a:r>
              <a:rPr sz="1100">
                <a:solidFill>
                  <a:srgbClr val="333333"/>
                </a:solidFill>
              </a:rPr>
              <a:t>  →  I_SLSORGANIZATIONDISTRCHNL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TVKT</a:t>
            </a:r>
            <a:r>
              <a:rPr sz="1100">
                <a:solidFill>
                  <a:srgbClr val="333333"/>
                </a:solidFill>
              </a:rPr>
              <a:t>  →  I_CUSTOMERACCOUNTASSGMTGROUP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TVKWZ</a:t>
            </a:r>
            <a:r>
              <a:rPr sz="1100">
                <a:solidFill>
                  <a:srgbClr val="333333"/>
                </a:solidFill>
              </a:rPr>
              <a:t>  →  I_CUSTSALESAREATAX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TVLK</a:t>
            </a:r>
            <a:r>
              <a:rPr sz="1100">
                <a:solidFill>
                  <a:srgbClr val="333333"/>
                </a:solidFill>
              </a:rPr>
              <a:t>  →  I_DELIVERYDOCUMENTTYPE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TVLKT</a:t>
            </a:r>
            <a:r>
              <a:rPr sz="1100">
                <a:solidFill>
                  <a:srgbClr val="333333"/>
                </a:solidFill>
              </a:rPr>
              <a:t>  →  I_DELIVERYDOCUMENTTYPETEXT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TVLS</a:t>
            </a:r>
            <a:r>
              <a:rPr sz="1100">
                <a:solidFill>
                  <a:srgbClr val="333333"/>
                </a:solidFill>
              </a:rPr>
              <a:t>  →  I_DELIVERYBLOCKREASON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TVLST</a:t>
            </a:r>
            <a:r>
              <a:rPr sz="1100">
                <a:solidFill>
                  <a:srgbClr val="333333"/>
                </a:solidFill>
              </a:rPr>
              <a:t>  →  I_DELIVERYBLOCKREASONTEXT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TVM1</a:t>
            </a:r>
            <a:r>
              <a:rPr sz="1100">
                <a:solidFill>
                  <a:srgbClr val="333333"/>
                </a:solidFill>
              </a:rPr>
              <a:t>  →  I_ADDITIONALMATERIALGROUP1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TVM1T</a:t>
            </a:r>
            <a:r>
              <a:rPr sz="1100">
                <a:solidFill>
                  <a:srgbClr val="333333"/>
                </a:solidFill>
              </a:rPr>
              <a:t>  →  I_ADDITIONALMATERIALGROUP1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TVM2</a:t>
            </a:r>
            <a:r>
              <a:rPr sz="1100">
                <a:solidFill>
                  <a:srgbClr val="333333"/>
                </a:solidFill>
              </a:rPr>
              <a:t>  →  I_ADDITIONALMATERIALGROUP2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TVM2T</a:t>
            </a:r>
            <a:r>
              <a:rPr sz="1100">
                <a:solidFill>
                  <a:srgbClr val="333333"/>
                </a:solidFill>
              </a:rPr>
              <a:t>  →  I_ADDITIONALMATERIALGROUP2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TVM3</a:t>
            </a:r>
            <a:r>
              <a:rPr sz="1100">
                <a:solidFill>
                  <a:srgbClr val="333333"/>
                </a:solidFill>
              </a:rPr>
              <a:t>  →  I_ADDITIONALMATERIALGROUP3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TVM3T</a:t>
            </a:r>
            <a:r>
              <a:rPr sz="1100">
                <a:solidFill>
                  <a:srgbClr val="333333"/>
                </a:solidFill>
              </a:rPr>
              <a:t>  →  I_ADDITIONALMATERIALGROUP3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TVM4</a:t>
            </a:r>
            <a:r>
              <a:rPr sz="1100">
                <a:solidFill>
                  <a:srgbClr val="333333"/>
                </a:solidFill>
              </a:rPr>
              <a:t>  →  I_ADDITIONALMATERIALGROUP4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TVM4T</a:t>
            </a:r>
            <a:r>
              <a:rPr sz="1100">
                <a:solidFill>
                  <a:srgbClr val="333333"/>
                </a:solidFill>
              </a:rPr>
              <a:t>  →  I_ADDITIONALMATERIALGROUP4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TVM5</a:t>
            </a:r>
            <a:r>
              <a:rPr sz="1100">
                <a:solidFill>
                  <a:srgbClr val="333333"/>
                </a:solidFill>
              </a:rPr>
              <a:t>  →  I_ADDITIONALMATERIALGROUP5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TVM5T</a:t>
            </a:r>
            <a:r>
              <a:rPr sz="1100">
                <a:solidFill>
                  <a:srgbClr val="333333"/>
                </a:solidFill>
              </a:rPr>
              <a:t>  →  I_ADDITIONALMATERIALGROUP5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(6/7)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366D"/>
                </a:solidFill>
              </a:rPr>
              <a:t>Appendix A — Predecessor → Successor  (7/7)</a:t>
            </a:r>
          </a:p>
          <a:p>
            <a:r>
              <a:rPr sz="1600" i="1">
                <a:solidFill>
                  <a:srgbClr val="2E5CA7"/>
                </a:solidFill>
              </a:rPr>
              <a:t>Tables 241–272 of 272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00A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TVPT</a:t>
            </a:r>
            <a:r>
              <a:rPr sz="1100">
                <a:solidFill>
                  <a:srgbClr val="333333"/>
                </a:solidFill>
              </a:rPr>
              <a:t>  →  I_SALESDOCUMENTITEMCATEGORY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TVSB</a:t>
            </a:r>
            <a:r>
              <a:rPr sz="1100">
                <a:solidFill>
                  <a:srgbClr val="333333"/>
                </a:solidFill>
              </a:rPr>
              <a:t>  →  I_SHIPPINGCONDITION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TVSBT</a:t>
            </a:r>
            <a:r>
              <a:rPr sz="1100">
                <a:solidFill>
                  <a:srgbClr val="333333"/>
                </a:solidFill>
              </a:rPr>
              <a:t>  →  I_SHIPPINGCONDITIONTEXT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TVST</a:t>
            </a:r>
            <a:r>
              <a:rPr sz="1100">
                <a:solidFill>
                  <a:srgbClr val="333333"/>
                </a:solidFill>
              </a:rPr>
              <a:t>  →  I_SHIPPINGPOINT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TVSTT</a:t>
            </a:r>
            <a:r>
              <a:rPr sz="1100">
                <a:solidFill>
                  <a:srgbClr val="333333"/>
                </a:solidFill>
              </a:rPr>
              <a:t>  →  I_SHIPPINGPOINT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TVTA</a:t>
            </a:r>
            <a:r>
              <a:rPr sz="1100">
                <a:solidFill>
                  <a:srgbClr val="333333"/>
                </a:solidFill>
              </a:rPr>
              <a:t>  →  I_SALESAREA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TVTW</a:t>
            </a:r>
            <a:r>
              <a:rPr sz="1100">
                <a:solidFill>
                  <a:srgbClr val="333333"/>
                </a:solidFill>
              </a:rPr>
              <a:t>  →  I_DISTRIBUTIONCHANNEL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TVTWT</a:t>
            </a:r>
            <a:r>
              <a:rPr sz="1100">
                <a:solidFill>
                  <a:srgbClr val="333333"/>
                </a:solidFill>
              </a:rPr>
              <a:t>  →  I_DISTRIBUTIONCHANNEL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TVV1</a:t>
            </a:r>
            <a:r>
              <a:rPr sz="1100">
                <a:solidFill>
                  <a:srgbClr val="333333"/>
                </a:solidFill>
              </a:rPr>
              <a:t>  →  I_ADDITIONALCUSTOMERGROUP1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TVV1T</a:t>
            </a:r>
            <a:r>
              <a:rPr sz="1100">
                <a:solidFill>
                  <a:srgbClr val="333333"/>
                </a:solidFill>
              </a:rPr>
              <a:t>  →  I_ADDITIONALCUSTOMERGROUP1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TVV2</a:t>
            </a:r>
            <a:r>
              <a:rPr sz="1100">
                <a:solidFill>
                  <a:srgbClr val="333333"/>
                </a:solidFill>
              </a:rPr>
              <a:t>  →  I_ADDITIONALCUSTOMERGROUP2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TVV2T</a:t>
            </a:r>
            <a:r>
              <a:rPr sz="1100">
                <a:solidFill>
                  <a:srgbClr val="333333"/>
                </a:solidFill>
              </a:rPr>
              <a:t>  →  I_ADDITIONALCUSTOMERGROUP2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TVV3</a:t>
            </a:r>
            <a:r>
              <a:rPr sz="1100">
                <a:solidFill>
                  <a:srgbClr val="333333"/>
                </a:solidFill>
              </a:rPr>
              <a:t>  →  I_ADDITIONALCUSTOMERGROUP3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TVV3T</a:t>
            </a:r>
            <a:r>
              <a:rPr sz="1100">
                <a:solidFill>
                  <a:srgbClr val="333333"/>
                </a:solidFill>
              </a:rPr>
              <a:t>  →  I_ADDITIONALCUSTOMERGROUP3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TVV4</a:t>
            </a:r>
            <a:r>
              <a:rPr sz="1100">
                <a:solidFill>
                  <a:srgbClr val="333333"/>
                </a:solidFill>
              </a:rPr>
              <a:t>  →  I_ADDITIONALCUSTOMERGROUP4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TVV4T</a:t>
            </a:r>
            <a:r>
              <a:rPr sz="1100">
                <a:solidFill>
                  <a:srgbClr val="333333"/>
                </a:solidFill>
              </a:rPr>
              <a:t>  →  I_ADDITIONALCUSTOMERGROUP4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TVV5</a:t>
            </a:r>
            <a:r>
              <a:rPr sz="1100">
                <a:solidFill>
                  <a:srgbClr val="333333"/>
                </a:solidFill>
              </a:rPr>
              <a:t>  →  I_ADDITIONALCUSTOMERGROUP5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TVV5T</a:t>
            </a:r>
            <a:r>
              <a:rPr sz="1100">
                <a:solidFill>
                  <a:srgbClr val="333333"/>
                </a:solidFill>
              </a:rPr>
              <a:t>  →  I_ADDITIONALCUSTOMERGROUP5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TVZBT</a:t>
            </a:r>
            <a:r>
              <a:rPr sz="1100">
                <a:solidFill>
                  <a:srgbClr val="333333"/>
                </a:solidFill>
              </a:rPr>
              <a:t>  →  I_CUSTOMERPAYMENTTERMS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UKMBP_CMS_SGM</a:t>
            </a:r>
            <a:r>
              <a:rPr sz="1100">
                <a:solidFill>
                  <a:srgbClr val="333333"/>
                </a:solidFill>
              </a:rPr>
              <a:t>  →  I_CREDITMANAGEMENTACCOUNT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UKMCRED_SGM0T</a:t>
            </a:r>
            <a:r>
              <a:rPr sz="1100">
                <a:solidFill>
                  <a:srgbClr val="333333"/>
                </a:solidFill>
              </a:rPr>
              <a:t>  →  I_CREDITMANAGEMENTSEGMENT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VBAK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VBAP</a:t>
            </a:r>
            <a:r>
              <a:rPr sz="1100">
                <a:solidFill>
                  <a:srgbClr val="333333"/>
                </a:solidFill>
              </a:rPr>
              <a:t>  →  I_SALESDOCUMENTITEM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VBEP</a:t>
            </a:r>
            <a:r>
              <a:rPr sz="1100">
                <a:solidFill>
                  <a:srgbClr val="333333"/>
                </a:solidFill>
              </a:rPr>
              <a:t>  →  I_SALESDOCUMENTSCHEDULELINE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VBFA</a:t>
            </a:r>
            <a:r>
              <a:rPr sz="1100">
                <a:solidFill>
                  <a:srgbClr val="333333"/>
                </a:solidFill>
              </a:rPr>
              <a:t>  →  I_SDDOCUMENTMULTILEVELPROCFLOW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VBFS</a:t>
            </a:r>
            <a:r>
              <a:rPr sz="1100">
                <a:solidFill>
                  <a:srgbClr val="333333"/>
                </a:solidFill>
              </a:rPr>
              <a:t>  →  I_COLLECTIVEPROCESSINGERRORLOG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VBKD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VBRK</a:t>
            </a:r>
            <a:r>
              <a:rPr sz="1100">
                <a:solidFill>
                  <a:srgbClr val="333333"/>
                </a:solidFill>
              </a:rPr>
              <a:t>  →  I_BILLINGDOCUMENTBASIC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VBRP</a:t>
            </a:r>
            <a:r>
              <a:rPr sz="1100">
                <a:solidFill>
                  <a:srgbClr val="333333"/>
                </a:solidFill>
              </a:rPr>
              <a:t>  →  I_BILLINGDOCUMENTITEMBASIC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VEDA</a:t>
            </a:r>
            <a:r>
              <a:rPr sz="1100">
                <a:solidFill>
                  <a:srgbClr val="333333"/>
                </a:solidFill>
              </a:rPr>
              <a:t>  →  I_SALESDOCUMENT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VEKP</a:t>
            </a:r>
            <a:r>
              <a:rPr sz="1100">
                <a:solidFill>
                  <a:srgbClr val="333333"/>
                </a:solidFill>
              </a:rPr>
              <a:t>  →  I_HANDLINGUNITHEADER, I_HANDLINGUNITTP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F366D"/>
                </a:solidFill>
              </a:rPr>
              <a:t>VEPO</a:t>
            </a:r>
            <a:r>
              <a:rPr sz="1100">
                <a:solidFill>
                  <a:srgbClr val="333333"/>
                </a:solidFill>
              </a:rPr>
              <a:t>  →  I_HANDLINGUNITITEM, I_HANDLINGUNITITEMTP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601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i="1">
                <a:solidFill>
                  <a:srgbClr val="AAAAAA"/>
                </a:solidFill>
              </a:rPr>
              <a:t>Appendix A — Coverage list  (7/7)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you</a:t>
            </a:r>
          </a:p>
          <a:p>
            <a:pPr algn="ctr"/>
            <a:r>
              <a:rPr sz="1800">
                <a:solidFill>
                  <a:srgbClr val="B8D1F3"/>
                </a:solidFill>
              </a:rPr>
              <a:t>ZATC_RESULT_CORRECTION — Automated S/4HANA ATC remediation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