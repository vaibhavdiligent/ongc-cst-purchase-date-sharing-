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ZATC_RESULT_CORRECTION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115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8D1F3"/>
                </a:solidFill>
              </a:rPr>
              <a:t>Program Capabilities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i="1">
                <a:solidFill>
                  <a:srgbClr val="DCE7F7"/>
                </a:solidFill>
              </a:rPr>
              <a:t>Automated S/4HANA ATC finding remediation for ABAP 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Purpose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Supported Repository Object Types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ATC Findings Automatically Corrected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Post-Correction Quality Gate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Operating Modes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Deliverables per Run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Coverage — 272 SAP Classic Tables to S/4HANA CDS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1.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Automates the remediation of ATC (ABAP Test Cockpit) findings raised during S/4HANA migration readiness checks.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Reads findings from a selected ATC run and applies the appropriate corrective source-code change to each affected 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Activates the corrected object and reports the outcome per object in an ALV grid.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Simulation mode previews every correction on a copy before touching any original 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Reduces manual effort dramatically compared to line-by-line ATC clean-up.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1. Purpose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2. Supported Repository Object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Programs (PROG)  —  Reports, executable programs, module pools, includes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Function Groups (FUGR)  —  Function group main include and function-module includes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Classes (CLAS)  —  Global ABAP OO classes — public, protected, private sections, methods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Interfaces (INTF)  —  Global ABAP OO interfaces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Smart Forms (SSFO)  —  Smart Forms — form logic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Interactive Forms (SFPF)  —  Adobe / SAP Interactive Forms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Enhancement Implementations (ENHO)  —  BAdIs and source-code / method plug-ins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2. Supported Object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1. S/4HANA Database Operation Migration</a:t>
            </a:r>
          </a:p>
          <a:p>
            <a:r>
              <a:rPr sz="1400" i="1">
                <a:solidFill>
                  <a:srgbClr val="2E5CA7"/>
                </a:solidFill>
              </a:rPr>
              <a:t>ATC finding: S/4HANA — Search for Database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Automatically converts SELECT statements on deprecated classic SAP tables to their released S/4HANA CDS views.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Rebuilds the field list to match the new CDS structure.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Handles single-line SELECTs, multi-line SELECT blocks, JOINs, and FOR ALL ENTRIES.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Applies S/4HANA syntax rules on WHERE, INTO, and APPENDING targets.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Correctly handles view-based successors (order-by rules differ from tables).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1. S/4HANA Database Operation Migration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2. Field Length Extensions (MATNR / GLACCOUNT)</a:t>
            </a:r>
          </a:p>
          <a:p>
            <a:r>
              <a:rPr sz="1400" i="1">
                <a:solidFill>
                  <a:srgbClr val="2E5CA7"/>
                </a:solidFill>
              </a:rPr>
              <a:t>ATC finding: S/4HANA — Field Length Extensions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Marks confirmed-safe statements with SAP's standard pseudo comment across all supported finding messages.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Automatically converts common data-type and length conflicts (MOVE type / MOVE length).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Handles multi-line statements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2. Field Length Extensions (MATNR / GLACCOUNT)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3. Simplified Objects (Function Modules, Reports, Transactions)</a:t>
            </a:r>
          </a:p>
          <a:p>
            <a:r>
              <a:rPr sz="1400" i="1">
                <a:solidFill>
                  <a:srgbClr val="2E5CA7"/>
                </a:solidFill>
              </a:rPr>
              <a:t>ATC finding: S/4HANA — Search for Usages of Simplified Objects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Replaces deprecated function modules with their S/4HANA successor — parameter list preserved.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Re-wires deprecated reports to their strategic successor.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Rewrites deprecated transaction usages — Business Partner tcodes, MIGO family, and others.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Adjusts amount and material field usages to comply with new S/4HANA field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3. Simplified Objects (Function Modules, Reports, Transactions)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4. Simplified Transactions in Literals</a:t>
            </a:r>
          </a:p>
          <a:p>
            <a:r>
              <a:rPr sz="1400" i="1">
                <a:solidFill>
                  <a:srgbClr val="2E5CA7"/>
                </a:solidFill>
              </a:rPr>
              <a:t>ATC finding: S/4HANA — Simplified Transactions in Literals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Locates hard-coded transaction-code literals inside programs.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Marks confirmed-safe cases with SAP's standard pseudo comment.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Preserves existing trailing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4. Simplified Transactions in Literals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5. SELECT / OPEN CURSOR Without ORDER BY  (12 sub-cases)</a:t>
            </a:r>
          </a:p>
          <a:p>
            <a:r>
              <a:rPr sz="1400" i="1">
                <a:solidFill>
                  <a:srgbClr val="2E5CA7"/>
                </a:solidFill>
              </a:rPr>
              <a:t>ATC finding: Search Problematic Statements — SELECT / OPEN CURSOR without ORDER BY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Missing SORT before DELETE ADJACENT DUPLICATES.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Missing SORT before LOOP AT / READ TABLE / MODIFY / DELETE with EXIT / RETURN / LEAVE / WRITE / INDEX access.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READ TABLE ... BINARY SEARCH without a prior SORT.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SELECT from cluster / pool tables without ORDER BY.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SELECT SINGLE possibly not unique — rewritten to a unique-row form.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LOOP AT ... AT / ON CHANGE OF without prior SORT.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EMPTY SELECT / ENDSELECT — converted to an internal-table SELECT + LOOP pattern.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ALV output-table findings.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Duplicate protection — will not add a SORT that is already present above the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5. SELECT / OPEN CURSOR Without ORDER BY  (12 sub-cases)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6. IDoc Segment / DDIC Enhancement Findings</a:t>
            </a:r>
          </a:p>
          <a:p>
            <a:r>
              <a:rPr sz="1400" i="1">
                <a:solidFill>
                  <a:srgbClr val="2E5CA7"/>
                </a:solidFill>
              </a:rPr>
              <a:t>ATC finding: S/4HANA IDoc Check  •  S/4HANA DDIC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Marks the flagged line with SAP's standard pseudo comment.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6. IDoc Segment / DDIC Enhancement 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7. ADBC Interface Usage</a:t>
            </a:r>
          </a:p>
          <a:p>
            <a:r>
              <a:rPr sz="1400" i="1">
                <a:solidFill>
                  <a:srgbClr val="2E5CA7"/>
                </a:solidFill>
              </a:rPr>
              <a:t>ATC finding: Use of ADBC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•  Marks the flagged line with SAP's standard pseudo comment.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7. ADBC Interface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8. Post-Correction Quality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Every corrected object is syntax-checked automatically after the change.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Traffic-light column shows Green (clean compile) or Red (syntax error).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For any error: line number, full error message, and include name are captured.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Errors are sorted to the top of the results grid automatically.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One-click download of the full result set to Excel.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8. Post-Correction Quality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9. Operating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Simulation mode — previews every correction on a temporary copy of the object. Originals are untouched.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Live mode — applies changes to the original objects under a specified transport request.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Backups of the original source are always kept — every change is fully reversible.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All corrections are bracketed with Begin-of-change / End-of-change comments per client coding guidelines.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The program can only be started from inside SAPGUI, preventing accidental changes from browser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9. Operating Modes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10. Deliverables per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Original program / class / form / include 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Sub-object 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New (activated) program 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Backup program 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Correction status — Success or Syntax error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Traffic-light indicator per object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For any error: line number, message text, and include 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Full result set downloadable to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10. Deliverables per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11. Coverage — Classic Tables → S/4HANA Successors</a:t>
            </a:r>
          </a:p>
          <a:p>
            <a:r>
              <a:rPr sz="1400" i="1">
                <a:solidFill>
                  <a:srgbClr val="2E5CA7"/>
                </a:solidFill>
              </a:rPr>
              <a:t>Aligned to SAP's standard successor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272 distinct SAP classic tables are auto-mapped to their strategic S/4HANA CDS view / API successor.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312 total mappings — some tables have multiple valid CDS successors; the correct one is chosen from the code context.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Covers every major SAP functional area — Finance (FI), Controlling (CO), Materials (MM), Sales (SD), Production (PP), Quality (QM), and shared master-data.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</a:rPr>
              <a:t>•  Full alphabetical list on the following slides (Appendix 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11. Coverage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Appendix A — Predecessor → Successor  (1/7)</a:t>
            </a:r>
          </a:p>
          <a:p>
            <a:r>
              <a:rPr sz="1400" i="1">
                <a:solidFill>
                  <a:srgbClr val="2E5CA7"/>
                </a:solidFill>
              </a:rPr>
              <a:t>Tables 1–40 of 272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ACDOCA</a:t>
            </a:r>
            <a:r>
              <a:rPr sz="1100">
                <a:solidFill>
                  <a:srgbClr val="333333"/>
                </a:solidFill>
              </a:rPr>
              <a:t>  →  I_GLACCOUNTLINEITEM, I_GLACCOUNTLINEITEMRAWDATA, I_JOURNALENTRYITEM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AFKO</a:t>
            </a:r>
            <a:r>
              <a:rPr sz="1100">
                <a:solidFill>
                  <a:srgbClr val="333333"/>
                </a:solidFill>
              </a:rPr>
              <a:t>  →  I_MANUFACTURINGORDER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AFPO</a:t>
            </a:r>
            <a:r>
              <a:rPr sz="1100">
                <a:solidFill>
                  <a:srgbClr val="333333"/>
                </a:solidFill>
              </a:rPr>
              <a:t>  →  I_MANUFACTURINGORDERITEM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AFRU</a:t>
            </a:r>
            <a:r>
              <a:rPr sz="1100">
                <a:solidFill>
                  <a:srgbClr val="333333"/>
                </a:solidFill>
              </a:rPr>
              <a:t>  →  I_MFGORDERCONFIRMATION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AFVC</a:t>
            </a:r>
            <a:r>
              <a:rPr sz="1100">
                <a:solidFill>
                  <a:srgbClr val="333333"/>
                </a:solidFill>
              </a:rPr>
              <a:t>  →  I_MANUFACTURINGORDEROPERATION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AFVU</a:t>
            </a:r>
            <a:r>
              <a:rPr sz="1100">
                <a:solidFill>
                  <a:srgbClr val="333333"/>
                </a:solidFill>
              </a:rPr>
              <a:t>  →  I_MANUFACTURINGORDEROPERATION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AFVV</a:t>
            </a:r>
            <a:r>
              <a:rPr sz="1100">
                <a:solidFill>
                  <a:srgbClr val="333333"/>
                </a:solidFill>
              </a:rPr>
              <a:t>  →  I_MANUFACTURINGORDEROPERATION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AUFK</a:t>
            </a:r>
            <a:r>
              <a:rPr sz="1100">
                <a:solidFill>
                  <a:srgbClr val="333333"/>
                </a:solidFill>
              </a:rPr>
              <a:t>  →  I_ORDER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BKPF</a:t>
            </a:r>
            <a:r>
              <a:rPr sz="1100">
                <a:solidFill>
                  <a:srgbClr val="333333"/>
                </a:solidFill>
              </a:rPr>
              <a:t>  →  I_JOURNALENTRY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BNKA</a:t>
            </a:r>
            <a:r>
              <a:rPr sz="1100">
                <a:solidFill>
                  <a:srgbClr val="333333"/>
                </a:solidFill>
              </a:rPr>
              <a:t>  →  I_BANK_2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BSEC</a:t>
            </a:r>
            <a:r>
              <a:rPr sz="1100">
                <a:solidFill>
                  <a:srgbClr val="333333"/>
                </a:solidFill>
              </a:rPr>
              <a:t>  →  I_ONETIMEACCOUNTCUSTOMER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BSED</a:t>
            </a:r>
            <a:r>
              <a:rPr sz="1100">
                <a:solidFill>
                  <a:srgbClr val="333333"/>
                </a:solidFill>
              </a:rPr>
              <a:t>  →  I_BILLOFEXCHANGE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BSEG</a:t>
            </a:r>
            <a:r>
              <a:rPr sz="1100">
                <a:solidFill>
                  <a:srgbClr val="333333"/>
                </a:solidFill>
              </a:rPr>
              <a:t>  →  I_OPERATIONALACCTGDOCITEM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BSEG_ADD</a:t>
            </a:r>
            <a:r>
              <a:rPr sz="1100">
                <a:solidFill>
                  <a:srgbClr val="333333"/>
                </a:solidFill>
              </a:rPr>
              <a:t>  →  I_ADDLLEDGEROPLACCTGDOCITEM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BUT000</a:t>
            </a:r>
            <a:r>
              <a:rPr sz="1100">
                <a:solidFill>
                  <a:srgbClr val="333333"/>
                </a:solidFill>
              </a:rPr>
              <a:t>  →  I_BUSINESSPARTNER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CDHDR</a:t>
            </a:r>
            <a:r>
              <a:rPr sz="1100">
                <a:solidFill>
                  <a:srgbClr val="333333"/>
                </a:solidFill>
              </a:rPr>
              <a:t>  →  CL_CHDO_READ_TOOLS, CL_CHDO_WRITE_TOOLS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CDPOS</a:t>
            </a:r>
            <a:r>
              <a:rPr sz="1100">
                <a:solidFill>
                  <a:srgbClr val="333333"/>
                </a:solidFill>
              </a:rPr>
              <a:t>  →  CL_CHDO_READ_TOOLS, CL_CHDO_WRITE_TOOLS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CEPC</a:t>
            </a:r>
            <a:r>
              <a:rPr sz="1100">
                <a:solidFill>
                  <a:srgbClr val="333333"/>
                </a:solidFill>
              </a:rPr>
              <a:t>  →  I_PROFITCENTER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CEPCT</a:t>
            </a:r>
            <a:r>
              <a:rPr sz="1100">
                <a:solidFill>
                  <a:srgbClr val="333333"/>
                </a:solidFill>
              </a:rPr>
              <a:t>  →  I_PROFITCENTERTEXT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CRHD</a:t>
            </a:r>
            <a:r>
              <a:rPr sz="1100">
                <a:solidFill>
                  <a:srgbClr val="333333"/>
                </a:solidFill>
              </a:rPr>
              <a:t>  →  I_WORKCENTER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CRTX</a:t>
            </a:r>
            <a:r>
              <a:rPr sz="1100">
                <a:solidFill>
                  <a:srgbClr val="333333"/>
                </a:solidFill>
              </a:rPr>
              <a:t>  →  I_WORKCENTERTEXT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CSKA</a:t>
            </a:r>
            <a:r>
              <a:rPr sz="1100">
                <a:solidFill>
                  <a:srgbClr val="333333"/>
                </a:solidFill>
              </a:rPr>
              <a:t>  →  I_GLACCOUNT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CSKB</a:t>
            </a:r>
            <a:r>
              <a:rPr sz="1100">
                <a:solidFill>
                  <a:srgbClr val="333333"/>
                </a:solidFill>
              </a:rPr>
              <a:t>  →  I_GLACCOUNTINCOMPANYCODE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CSKS</a:t>
            </a:r>
            <a:r>
              <a:rPr sz="1100">
                <a:solidFill>
                  <a:srgbClr val="333333"/>
                </a:solidFill>
              </a:rPr>
              <a:t>  →  I_COSTCENTER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CSKT</a:t>
            </a:r>
            <a:r>
              <a:rPr sz="1100">
                <a:solidFill>
                  <a:srgbClr val="333333"/>
                </a:solidFill>
              </a:rPr>
              <a:t>  →  I_COSTCENTERTEXT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CSKU</a:t>
            </a:r>
            <a:r>
              <a:rPr sz="1100">
                <a:solidFill>
                  <a:srgbClr val="333333"/>
                </a:solidFill>
              </a:rPr>
              <a:t>  →  I_GLACCOUNTTEXT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CSLA</a:t>
            </a:r>
            <a:r>
              <a:rPr sz="1100">
                <a:solidFill>
                  <a:srgbClr val="333333"/>
                </a:solidFill>
              </a:rPr>
              <a:t>  →  I_COSTCENTERACTIVITYTYPE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CSLT</a:t>
            </a:r>
            <a:r>
              <a:rPr sz="1100">
                <a:solidFill>
                  <a:srgbClr val="333333"/>
                </a:solidFill>
              </a:rPr>
              <a:t>  →  I_COSTCENTERACTIVITYTYPETEXT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DD07L</a:t>
            </a:r>
            <a:r>
              <a:rPr sz="1100">
                <a:solidFill>
                  <a:srgbClr val="333333"/>
                </a:solidFill>
              </a:rPr>
              <a:t>  →  DDCDS_CUSTOMER_DOMAIN_VALUE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DD07T</a:t>
            </a:r>
            <a:r>
              <a:rPr sz="1100">
                <a:solidFill>
                  <a:srgbClr val="333333"/>
                </a:solidFill>
              </a:rPr>
              <a:t>  →  DDCDS_CUSTOMER_DOMAIN_VALUE_T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DFKKKO</a:t>
            </a:r>
            <a:r>
              <a:rPr sz="1100">
                <a:solidFill>
                  <a:srgbClr val="333333"/>
                </a:solidFill>
              </a:rPr>
              <a:t>  →  I_CADOCUMENTHEADER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DFKKOP</a:t>
            </a:r>
            <a:r>
              <a:rPr sz="1100">
                <a:solidFill>
                  <a:srgbClr val="333333"/>
                </a:solidFill>
              </a:rPr>
              <a:t>  →  I_CADOCUMENTBPITEMPHYSICAL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DFKKOPK</a:t>
            </a:r>
            <a:r>
              <a:rPr sz="1100">
                <a:solidFill>
                  <a:srgbClr val="333333"/>
                </a:solidFill>
              </a:rPr>
              <a:t>  →  I_CADOCUMENTGLITEM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EBAN</a:t>
            </a:r>
            <a:r>
              <a:rPr sz="1100">
                <a:solidFill>
                  <a:srgbClr val="333333"/>
                </a:solidFill>
              </a:rPr>
              <a:t>  →  I_PURCHASEREQUISITIONITEMAPI01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EBKN</a:t>
            </a:r>
            <a:r>
              <a:rPr sz="1100">
                <a:solidFill>
                  <a:srgbClr val="333333"/>
                </a:solidFill>
              </a:rPr>
              <a:t>  →  I_PURREQNACCTASSGMTAPI01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EHEWAD_WA_TRRQLA</a:t>
            </a:r>
            <a:r>
              <a:rPr sz="1100">
                <a:solidFill>
                  <a:srgbClr val="333333"/>
                </a:solidFill>
              </a:rPr>
              <a:t>  →  I_WASTETRANSFERREQUESTHISTORY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EINA</a:t>
            </a:r>
            <a:r>
              <a:rPr sz="1100">
                <a:solidFill>
                  <a:srgbClr val="333333"/>
                </a:solidFill>
              </a:rPr>
              <a:t>  →  I_PURCHASINGINFORECORDAPI01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EINE</a:t>
            </a:r>
            <a:r>
              <a:rPr sz="1100">
                <a:solidFill>
                  <a:srgbClr val="333333"/>
                </a:solidFill>
              </a:rPr>
              <a:t>  →  I_PURCHASINGINFORECORDAPI01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EKBE</a:t>
            </a:r>
            <a:r>
              <a:rPr sz="1100">
                <a:solidFill>
                  <a:srgbClr val="333333"/>
                </a:solidFill>
              </a:rPr>
              <a:t>  →  I_PURCHASEORDERHISTORYAPI01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EKES</a:t>
            </a:r>
            <a:r>
              <a:rPr sz="1100">
                <a:solidFill>
                  <a:srgbClr val="333333"/>
                </a:solidFill>
              </a:rPr>
              <a:t>  →  I_POSUPPLIERCONFIRMATIONAPI01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Appendix A — Coverage list  (1/7)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Appendix A — Predecessor → Successor  (2/7)</a:t>
            </a:r>
          </a:p>
          <a:p>
            <a:r>
              <a:rPr sz="1400" i="1">
                <a:solidFill>
                  <a:srgbClr val="2E5CA7"/>
                </a:solidFill>
              </a:rPr>
              <a:t>Tables 41–80 of 272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EKET</a:t>
            </a:r>
            <a:r>
              <a:rPr sz="1100">
                <a:solidFill>
                  <a:srgbClr val="333333"/>
                </a:solidFill>
              </a:rPr>
              <a:t>  →  I_PURORDSCHEDULELINEAPI01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EKKN</a:t>
            </a:r>
            <a:r>
              <a:rPr sz="1100">
                <a:solidFill>
                  <a:srgbClr val="333333"/>
                </a:solidFill>
              </a:rPr>
              <a:t>  →  I_PURORDACCOUNTASSIGNMENTAPI01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EKKO</a:t>
            </a:r>
            <a:r>
              <a:rPr sz="1100">
                <a:solidFill>
                  <a:srgbClr val="333333"/>
                </a:solidFill>
              </a:rPr>
              <a:t>  →  I_PURCHASEORDERAPI01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EKPA</a:t>
            </a:r>
            <a:r>
              <a:rPr sz="1100">
                <a:solidFill>
                  <a:srgbClr val="333333"/>
                </a:solidFill>
              </a:rPr>
              <a:t>  →  I_PURCHASEORDERPARTNERAPI01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EKPO</a:t>
            </a:r>
            <a:r>
              <a:rPr sz="1100">
                <a:solidFill>
                  <a:srgbClr val="333333"/>
                </a:solidFill>
              </a:rPr>
              <a:t>  →  I_PURCHASEORDERITEMAPI01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EORD</a:t>
            </a:r>
            <a:r>
              <a:rPr sz="1100">
                <a:solidFill>
                  <a:srgbClr val="333333"/>
                </a:solidFill>
              </a:rPr>
              <a:t>  →  I_MPPURCHASINGSOURCEITEM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EQUK</a:t>
            </a:r>
            <a:r>
              <a:rPr sz="1100">
                <a:solidFill>
                  <a:srgbClr val="333333"/>
                </a:solidFill>
              </a:rPr>
              <a:t>  →  I_PURGQUOTAARRGMTAPI01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EQUP</a:t>
            </a:r>
            <a:r>
              <a:rPr sz="1100">
                <a:solidFill>
                  <a:srgbClr val="333333"/>
                </a:solidFill>
              </a:rPr>
              <a:t>  →  I_PURGQUOTAARRGMTITEMAPI01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FKKINV_UNIT_PUBLIC_DATA_BADI</a:t>
            </a:r>
            <a:r>
              <a:rPr sz="1100">
                <a:solidFill>
                  <a:srgbClr val="333333"/>
                </a:solidFill>
              </a:rPr>
              <a:t>  →  FKKINV_UNIT_PUBLIC_DATA_GFN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FKKVK</a:t>
            </a:r>
            <a:r>
              <a:rPr sz="1100">
                <a:solidFill>
                  <a:srgbClr val="333333"/>
                </a:solidFill>
              </a:rPr>
              <a:t>  →  I_CONTRACTACCOUNTHEADER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FKKVKP</a:t>
            </a:r>
            <a:r>
              <a:rPr sz="1100">
                <a:solidFill>
                  <a:srgbClr val="333333"/>
                </a:solidFill>
              </a:rPr>
              <a:t>  →  I_CONTRACTACCOUNTPARTNER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GLO_BUP_CTX_S_ACCDOC_HDR_FI</a:t>
            </a:r>
            <a:r>
              <a:rPr sz="1100">
                <a:solidFill>
                  <a:srgbClr val="333333"/>
                </a:solidFill>
              </a:rPr>
              <a:t>  →  FINS_ACDOC_HEADER_IN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GLO_BUP_CTX_S_ACCDOC_ITM_FI</a:t>
            </a:r>
            <a:r>
              <a:rPr sz="1100">
                <a:solidFill>
                  <a:srgbClr val="333333"/>
                </a:solidFill>
              </a:rPr>
              <a:t>  →  FINS_ACDOC_ITEM_IN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GLO_BUP_CTX_S_ACCHD_FI</a:t>
            </a:r>
            <a:r>
              <a:rPr sz="1100">
                <a:solidFill>
                  <a:srgbClr val="333333"/>
                </a:solidFill>
              </a:rPr>
              <a:t>  →  FINS_ACDOC_HEADER_IN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GLO_BUP_CTX_S_ACCINTF_FI</a:t>
            </a:r>
            <a:r>
              <a:rPr sz="1100">
                <a:solidFill>
                  <a:srgbClr val="333333"/>
                </a:solidFill>
              </a:rPr>
              <a:t>  →  FINS_ACDOC_HEADER_IN, FINS_ACDOC_ITEM_IN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GLO_BUP_CTX_S_ACCIT_FI</a:t>
            </a:r>
            <a:r>
              <a:rPr sz="1100">
                <a:solidFill>
                  <a:srgbClr val="333333"/>
                </a:solidFill>
              </a:rPr>
              <a:t>  →  FINS_ACDOC_ITEM_IN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GLO_BUP_CTX_S_FIORI_FI</a:t>
            </a:r>
            <a:r>
              <a:rPr sz="1100">
                <a:solidFill>
                  <a:srgbClr val="333333"/>
                </a:solidFill>
              </a:rPr>
              <a:t>  →  FINS_ACDOC_HEADER_IN, FINS_ACDOC_ITEM_IN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GLO_BUP_CTX_S_FIORI_ITEM_FI</a:t>
            </a:r>
            <a:r>
              <a:rPr sz="1100">
                <a:solidFill>
                  <a:srgbClr val="333333"/>
                </a:solidFill>
              </a:rPr>
              <a:t>  →  FINS_ACDOC_ITEM_IN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GLO_BUP_CTX_S_HEADER_FI</a:t>
            </a:r>
            <a:r>
              <a:rPr sz="1100">
                <a:solidFill>
                  <a:srgbClr val="333333"/>
                </a:solidFill>
              </a:rPr>
              <a:t>  →  FINS_ACDOC_HEADER_IN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GLO_BUP_CTX_S_ITEM_FI</a:t>
            </a:r>
            <a:r>
              <a:rPr sz="1100">
                <a:solidFill>
                  <a:srgbClr val="333333"/>
                </a:solidFill>
              </a:rPr>
              <a:t>  →  FINS_ACDOC_ITEM_IN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GLO_BUP_CTX_S_TRANS_FI</a:t>
            </a:r>
            <a:r>
              <a:rPr sz="1100">
                <a:solidFill>
                  <a:srgbClr val="333333"/>
                </a:solidFill>
              </a:rPr>
              <a:t>  →  FINS_ACDOC_HEADER_IN, FINS_ACDOC_ITEM_IN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KBED</a:t>
            </a:r>
            <a:r>
              <a:rPr sz="1100">
                <a:solidFill>
                  <a:srgbClr val="333333"/>
                </a:solidFill>
              </a:rPr>
              <a:t>  →  I_CAPACITYREQUIREMENTITEM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KBLK</a:t>
            </a:r>
            <a:r>
              <a:rPr sz="1100">
                <a:solidFill>
                  <a:srgbClr val="333333"/>
                </a:solidFill>
              </a:rPr>
              <a:t>  →  I_EARMARKEDFUNDSDOCUMENT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KBLP</a:t>
            </a:r>
            <a:r>
              <a:rPr sz="1100">
                <a:solidFill>
                  <a:srgbClr val="333333"/>
                </a:solidFill>
              </a:rPr>
              <a:t>  →  I_EARMARKEDFUNDSDOCUMENTITEM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KNA1</a:t>
            </a:r>
            <a:r>
              <a:rPr sz="1100">
                <a:solidFill>
                  <a:srgbClr val="333333"/>
                </a:solidFill>
              </a:rPr>
              <a:t>  →  I_CUSTOMER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KNB1</a:t>
            </a:r>
            <a:r>
              <a:rPr sz="1100">
                <a:solidFill>
                  <a:srgbClr val="333333"/>
                </a:solidFill>
              </a:rPr>
              <a:t>  →  I_CUSTOMERCOMPANY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KNB5</a:t>
            </a:r>
            <a:r>
              <a:rPr sz="1100">
                <a:solidFill>
                  <a:srgbClr val="333333"/>
                </a:solidFill>
              </a:rPr>
              <a:t>  →  I_CUSTOMERDUNNING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KNBK</a:t>
            </a:r>
            <a:r>
              <a:rPr sz="1100">
                <a:solidFill>
                  <a:srgbClr val="333333"/>
                </a:solidFill>
              </a:rPr>
              <a:t>  →  I_BUSINESSPARTNERBANK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KNVI</a:t>
            </a:r>
            <a:r>
              <a:rPr sz="1100">
                <a:solidFill>
                  <a:srgbClr val="333333"/>
                </a:solidFill>
              </a:rPr>
              <a:t>  →  I_CUSTSALESAREATAX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KNVK</a:t>
            </a:r>
            <a:r>
              <a:rPr sz="1100">
                <a:solidFill>
                  <a:srgbClr val="333333"/>
                </a:solidFill>
              </a:rPr>
              <a:t>  →  I_CONTACTPERSON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KNVP</a:t>
            </a:r>
            <a:r>
              <a:rPr sz="1100">
                <a:solidFill>
                  <a:srgbClr val="333333"/>
                </a:solidFill>
              </a:rPr>
              <a:t>  →  I_CUSTSALESPARTNERFUNC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KNVV</a:t>
            </a:r>
            <a:r>
              <a:rPr sz="1100">
                <a:solidFill>
                  <a:srgbClr val="333333"/>
                </a:solidFill>
              </a:rPr>
              <a:t>  →  I_CUSTOMERSALESAREA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KONH</a:t>
            </a:r>
            <a:r>
              <a:rPr sz="1100">
                <a:solidFill>
                  <a:srgbClr val="333333"/>
                </a:solidFill>
              </a:rPr>
              <a:t>  →  I_SLSPRCGCONDITIONRECORD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KONM</a:t>
            </a:r>
            <a:r>
              <a:rPr sz="1100">
                <a:solidFill>
                  <a:srgbClr val="333333"/>
                </a:solidFill>
              </a:rPr>
              <a:t>  →  I_SLSPRCGCNDNRECORDSCALE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KONP</a:t>
            </a:r>
            <a:r>
              <a:rPr sz="1100">
                <a:solidFill>
                  <a:srgbClr val="333333"/>
                </a:solidFill>
              </a:rPr>
              <a:t>  →  I_SLSPRCGCONDITIONRECORD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KONV</a:t>
            </a:r>
            <a:r>
              <a:rPr sz="1100">
                <a:solidFill>
                  <a:srgbClr val="333333"/>
                </a:solidFill>
              </a:rPr>
              <a:t>  →  I_SLSPRCGCONDITIONRECORD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LFA1</a:t>
            </a:r>
            <a:r>
              <a:rPr sz="1100">
                <a:solidFill>
                  <a:srgbClr val="333333"/>
                </a:solidFill>
              </a:rPr>
              <a:t>  →  I_SUPPLIER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LFAS</a:t>
            </a:r>
            <a:r>
              <a:rPr sz="1100">
                <a:solidFill>
                  <a:srgbClr val="333333"/>
                </a:solidFill>
              </a:rPr>
              <a:t>  →  I_BUSINESSPARTNERTAXNUMBER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LFB1</a:t>
            </a:r>
            <a:r>
              <a:rPr sz="1100">
                <a:solidFill>
                  <a:srgbClr val="333333"/>
                </a:solidFill>
              </a:rPr>
              <a:t>  →  I_SUPPLIERCOMPANY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LFBK</a:t>
            </a:r>
            <a:r>
              <a:rPr sz="1100">
                <a:solidFill>
                  <a:srgbClr val="333333"/>
                </a:solidFill>
              </a:rPr>
              <a:t>  →  I_BUSINESSPARTNERBANK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Appendix A — Coverage list  (2/7)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Appendix A — Predecessor → Successor  (3/7)</a:t>
            </a:r>
          </a:p>
          <a:p>
            <a:r>
              <a:rPr sz="1400" i="1">
                <a:solidFill>
                  <a:srgbClr val="2E5CA7"/>
                </a:solidFill>
              </a:rPr>
              <a:t>Tables 81–120 of 272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LFM1</a:t>
            </a:r>
            <a:r>
              <a:rPr sz="1100">
                <a:solidFill>
                  <a:srgbClr val="333333"/>
                </a:solidFill>
              </a:rPr>
              <a:t>  →  I_SUPPLIERPURCHASINGORG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LIKP</a:t>
            </a:r>
            <a:r>
              <a:rPr sz="1100">
                <a:solidFill>
                  <a:srgbClr val="333333"/>
                </a:solidFill>
              </a:rPr>
              <a:t>  →  I_DELIVERYDOCUMENT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LIPS</a:t>
            </a:r>
            <a:r>
              <a:rPr sz="1100">
                <a:solidFill>
                  <a:srgbClr val="333333"/>
                </a:solidFill>
              </a:rPr>
              <a:t>  →  I_DELIVERYDOCUMENTITEM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MARA</a:t>
            </a:r>
            <a:r>
              <a:rPr sz="1100">
                <a:solidFill>
                  <a:srgbClr val="333333"/>
                </a:solidFill>
              </a:rPr>
              <a:t>  →  I_PRODUCT, I_PRODUCTPROCUREMENT, I_PRODUCTQM, I_PRODUCTSALES, I_PRODUC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MARC</a:t>
            </a:r>
            <a:r>
              <a:rPr sz="1100">
                <a:solidFill>
                  <a:srgbClr val="333333"/>
                </a:solidFill>
              </a:rPr>
              <a:t>  →  I_PRODUCTPLANTBASIC, I_PRODUCTPLANTCOSTING, I_PRODUCTPLANTFORECAST, I_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MARD</a:t>
            </a:r>
            <a:r>
              <a:rPr sz="1100">
                <a:solidFill>
                  <a:srgbClr val="333333"/>
                </a:solidFill>
              </a:rPr>
              <a:t>  →  I_PRODUCTSTORAGELOCATIONBASIC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MARM</a:t>
            </a:r>
            <a:r>
              <a:rPr sz="1100">
                <a:solidFill>
                  <a:srgbClr val="333333"/>
                </a:solidFill>
              </a:rPr>
              <a:t>  →  I_PRODUCTUNITSOFMEASURE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MATDOC</a:t>
            </a:r>
            <a:r>
              <a:rPr sz="1100">
                <a:solidFill>
                  <a:srgbClr val="333333"/>
                </a:solidFill>
              </a:rPr>
              <a:t>  →  I_MATERIALDOCUMENTHEADER_2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MCH1</a:t>
            </a:r>
            <a:r>
              <a:rPr sz="1100">
                <a:solidFill>
                  <a:srgbClr val="333333"/>
                </a:solidFill>
              </a:rPr>
              <a:t>  →  I_BATCH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MCHA</a:t>
            </a:r>
            <a:r>
              <a:rPr sz="1100">
                <a:solidFill>
                  <a:srgbClr val="333333"/>
                </a:solidFill>
              </a:rPr>
              <a:t>  →  I_BATCH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MKAL</a:t>
            </a:r>
            <a:r>
              <a:rPr sz="1100">
                <a:solidFill>
                  <a:srgbClr val="333333"/>
                </a:solidFill>
              </a:rPr>
              <a:t>  →  I_PRODUCTIONVERSION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MKPF</a:t>
            </a:r>
            <a:r>
              <a:rPr sz="1100">
                <a:solidFill>
                  <a:srgbClr val="333333"/>
                </a:solidFill>
              </a:rPr>
              <a:t>  →  I_MATERIALDOCUMENTHEADER_2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MSEG</a:t>
            </a:r>
            <a:r>
              <a:rPr sz="1100">
                <a:solidFill>
                  <a:srgbClr val="333333"/>
                </a:solidFill>
              </a:rPr>
              <a:t>  →  I_MATERIALDOCUMENTITEM_2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MSKA</a:t>
            </a:r>
            <a:r>
              <a:rPr sz="1100">
                <a:solidFill>
                  <a:srgbClr val="333333"/>
                </a:solidFill>
              </a:rPr>
              <a:t>  →  I_MATERIALSTOCK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MSKU</a:t>
            </a:r>
            <a:r>
              <a:rPr sz="1100">
                <a:solidFill>
                  <a:srgbClr val="333333"/>
                </a:solidFill>
              </a:rPr>
              <a:t>  →  I_MATERIALSTOCK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MSLB</a:t>
            </a:r>
            <a:r>
              <a:rPr sz="1100">
                <a:solidFill>
                  <a:srgbClr val="333333"/>
                </a:solidFill>
              </a:rPr>
              <a:t>  →  I_MATERIALSTOCK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MSLBH</a:t>
            </a:r>
            <a:r>
              <a:rPr sz="1100">
                <a:solidFill>
                  <a:srgbClr val="333333"/>
                </a:solidFill>
              </a:rPr>
              <a:t>  →  I_MATERIALSTOCK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MSPR</a:t>
            </a:r>
            <a:r>
              <a:rPr sz="1100">
                <a:solidFill>
                  <a:srgbClr val="333333"/>
                </a:solidFill>
              </a:rPr>
              <a:t>  →  I_MATERIALSTOCK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PACKKP</a:t>
            </a:r>
            <a:r>
              <a:rPr sz="1100">
                <a:solidFill>
                  <a:srgbClr val="333333"/>
                </a:solidFill>
              </a:rPr>
              <a:t>  →  I_PACKINGINSTRUCTIONHEADER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PACKPO</a:t>
            </a:r>
            <a:r>
              <a:rPr sz="1100">
                <a:solidFill>
                  <a:srgbClr val="333333"/>
                </a:solidFill>
              </a:rPr>
              <a:t>  →  I_PACKINGINSTRUCTIONCOMPONENT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PKHD</a:t>
            </a:r>
            <a:r>
              <a:rPr sz="1100">
                <a:solidFill>
                  <a:srgbClr val="333333"/>
                </a:solidFill>
              </a:rPr>
              <a:t>  →  I_KANBANCONTROLCYCLE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PLFH</a:t>
            </a:r>
            <a:r>
              <a:rPr sz="1100">
                <a:solidFill>
                  <a:srgbClr val="333333"/>
                </a:solidFill>
              </a:rPr>
              <a:t>  →  I_MFGBOOOPPRODNRSCETOOLCHGST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PLKO</a:t>
            </a:r>
            <a:r>
              <a:rPr sz="1100">
                <a:solidFill>
                  <a:srgbClr val="333333"/>
                </a:solidFill>
              </a:rPr>
              <a:t>  →  I_BILLOFOPERATIONSGROUP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PLPO</a:t>
            </a:r>
            <a:r>
              <a:rPr sz="1100">
                <a:solidFill>
                  <a:srgbClr val="333333"/>
                </a:solidFill>
              </a:rPr>
              <a:t>  →  I_MFGBILLOFOPERATIONSOPERATION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PRCD_ELEMENTS</a:t>
            </a:r>
            <a:r>
              <a:rPr sz="1100">
                <a:solidFill>
                  <a:srgbClr val="333333"/>
                </a:solidFill>
              </a:rPr>
              <a:t>  →  I_SLSPRCGCONDITIONRECORD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QALS</a:t>
            </a:r>
            <a:r>
              <a:rPr sz="1100">
                <a:solidFill>
                  <a:srgbClr val="333333"/>
                </a:solidFill>
              </a:rPr>
              <a:t>  →  I_INSPECTIONLOT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QPCT</a:t>
            </a:r>
            <a:r>
              <a:rPr sz="1100">
                <a:solidFill>
                  <a:srgbClr val="333333"/>
                </a:solidFill>
              </a:rPr>
              <a:t>  →  I_CHARCATTRIBUTECODETEXT, I_DEFECTCODETEXT, I_USAGEDECISIONCODETEXT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QPMK</a:t>
            </a:r>
            <a:r>
              <a:rPr sz="1100">
                <a:solidFill>
                  <a:srgbClr val="333333"/>
                </a:solidFill>
              </a:rPr>
              <a:t>  →  I_INSPSPECIFICATIONVERSION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RBCO</a:t>
            </a:r>
            <a:r>
              <a:rPr sz="1100">
                <a:solidFill>
                  <a:srgbClr val="333333"/>
                </a:solidFill>
              </a:rPr>
              <a:t>  →  I_SUPLRINVOICEITEMGLACCTAPI01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RBKP</a:t>
            </a:r>
            <a:r>
              <a:rPr sz="1100">
                <a:solidFill>
                  <a:srgbClr val="333333"/>
                </a:solidFill>
              </a:rPr>
              <a:t>  →  I_SUPPLIERINVOICEAPI01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RBSELBEST</a:t>
            </a:r>
            <a:r>
              <a:rPr sz="1100">
                <a:solidFill>
                  <a:srgbClr val="333333"/>
                </a:solidFill>
              </a:rPr>
              <a:t>  →  I_SUPLRINVCSELDPURGDOCAPI01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RESB</a:t>
            </a:r>
            <a:r>
              <a:rPr sz="1100">
                <a:solidFill>
                  <a:srgbClr val="333333"/>
                </a:solidFill>
              </a:rPr>
              <a:t>  →  I_RESERVATIONDOCUMENTITEM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RKWA</a:t>
            </a:r>
            <a:r>
              <a:rPr sz="1100">
                <a:solidFill>
                  <a:srgbClr val="333333"/>
                </a:solidFill>
              </a:rPr>
              <a:t>  →  I_SUPCSGNMTPPLINEWTHDRWLAPI01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RSEG</a:t>
            </a:r>
            <a:r>
              <a:rPr sz="1100">
                <a:solidFill>
                  <a:srgbClr val="333333"/>
                </a:solidFill>
              </a:rPr>
              <a:t>  →  I_SUPLRINVCITEMPURORDREFAPI01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SETHEADER</a:t>
            </a:r>
            <a:r>
              <a:rPr sz="1100">
                <a:solidFill>
                  <a:srgbClr val="333333"/>
                </a:solidFill>
              </a:rPr>
              <a:t>  →  I_COSTCENTERHIERARCHY, I_COSTCTRACTIVITYTYPEHIERARCHY, I_FUNCTIONALARE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SETHEADERT</a:t>
            </a:r>
            <a:r>
              <a:rPr sz="1100">
                <a:solidFill>
                  <a:srgbClr val="333333"/>
                </a:solidFill>
              </a:rPr>
              <a:t>  →  I_COSTCENTERHIERARCHY, I_COSTCTRACTIVITYTYPEHIERARCHY, I_FUNCTIONALARE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SETLEAF</a:t>
            </a:r>
            <a:r>
              <a:rPr sz="1100">
                <a:solidFill>
                  <a:srgbClr val="333333"/>
                </a:solidFill>
              </a:rPr>
              <a:t>  →  I_COSTCENTERHIERARCHYNODE, I_COSTCTRACTIVITYTYPEHIERNODE, I_FUNCTIONAL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SETNODE</a:t>
            </a:r>
            <a:r>
              <a:rPr sz="1100">
                <a:solidFill>
                  <a:srgbClr val="333333"/>
                </a:solidFill>
              </a:rPr>
              <a:t>  →  I_COSTCENTERHIERARCHYNODE, I_COSTCTRACTIVITYTYPEHIERNODE, I_FUNCTIONAL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SKA1</a:t>
            </a:r>
            <a:r>
              <a:rPr sz="1100">
                <a:solidFill>
                  <a:srgbClr val="333333"/>
                </a:solidFill>
              </a:rPr>
              <a:t>  →  I_GLACCOUNTINCHARTOFACCOUNTS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SKAT</a:t>
            </a:r>
            <a:r>
              <a:rPr sz="1100">
                <a:solidFill>
                  <a:srgbClr val="333333"/>
                </a:solidFill>
              </a:rPr>
              <a:t>  →  I_GLACCOUNTTEXT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Appendix A — Coverage list  (3/7)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Appendix A — Predecessor → Successor  (4/7)</a:t>
            </a:r>
          </a:p>
          <a:p>
            <a:r>
              <a:rPr sz="1400" i="1">
                <a:solidFill>
                  <a:srgbClr val="2E5CA7"/>
                </a:solidFill>
              </a:rPr>
              <a:t>Tables 121–160 of 272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SKB1</a:t>
            </a:r>
            <a:r>
              <a:rPr sz="1100">
                <a:solidFill>
                  <a:srgbClr val="333333"/>
                </a:solidFill>
              </a:rPr>
              <a:t>  →  I_GLACCOUNTINCOMPANYCODE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T001</a:t>
            </a:r>
            <a:r>
              <a:rPr sz="1100">
                <a:solidFill>
                  <a:srgbClr val="333333"/>
                </a:solidFill>
              </a:rPr>
              <a:t>  →  I_COMPANYCODE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T002</a:t>
            </a:r>
            <a:r>
              <a:rPr sz="1100">
                <a:solidFill>
                  <a:srgbClr val="333333"/>
                </a:solidFill>
              </a:rPr>
              <a:t>  →  I_LANGUAGE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T002T</a:t>
            </a:r>
            <a:r>
              <a:rPr sz="1100">
                <a:solidFill>
                  <a:srgbClr val="333333"/>
                </a:solidFill>
              </a:rPr>
              <a:t>  →  I_LANGUAGETEXT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T003</a:t>
            </a:r>
            <a:r>
              <a:rPr sz="1100">
                <a:solidFill>
                  <a:srgbClr val="333333"/>
                </a:solidFill>
              </a:rPr>
              <a:t>  →  I_ACCOUNTINGDOCUMENTTYPE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T004</a:t>
            </a:r>
            <a:r>
              <a:rPr sz="1100">
                <a:solidFill>
                  <a:srgbClr val="333333"/>
                </a:solidFill>
              </a:rPr>
              <a:t>  →  I_CHARTOFACCOUNTS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T005</a:t>
            </a:r>
            <a:r>
              <a:rPr sz="1100">
                <a:solidFill>
                  <a:srgbClr val="333333"/>
                </a:solidFill>
              </a:rPr>
              <a:t>  →  I_COUNTRY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T005T</a:t>
            </a:r>
            <a:r>
              <a:rPr sz="1100">
                <a:solidFill>
                  <a:srgbClr val="333333"/>
                </a:solidFill>
              </a:rPr>
              <a:t>  →  I_COUNTRYTEXT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</a:t>
            </a:r>
            <a:r>
              <a:rPr sz="1100">
                <a:solidFill>
                  <a:srgbClr val="333333"/>
                </a:solidFill>
              </a:rPr>
              <a:t>  →  I_UNITOFMEASURE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T006A</a:t>
            </a:r>
            <a:r>
              <a:rPr sz="1100">
                <a:solidFill>
                  <a:srgbClr val="333333"/>
                </a:solidFill>
              </a:rPr>
              <a:t>  →  I_UNITOFMEASURETEXT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T006B</a:t>
            </a:r>
            <a:r>
              <a:rPr sz="1100">
                <a:solidFill>
                  <a:srgbClr val="333333"/>
                </a:solidFill>
              </a:rPr>
              <a:t>  →  I_UNITOFMEASURECOMMERCIALNAME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T006C</a:t>
            </a:r>
            <a:r>
              <a:rPr sz="1100">
                <a:solidFill>
                  <a:srgbClr val="333333"/>
                </a:solidFill>
              </a:rPr>
              <a:t>  →  I_UNITOFMEASURETECHNICALNAME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T006D</a:t>
            </a:r>
            <a:r>
              <a:rPr sz="1100">
                <a:solidFill>
                  <a:srgbClr val="333333"/>
                </a:solidFill>
              </a:rPr>
              <a:t>  →  I_UNITOFMEASUREDIMENSION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T006I</a:t>
            </a:r>
            <a:r>
              <a:rPr sz="1100">
                <a:solidFill>
                  <a:srgbClr val="333333"/>
                </a:solidFill>
              </a:rPr>
              <a:t>  →  I_UNITOFMEASUREISOCODE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T006J</a:t>
            </a:r>
            <a:r>
              <a:rPr sz="1100">
                <a:solidFill>
                  <a:srgbClr val="333333"/>
                </a:solidFill>
              </a:rPr>
              <a:t>  →  I_UNITOFMEASUREISOCODETEXT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T006T</a:t>
            </a:r>
            <a:r>
              <a:rPr sz="1100">
                <a:solidFill>
                  <a:srgbClr val="333333"/>
                </a:solidFill>
              </a:rPr>
              <a:t>  →  I_UNITOFMEASUREDIMENSIONTEXT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T008</a:t>
            </a:r>
            <a:r>
              <a:rPr sz="1100">
                <a:solidFill>
                  <a:srgbClr val="333333"/>
                </a:solidFill>
              </a:rPr>
              <a:t>  →  I_PAYMENTBLOCKINGREASON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T008T</a:t>
            </a:r>
            <a:r>
              <a:rPr sz="1100">
                <a:solidFill>
                  <a:srgbClr val="333333"/>
                </a:solidFill>
              </a:rPr>
              <a:t>  →  I_PAYMENTBLOCKINGREASON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T011</a:t>
            </a:r>
            <a:r>
              <a:rPr sz="1100">
                <a:solidFill>
                  <a:srgbClr val="333333"/>
                </a:solidFill>
              </a:rPr>
              <a:t>  →  I_FINANCIALSTATEMENTHIER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T011T</a:t>
            </a:r>
            <a:r>
              <a:rPr sz="1100">
                <a:solidFill>
                  <a:srgbClr val="333333"/>
                </a:solidFill>
              </a:rPr>
              <a:t>  →  I_FINANCIALSTATEMENTHIERT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T014</a:t>
            </a:r>
            <a:r>
              <a:rPr sz="1100">
                <a:solidFill>
                  <a:srgbClr val="333333"/>
                </a:solidFill>
              </a:rPr>
              <a:t>  →  I_CREDITCONTROLAREA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T014T</a:t>
            </a:r>
            <a:r>
              <a:rPr sz="1100">
                <a:solidFill>
                  <a:srgbClr val="333333"/>
                </a:solidFill>
              </a:rPr>
              <a:t>  →  I_CREDITCONTROLAREATEXT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T024</a:t>
            </a:r>
            <a:r>
              <a:rPr sz="1100">
                <a:solidFill>
                  <a:srgbClr val="333333"/>
                </a:solidFill>
              </a:rPr>
              <a:t>  →  I_PURCHASINGGROUP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T024D</a:t>
            </a:r>
            <a:r>
              <a:rPr sz="1100">
                <a:solidFill>
                  <a:srgbClr val="333333"/>
                </a:solidFill>
              </a:rPr>
              <a:t>  →  I_MRPCONTROLLER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T024E</a:t>
            </a:r>
            <a:r>
              <a:rPr sz="1100">
                <a:solidFill>
                  <a:srgbClr val="333333"/>
                </a:solidFill>
              </a:rPr>
              <a:t>  →  I_PURCHASINGORGANIZATION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T027A</a:t>
            </a:r>
            <a:r>
              <a:rPr sz="1100">
                <a:solidFill>
                  <a:srgbClr val="333333"/>
                </a:solidFill>
              </a:rPr>
              <a:t>  →  I_SHIPPINGINSTRUCTION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T027B</a:t>
            </a:r>
            <a:r>
              <a:rPr sz="1100">
                <a:solidFill>
                  <a:srgbClr val="333333"/>
                </a:solidFill>
              </a:rPr>
              <a:t>  →  I_SHIPPINGINSTRUCTIONTEXT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T040S</a:t>
            </a:r>
            <a:r>
              <a:rPr sz="1100">
                <a:solidFill>
                  <a:srgbClr val="333333"/>
                </a:solidFill>
              </a:rPr>
              <a:t>  →  I_DUNNINGBLOCKINGREASONCODE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T048</a:t>
            </a:r>
            <a:r>
              <a:rPr sz="1100">
                <a:solidFill>
                  <a:srgbClr val="333333"/>
                </a:solidFill>
              </a:rPr>
              <a:t>  →  I_CORRESPONDENCETYPE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T074T</a:t>
            </a:r>
            <a:r>
              <a:rPr sz="1100">
                <a:solidFill>
                  <a:srgbClr val="333333"/>
                </a:solidFill>
              </a:rPr>
              <a:t>  →  I_SPECIALGLCODETEXT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T074U</a:t>
            </a:r>
            <a:r>
              <a:rPr sz="1100">
                <a:solidFill>
                  <a:srgbClr val="333333"/>
                </a:solidFill>
              </a:rPr>
              <a:t>  →  I_SPECIALGLCODE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T077X</a:t>
            </a:r>
            <a:r>
              <a:rPr sz="1100">
                <a:solidFill>
                  <a:srgbClr val="333333"/>
                </a:solidFill>
              </a:rPr>
              <a:t>  →  I_CUSTOMERACCOUNTGROUPTEXT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T151</a:t>
            </a:r>
            <a:r>
              <a:rPr sz="1100">
                <a:solidFill>
                  <a:srgbClr val="333333"/>
                </a:solidFill>
              </a:rPr>
              <a:t>  →  I_CUSTOMERGROUP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T151T</a:t>
            </a:r>
            <a:r>
              <a:rPr sz="1100">
                <a:solidFill>
                  <a:srgbClr val="333333"/>
                </a:solidFill>
              </a:rPr>
              <a:t>  →  I_CUSTOMERGROUP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T156</a:t>
            </a:r>
            <a:r>
              <a:rPr sz="1100">
                <a:solidFill>
                  <a:srgbClr val="333333"/>
                </a:solidFill>
              </a:rPr>
              <a:t>  →  I_GOODSMOVEMENTTYPE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T161</a:t>
            </a:r>
            <a:r>
              <a:rPr sz="1100">
                <a:solidFill>
                  <a:srgbClr val="333333"/>
                </a:solidFill>
              </a:rPr>
              <a:t>  →  I_PURCHASINGDOCUMENTTYPE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T161T</a:t>
            </a:r>
            <a:r>
              <a:rPr sz="1100">
                <a:solidFill>
                  <a:srgbClr val="333333"/>
                </a:solidFill>
              </a:rPr>
              <a:t>  →  I_PURCHASINGDOCUMENTTYPETEXT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T163D</a:t>
            </a:r>
            <a:r>
              <a:rPr sz="1100">
                <a:solidFill>
                  <a:srgbClr val="333333"/>
                </a:solidFill>
              </a:rPr>
              <a:t>  →  I_SUPLRCONFCATINTERNALASSGMT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T163I</a:t>
            </a:r>
            <a:r>
              <a:rPr sz="1100">
                <a:solidFill>
                  <a:srgbClr val="333333"/>
                </a:solidFill>
              </a:rPr>
              <a:t>  →  I_ACCTASSIGNMENTCATEGORYTEXT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T163K</a:t>
            </a:r>
            <a:r>
              <a:rPr sz="1100">
                <a:solidFill>
                  <a:srgbClr val="333333"/>
                </a:solidFill>
              </a:rPr>
              <a:t>  →  I_ACCOUNTASSIGNMENTCATEGORY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Appendix A — Coverage list  (4/7)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Appendix A — Predecessor → Successor  (5/7)</a:t>
            </a:r>
          </a:p>
          <a:p>
            <a:r>
              <a:rPr sz="1400" i="1">
                <a:solidFill>
                  <a:srgbClr val="2E5CA7"/>
                </a:solidFill>
              </a:rPr>
              <a:t>Tables 161–200 of 272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T166C</a:t>
            </a:r>
            <a:r>
              <a:rPr sz="1100">
                <a:solidFill>
                  <a:srgbClr val="333333"/>
                </a:solidFill>
              </a:rPr>
              <a:t>  →  I_PURGDOCOUTPUTRELEVANTCHANGE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T166K</a:t>
            </a:r>
            <a:r>
              <a:rPr sz="1100">
                <a:solidFill>
                  <a:srgbClr val="333333"/>
                </a:solidFill>
              </a:rPr>
              <a:t>  →  I_PURGOBJTEXTOBJECTOUTPRLVNCE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T166P</a:t>
            </a:r>
            <a:r>
              <a:rPr sz="1100">
                <a:solidFill>
                  <a:srgbClr val="333333"/>
                </a:solidFill>
              </a:rPr>
              <a:t>  →  I_PURGOBJITEMTXTOBJOUTPRLVNCE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T166T</a:t>
            </a:r>
            <a:r>
              <a:rPr sz="1100">
                <a:solidFill>
                  <a:srgbClr val="333333"/>
                </a:solidFill>
              </a:rPr>
              <a:t>  →  I_PURGDOCOUTPUTCHANGETEXT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T171T</a:t>
            </a:r>
            <a:r>
              <a:rPr sz="1100">
                <a:solidFill>
                  <a:srgbClr val="333333"/>
                </a:solidFill>
              </a:rPr>
              <a:t>  →  I_SALESDISTRICT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T178</a:t>
            </a:r>
            <a:r>
              <a:rPr sz="1100">
                <a:solidFill>
                  <a:srgbClr val="333333"/>
                </a:solidFill>
              </a:rPr>
              <a:t>  →  I_MATERIALPRICINGGROUP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T188</a:t>
            </a:r>
            <a:r>
              <a:rPr sz="1100">
                <a:solidFill>
                  <a:srgbClr val="333333"/>
                </a:solidFill>
              </a:rPr>
              <a:t>  →  I_CUSTOMERPRICEGROUP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T189</a:t>
            </a:r>
            <a:r>
              <a:rPr sz="1100">
                <a:solidFill>
                  <a:srgbClr val="333333"/>
                </a:solidFill>
              </a:rPr>
              <a:t>  →  I_PRICELISTTYPE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T459A</a:t>
            </a:r>
            <a:r>
              <a:rPr sz="1100">
                <a:solidFill>
                  <a:srgbClr val="333333"/>
                </a:solidFill>
              </a:rPr>
              <a:t>  →  I_PLNDINDEPRQMTTYPE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T683</a:t>
            </a:r>
            <a:r>
              <a:rPr sz="1100">
                <a:solidFill>
                  <a:srgbClr val="333333"/>
                </a:solidFill>
              </a:rPr>
              <a:t>  →  I_SLSPRICINGPROCEDURE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T683S</a:t>
            </a:r>
            <a:r>
              <a:rPr sz="1100">
                <a:solidFill>
                  <a:srgbClr val="333333"/>
                </a:solidFill>
              </a:rPr>
              <a:t>  →  I_SLSPRICINGPROCEDUREITEM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T683T</a:t>
            </a:r>
            <a:r>
              <a:rPr sz="1100">
                <a:solidFill>
                  <a:srgbClr val="333333"/>
                </a:solidFill>
              </a:rPr>
              <a:t>  →  I_SLSPRICINGPROCEDUREITEM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T685</a:t>
            </a:r>
            <a:r>
              <a:rPr sz="1100">
                <a:solidFill>
                  <a:srgbClr val="333333"/>
                </a:solidFill>
              </a:rPr>
              <a:t>  →  I_CONDITIONTYPE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T685A</a:t>
            </a:r>
            <a:r>
              <a:rPr sz="1100">
                <a:solidFill>
                  <a:srgbClr val="333333"/>
                </a:solidFill>
              </a:rPr>
              <a:t>  →  I_PRICINGCONDITIONTYPE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T685T</a:t>
            </a:r>
            <a:r>
              <a:rPr sz="1100">
                <a:solidFill>
                  <a:srgbClr val="333333"/>
                </a:solidFill>
              </a:rPr>
              <a:t>  →  I_CONDITIONTYPE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TADIR</a:t>
            </a:r>
            <a:r>
              <a:rPr sz="1100">
                <a:solidFill>
                  <a:srgbClr val="333333"/>
                </a:solidFill>
              </a:rPr>
              <a:t>  →  I_CUSTABAPOBJDIRECTORYENTRY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TBSL</a:t>
            </a:r>
            <a:r>
              <a:rPr sz="1100">
                <a:solidFill>
                  <a:srgbClr val="333333"/>
                </a:solidFill>
              </a:rPr>
              <a:t>  →  I_POSTINGKEY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TCURC</a:t>
            </a:r>
            <a:r>
              <a:rPr sz="1100">
                <a:solidFill>
                  <a:srgbClr val="333333"/>
                </a:solidFill>
              </a:rPr>
              <a:t>  →  I_CURRENCY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TCURF</a:t>
            </a:r>
            <a:r>
              <a:rPr sz="1100">
                <a:solidFill>
                  <a:srgbClr val="333333"/>
                </a:solidFill>
              </a:rPr>
              <a:t>  →  I_EXCHANGERATEFACTORSRAWDATA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TCURN</a:t>
            </a:r>
            <a:r>
              <a:rPr sz="1100">
                <a:solidFill>
                  <a:srgbClr val="333333"/>
                </a:solidFill>
              </a:rPr>
              <a:t>  →  I_EXCHRATEQTANTYPERAWDATA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TCURR</a:t>
            </a:r>
            <a:r>
              <a:rPr sz="1100">
                <a:solidFill>
                  <a:srgbClr val="333333"/>
                </a:solidFill>
              </a:rPr>
              <a:t>  →  I_EXCHANGERATERAWDATA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TCURT</a:t>
            </a:r>
            <a:r>
              <a:rPr sz="1100">
                <a:solidFill>
                  <a:srgbClr val="333333"/>
                </a:solidFill>
              </a:rPr>
              <a:t>  →  I_CURRENCYTEXT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TCURV</a:t>
            </a:r>
            <a:r>
              <a:rPr sz="1100">
                <a:solidFill>
                  <a:srgbClr val="333333"/>
                </a:solidFill>
              </a:rPr>
              <a:t>  →  I_EXCHANGERATETYPE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TCURX</a:t>
            </a:r>
            <a:r>
              <a:rPr sz="1100">
                <a:solidFill>
                  <a:srgbClr val="333333"/>
                </a:solidFill>
              </a:rPr>
              <a:t>  →  I_CURRENCY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TDEVC</a:t>
            </a:r>
            <a:r>
              <a:rPr sz="1100">
                <a:solidFill>
                  <a:srgbClr val="333333"/>
                </a:solidFill>
              </a:rPr>
              <a:t>  →  I_CUSTABAPPACKAGE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TINC</a:t>
            </a:r>
            <a:r>
              <a:rPr sz="1100">
                <a:solidFill>
                  <a:srgbClr val="333333"/>
                </a:solidFill>
              </a:rPr>
              <a:t>  →  I_INCOTERMSCLASSIFICATION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TINCT</a:t>
            </a:r>
            <a:r>
              <a:rPr sz="1100">
                <a:solidFill>
                  <a:srgbClr val="333333"/>
                </a:solidFill>
              </a:rPr>
              <a:t>  →  I_INCOTERMSCLASSIFICATION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TKA01</a:t>
            </a:r>
            <a:r>
              <a:rPr sz="1100">
                <a:solidFill>
                  <a:srgbClr val="333333"/>
                </a:solidFill>
              </a:rPr>
              <a:t>  →  I_CONTROLLINGAREA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TKA02</a:t>
            </a:r>
            <a:r>
              <a:rPr sz="1100">
                <a:solidFill>
                  <a:srgbClr val="333333"/>
                </a:solidFill>
              </a:rPr>
              <a:t>  →  I_COMPANYCODE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TPAR</a:t>
            </a:r>
            <a:r>
              <a:rPr sz="1100">
                <a:solidFill>
                  <a:srgbClr val="333333"/>
                </a:solidFill>
              </a:rPr>
              <a:t>  →  I_INCOTERMSCLASSIFICATION, I_PARTNERFUNCTION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TPART</a:t>
            </a:r>
            <a:r>
              <a:rPr sz="1100">
                <a:solidFill>
                  <a:srgbClr val="333333"/>
                </a:solidFill>
              </a:rPr>
              <a:t>  →  I_PARTNERFUNCTIONTEXT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TPRIO</a:t>
            </a:r>
            <a:r>
              <a:rPr sz="1100">
                <a:solidFill>
                  <a:srgbClr val="333333"/>
                </a:solidFill>
              </a:rPr>
              <a:t>  →  I_DELIVERYPRIORITY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TSKD</a:t>
            </a:r>
            <a:r>
              <a:rPr sz="1100">
                <a:solidFill>
                  <a:srgbClr val="333333"/>
                </a:solidFill>
              </a:rPr>
              <a:t>  →  I_CUSTOMERTAXCLASSIFICATION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TSKDT</a:t>
            </a:r>
            <a:r>
              <a:rPr sz="1100">
                <a:solidFill>
                  <a:srgbClr val="333333"/>
                </a:solidFill>
              </a:rPr>
              <a:t>  →  I_CUSTOMERTAXCLASSIFICATION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TSPA</a:t>
            </a:r>
            <a:r>
              <a:rPr sz="1100">
                <a:solidFill>
                  <a:srgbClr val="333333"/>
                </a:solidFill>
              </a:rPr>
              <a:t>  →  I_DIVISION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TSPAT</a:t>
            </a:r>
            <a:r>
              <a:rPr sz="1100">
                <a:solidFill>
                  <a:srgbClr val="333333"/>
                </a:solidFill>
              </a:rPr>
              <a:t>  →  I_DIVISION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TSTL</a:t>
            </a:r>
            <a:r>
              <a:rPr sz="1100">
                <a:solidFill>
                  <a:srgbClr val="333333"/>
                </a:solidFill>
              </a:rPr>
              <a:t>  →  I_PRODUCTSALESTAX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TTYPT</a:t>
            </a:r>
            <a:r>
              <a:rPr sz="1100">
                <a:solidFill>
                  <a:srgbClr val="333333"/>
                </a:solidFill>
              </a:rPr>
              <a:t>  →  I_REFERENCEDOCUMENTTYPETEXT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TVAG</a:t>
            </a:r>
            <a:r>
              <a:rPr sz="1100">
                <a:solidFill>
                  <a:srgbClr val="333333"/>
                </a:solidFill>
              </a:rPr>
              <a:t>  →  I_SALESDOCUMENTRJCNREASON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TVAGT</a:t>
            </a:r>
            <a:r>
              <a:rPr sz="1100">
                <a:solidFill>
                  <a:srgbClr val="333333"/>
                </a:solidFill>
              </a:rPr>
              <a:t>  →  I_SALESDOCUMENTRJCNREASON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Appendix A — Coverage list  (5/7)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Appendix A — Predecessor → Successor  (6/7)</a:t>
            </a:r>
          </a:p>
          <a:p>
            <a:r>
              <a:rPr sz="1400" i="1">
                <a:solidFill>
                  <a:srgbClr val="2E5CA7"/>
                </a:solidFill>
              </a:rPr>
              <a:t>Tables 201–240 of 272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TVAK</a:t>
            </a:r>
            <a:r>
              <a:rPr sz="1100">
                <a:solidFill>
                  <a:srgbClr val="333333"/>
                </a:solidFill>
              </a:rPr>
              <a:t>  →  I_SALESDOCUMENTTYPE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TVAKT</a:t>
            </a:r>
            <a:r>
              <a:rPr sz="1100">
                <a:solidFill>
                  <a:srgbClr val="333333"/>
                </a:solidFill>
              </a:rPr>
              <a:t>  →  I_SALESDOCUMENTTYPE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TVAP</a:t>
            </a:r>
            <a:r>
              <a:rPr sz="1100">
                <a:solidFill>
                  <a:srgbClr val="333333"/>
                </a:solidFill>
              </a:rPr>
              <a:t>  →  I_SALESDOCUMENTITEMCATEGORY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TVAPT</a:t>
            </a:r>
            <a:r>
              <a:rPr sz="1100">
                <a:solidFill>
                  <a:srgbClr val="333333"/>
                </a:solidFill>
              </a:rPr>
              <a:t>  →  I_SALESDOCUMENTITEMCATEGORY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TVAU</a:t>
            </a:r>
            <a:r>
              <a:rPr sz="1100">
                <a:solidFill>
                  <a:srgbClr val="333333"/>
                </a:solidFill>
              </a:rPr>
              <a:t>  →  I_SDDOCUMENTREASON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TVAUT</a:t>
            </a:r>
            <a:r>
              <a:rPr sz="1100">
                <a:solidFill>
                  <a:srgbClr val="333333"/>
                </a:solidFill>
              </a:rPr>
              <a:t>  →  I_SDDOCUMENTREASONTEXT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TVBUR</a:t>
            </a:r>
            <a:r>
              <a:rPr sz="1100">
                <a:solidFill>
                  <a:srgbClr val="333333"/>
                </a:solidFill>
              </a:rPr>
              <a:t>  →  I_SALESOFFICE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TVBVK</a:t>
            </a:r>
            <a:r>
              <a:rPr sz="1100">
                <a:solidFill>
                  <a:srgbClr val="333333"/>
                </a:solidFill>
              </a:rPr>
              <a:t>  →  I_SALESOFFICESALESGROUP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TVCIN</a:t>
            </a:r>
            <a:r>
              <a:rPr sz="1100">
                <a:solidFill>
                  <a:srgbClr val="333333"/>
                </a:solidFill>
              </a:rPr>
              <a:t>  →  I_SDDOCUMENTPAYMENTCARDTYPE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TVCINT</a:t>
            </a:r>
            <a:r>
              <a:rPr sz="1100">
                <a:solidFill>
                  <a:srgbClr val="333333"/>
                </a:solidFill>
              </a:rPr>
              <a:t>  →  I_SDDOCUMENTPAYMENTCARDTYPE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TVEPT</a:t>
            </a:r>
            <a:r>
              <a:rPr sz="1100">
                <a:solidFill>
                  <a:srgbClr val="333333"/>
                </a:solidFill>
              </a:rPr>
              <a:t>  →  I_SCHEDULELINECATEGORY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TVFK</a:t>
            </a:r>
            <a:r>
              <a:rPr sz="1100">
                <a:solidFill>
                  <a:srgbClr val="333333"/>
                </a:solidFill>
              </a:rPr>
              <a:t>  →  I_BILLINGDOCUMENTTYPE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TVFKT</a:t>
            </a:r>
            <a:r>
              <a:rPr sz="1100">
                <a:solidFill>
                  <a:srgbClr val="333333"/>
                </a:solidFill>
              </a:rPr>
              <a:t>  →  I_BILLINGDOCUMENTTYPE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TVFS</a:t>
            </a:r>
            <a:r>
              <a:rPr sz="1100">
                <a:solidFill>
                  <a:srgbClr val="333333"/>
                </a:solidFill>
              </a:rPr>
              <a:t>  →  I_BILLINGBLOCKREASON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TVFST</a:t>
            </a:r>
            <a:r>
              <a:rPr sz="1100">
                <a:solidFill>
                  <a:srgbClr val="333333"/>
                </a:solidFill>
              </a:rPr>
              <a:t>  →  I_BILLINGBLOCKREASON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TVGRT</a:t>
            </a:r>
            <a:r>
              <a:rPr sz="1100">
                <a:solidFill>
                  <a:srgbClr val="333333"/>
                </a:solidFill>
              </a:rPr>
              <a:t>  →  I_SALESGROUP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TVKBT</a:t>
            </a:r>
            <a:r>
              <a:rPr sz="1100">
                <a:solidFill>
                  <a:srgbClr val="333333"/>
                </a:solidFill>
              </a:rPr>
              <a:t>  →  I_SALESOFFICE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TVKBZ</a:t>
            </a:r>
            <a:r>
              <a:rPr sz="1100">
                <a:solidFill>
                  <a:srgbClr val="333333"/>
                </a:solidFill>
              </a:rPr>
              <a:t>  →  I_SALESAREASALESOFFICE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TVKGG</a:t>
            </a:r>
            <a:r>
              <a:rPr sz="1100">
                <a:solidFill>
                  <a:srgbClr val="333333"/>
                </a:solidFill>
              </a:rPr>
              <a:t>  →  I_CUSTOMERCONDITIONGROUPVH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TVKGGT</a:t>
            </a:r>
            <a:r>
              <a:rPr sz="1100">
                <a:solidFill>
                  <a:srgbClr val="333333"/>
                </a:solidFill>
              </a:rPr>
              <a:t>  →  I_CUSTCNDNGROUPVALUEHELPTEXT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TVKGR</a:t>
            </a:r>
            <a:r>
              <a:rPr sz="1100">
                <a:solidFill>
                  <a:srgbClr val="333333"/>
                </a:solidFill>
              </a:rPr>
              <a:t>  →  I_SALESGROUP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TVKO</a:t>
            </a:r>
            <a:r>
              <a:rPr sz="1100">
                <a:solidFill>
                  <a:srgbClr val="333333"/>
                </a:solidFill>
              </a:rPr>
              <a:t>  →  I_SALESORGANIZATION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TVKOT</a:t>
            </a:r>
            <a:r>
              <a:rPr sz="1100">
                <a:solidFill>
                  <a:srgbClr val="333333"/>
                </a:solidFill>
              </a:rPr>
              <a:t>  →  I_SALESORGANIZATION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TVKOV</a:t>
            </a:r>
            <a:r>
              <a:rPr sz="1100">
                <a:solidFill>
                  <a:srgbClr val="333333"/>
                </a:solidFill>
              </a:rPr>
              <a:t>  →  I_SLSORGANIZATIONDISTRCHNL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TVKT</a:t>
            </a:r>
            <a:r>
              <a:rPr sz="1100">
                <a:solidFill>
                  <a:srgbClr val="333333"/>
                </a:solidFill>
              </a:rPr>
              <a:t>  →  I_CUSTOMERACCOUNTASSGMTGROUP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TVKWZ</a:t>
            </a:r>
            <a:r>
              <a:rPr sz="1100">
                <a:solidFill>
                  <a:srgbClr val="333333"/>
                </a:solidFill>
              </a:rPr>
              <a:t>  →  I_CUSTSALESAREATAX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TVLK</a:t>
            </a:r>
            <a:r>
              <a:rPr sz="1100">
                <a:solidFill>
                  <a:srgbClr val="333333"/>
                </a:solidFill>
              </a:rPr>
              <a:t>  →  I_DELIVERYDOCUMENTTYPE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TVLKT</a:t>
            </a:r>
            <a:r>
              <a:rPr sz="1100">
                <a:solidFill>
                  <a:srgbClr val="333333"/>
                </a:solidFill>
              </a:rPr>
              <a:t>  →  I_DELIVERYDOCUMENTTYPETEXT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TVLS</a:t>
            </a:r>
            <a:r>
              <a:rPr sz="1100">
                <a:solidFill>
                  <a:srgbClr val="333333"/>
                </a:solidFill>
              </a:rPr>
              <a:t>  →  I_DELIVERYBLOCKREASON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TVLST</a:t>
            </a:r>
            <a:r>
              <a:rPr sz="1100">
                <a:solidFill>
                  <a:srgbClr val="333333"/>
                </a:solidFill>
              </a:rPr>
              <a:t>  →  I_DELIVERYBLOCKREASONTEXT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TVM1</a:t>
            </a:r>
            <a:r>
              <a:rPr sz="1100">
                <a:solidFill>
                  <a:srgbClr val="333333"/>
                </a:solidFill>
              </a:rPr>
              <a:t>  →  I_ADDITIONALMATERIALGROUP1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TVM1T</a:t>
            </a:r>
            <a:r>
              <a:rPr sz="1100">
                <a:solidFill>
                  <a:srgbClr val="333333"/>
                </a:solidFill>
              </a:rPr>
              <a:t>  →  I_ADDITIONALMATERIALGROUP1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TVM2</a:t>
            </a:r>
            <a:r>
              <a:rPr sz="1100">
                <a:solidFill>
                  <a:srgbClr val="333333"/>
                </a:solidFill>
              </a:rPr>
              <a:t>  →  I_ADDITIONALMATERIALGROUP2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TVM2T</a:t>
            </a:r>
            <a:r>
              <a:rPr sz="1100">
                <a:solidFill>
                  <a:srgbClr val="333333"/>
                </a:solidFill>
              </a:rPr>
              <a:t>  →  I_ADDITIONALMATERIALGROUP2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TVM3</a:t>
            </a:r>
            <a:r>
              <a:rPr sz="1100">
                <a:solidFill>
                  <a:srgbClr val="333333"/>
                </a:solidFill>
              </a:rPr>
              <a:t>  →  I_ADDITIONALMATERIALGROUP3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TVM3T</a:t>
            </a:r>
            <a:r>
              <a:rPr sz="1100">
                <a:solidFill>
                  <a:srgbClr val="333333"/>
                </a:solidFill>
              </a:rPr>
              <a:t>  →  I_ADDITIONALMATERIALGROUP3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TVM4</a:t>
            </a:r>
            <a:r>
              <a:rPr sz="1100">
                <a:solidFill>
                  <a:srgbClr val="333333"/>
                </a:solidFill>
              </a:rPr>
              <a:t>  →  I_ADDITIONALMATERIALGROUP4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TVM4T</a:t>
            </a:r>
            <a:r>
              <a:rPr sz="1100">
                <a:solidFill>
                  <a:srgbClr val="333333"/>
                </a:solidFill>
              </a:rPr>
              <a:t>  →  I_ADDITIONALMATERIALGROUP4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TVM5</a:t>
            </a:r>
            <a:r>
              <a:rPr sz="1100">
                <a:solidFill>
                  <a:srgbClr val="333333"/>
                </a:solidFill>
              </a:rPr>
              <a:t>  →  I_ADDITIONALMATERIALGROUP5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TVM5T</a:t>
            </a:r>
            <a:r>
              <a:rPr sz="1100">
                <a:solidFill>
                  <a:srgbClr val="333333"/>
                </a:solidFill>
              </a:rPr>
              <a:t>  →  I_ADDITIONALMATERIALGROUP5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Appendix A — Coverage list  (6/7)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366D"/>
                </a:solidFill>
              </a:rPr>
              <a:t>Appendix A — Predecessor → Successor  (7/7)</a:t>
            </a:r>
          </a:p>
          <a:p>
            <a:r>
              <a:rPr sz="1400" i="1">
                <a:solidFill>
                  <a:srgbClr val="2E5CA7"/>
                </a:solidFill>
              </a:rPr>
              <a:t>Tables 241–272 of 272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0A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TVPT</a:t>
            </a:r>
            <a:r>
              <a:rPr sz="1100">
                <a:solidFill>
                  <a:srgbClr val="333333"/>
                </a:solidFill>
              </a:rPr>
              <a:t>  →  I_SALESDOCUMENTITEMCATEGORY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TVSB</a:t>
            </a:r>
            <a:r>
              <a:rPr sz="1100">
                <a:solidFill>
                  <a:srgbClr val="333333"/>
                </a:solidFill>
              </a:rPr>
              <a:t>  →  I_SHIPPINGCONDITION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TVSBT</a:t>
            </a:r>
            <a:r>
              <a:rPr sz="1100">
                <a:solidFill>
                  <a:srgbClr val="333333"/>
                </a:solidFill>
              </a:rPr>
              <a:t>  →  I_SHIPPINGCONDITIONTEXT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TVST</a:t>
            </a:r>
            <a:r>
              <a:rPr sz="1100">
                <a:solidFill>
                  <a:srgbClr val="333333"/>
                </a:solidFill>
              </a:rPr>
              <a:t>  →  I_SHIPPINGPOINT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TVSTT</a:t>
            </a:r>
            <a:r>
              <a:rPr sz="1100">
                <a:solidFill>
                  <a:srgbClr val="333333"/>
                </a:solidFill>
              </a:rPr>
              <a:t>  →  I_SHIPPINGPOINT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TVTA</a:t>
            </a:r>
            <a:r>
              <a:rPr sz="1100">
                <a:solidFill>
                  <a:srgbClr val="333333"/>
                </a:solidFill>
              </a:rPr>
              <a:t>  →  I_SALESAREA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TVTW</a:t>
            </a:r>
            <a:r>
              <a:rPr sz="1100">
                <a:solidFill>
                  <a:srgbClr val="333333"/>
                </a:solidFill>
              </a:rPr>
              <a:t>  →  I_DISTRIBUTIONCHANNEL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TVTWT</a:t>
            </a:r>
            <a:r>
              <a:rPr sz="1100">
                <a:solidFill>
                  <a:srgbClr val="333333"/>
                </a:solidFill>
              </a:rPr>
              <a:t>  →  I_DISTRIBUTIONCHANNEL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TVV1</a:t>
            </a:r>
            <a:r>
              <a:rPr sz="1100">
                <a:solidFill>
                  <a:srgbClr val="333333"/>
                </a:solidFill>
              </a:rPr>
              <a:t>  →  I_ADDITIONALCUSTOMERGROUP1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TVV1T</a:t>
            </a:r>
            <a:r>
              <a:rPr sz="1100">
                <a:solidFill>
                  <a:srgbClr val="333333"/>
                </a:solidFill>
              </a:rPr>
              <a:t>  →  I_ADDITIONALCUSTOMERGROUP1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TVV2</a:t>
            </a:r>
            <a:r>
              <a:rPr sz="1100">
                <a:solidFill>
                  <a:srgbClr val="333333"/>
                </a:solidFill>
              </a:rPr>
              <a:t>  →  I_ADDITIONALCUSTOMERGROUP2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TVV2T</a:t>
            </a:r>
            <a:r>
              <a:rPr sz="1100">
                <a:solidFill>
                  <a:srgbClr val="333333"/>
                </a:solidFill>
              </a:rPr>
              <a:t>  →  I_ADDITIONALCUSTOMERGROUP2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TVV3</a:t>
            </a:r>
            <a:r>
              <a:rPr sz="1100">
                <a:solidFill>
                  <a:srgbClr val="333333"/>
                </a:solidFill>
              </a:rPr>
              <a:t>  →  I_ADDITIONALCUSTOMERGROUP3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TVV3T</a:t>
            </a:r>
            <a:r>
              <a:rPr sz="1100">
                <a:solidFill>
                  <a:srgbClr val="333333"/>
                </a:solidFill>
              </a:rPr>
              <a:t>  →  I_ADDITIONALCUSTOMERGROUP3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TVV4</a:t>
            </a:r>
            <a:r>
              <a:rPr sz="1100">
                <a:solidFill>
                  <a:srgbClr val="333333"/>
                </a:solidFill>
              </a:rPr>
              <a:t>  →  I_ADDITIONALCUSTOMERGROUP4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TVV4T</a:t>
            </a:r>
            <a:r>
              <a:rPr sz="1100">
                <a:solidFill>
                  <a:srgbClr val="333333"/>
                </a:solidFill>
              </a:rPr>
              <a:t>  →  I_ADDITIONALCUSTOMERGROUP4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TVV5</a:t>
            </a:r>
            <a:r>
              <a:rPr sz="1100">
                <a:solidFill>
                  <a:srgbClr val="333333"/>
                </a:solidFill>
              </a:rPr>
              <a:t>  →  I_ADDITIONALCUSTOMERGROUP5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TVV5T</a:t>
            </a:r>
            <a:r>
              <a:rPr sz="1100">
                <a:solidFill>
                  <a:srgbClr val="333333"/>
                </a:solidFill>
              </a:rPr>
              <a:t>  →  I_ADDITIONALCUSTOMERGROUP5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TVZBT</a:t>
            </a:r>
            <a:r>
              <a:rPr sz="1100">
                <a:solidFill>
                  <a:srgbClr val="333333"/>
                </a:solidFill>
              </a:rPr>
              <a:t>  →  I_CUSTOMERPAYMENTTERMS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UKMBP_CMS_SGM</a:t>
            </a:r>
            <a:r>
              <a:rPr sz="1100">
                <a:solidFill>
                  <a:srgbClr val="333333"/>
                </a:solidFill>
              </a:rPr>
              <a:t>  →  I_CREDITMANAGEMENTACCOUNT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UKMCRED_SGM0T</a:t>
            </a:r>
            <a:r>
              <a:rPr sz="1100">
                <a:solidFill>
                  <a:srgbClr val="333333"/>
                </a:solidFill>
              </a:rPr>
              <a:t>  →  I_CREDITMANAGEMENTSEGMENT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VBAK</a:t>
            </a:r>
            <a:r>
              <a:rPr sz="1100">
                <a:solidFill>
                  <a:srgbClr val="333333"/>
                </a:solidFill>
              </a:rPr>
              <a:t>  →  I_SALESDOCUMENT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VBAP</a:t>
            </a:r>
            <a:r>
              <a:rPr sz="1100">
                <a:solidFill>
                  <a:srgbClr val="333333"/>
                </a:solidFill>
              </a:rPr>
              <a:t>  →  I_SALESDOCUMENTITEM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VBEP</a:t>
            </a:r>
            <a:r>
              <a:rPr sz="1100">
                <a:solidFill>
                  <a:srgbClr val="333333"/>
                </a:solidFill>
              </a:rPr>
              <a:t>  →  I_SALESDOCUMENTSCHEDULELINE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VBFA</a:t>
            </a:r>
            <a:r>
              <a:rPr sz="1100">
                <a:solidFill>
                  <a:srgbClr val="333333"/>
                </a:solidFill>
              </a:rPr>
              <a:t>  →  I_SDDOCUMENTMULTILEVELPROCFLOW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VBFS</a:t>
            </a:r>
            <a:r>
              <a:rPr sz="1100">
                <a:solidFill>
                  <a:srgbClr val="333333"/>
                </a:solidFill>
              </a:rPr>
              <a:t>  →  I_COLLECTIVEPROCESSINGERRORLOG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VBKD</a:t>
            </a:r>
            <a:r>
              <a:rPr sz="1100">
                <a:solidFill>
                  <a:srgbClr val="333333"/>
                </a:solidFill>
              </a:rPr>
              <a:t>  →  I_SALESDOCUMENT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VBRK</a:t>
            </a:r>
            <a:r>
              <a:rPr sz="1100">
                <a:solidFill>
                  <a:srgbClr val="333333"/>
                </a:solidFill>
              </a:rPr>
              <a:t>  →  I_BILLINGDOCUMENTBASIC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VBRP</a:t>
            </a:r>
            <a:r>
              <a:rPr sz="1100">
                <a:solidFill>
                  <a:srgbClr val="333333"/>
                </a:solidFill>
              </a:rPr>
              <a:t>  →  I_BILLINGDOCUMENTITEMBASIC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VEDA</a:t>
            </a:r>
            <a:r>
              <a:rPr sz="1100">
                <a:solidFill>
                  <a:srgbClr val="333333"/>
                </a:solidFill>
              </a:rPr>
              <a:t>  →  I_SALESDOCUMENT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VEKP</a:t>
            </a:r>
            <a:r>
              <a:rPr sz="1100">
                <a:solidFill>
                  <a:srgbClr val="333333"/>
                </a:solidFill>
              </a:rPr>
              <a:t>  →  I_HANDLINGUNITHEADER, I_HANDLINGUNITTP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F366D"/>
                </a:solidFill>
              </a:rPr>
              <a:t>VEPO</a:t>
            </a:r>
            <a:r>
              <a:rPr sz="1100">
                <a:solidFill>
                  <a:srgbClr val="333333"/>
                </a:solidFill>
              </a:rPr>
              <a:t>  →  I_HANDLINGUNITITEM, I_HANDLINGUNITITEMTP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601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AAAAAA"/>
                </a:solidFill>
              </a:rPr>
              <a:t>Appendix A — Coverage list  (7/7)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1800">
                <a:solidFill>
                  <a:srgbClr val="B8D1F3"/>
                </a:solidFill>
              </a:rPr>
              <a:t>ZATC_RESULT_CORRECTION — Automated S/4HANA ATC remediation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